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4.xml" ContentType="application/vnd.openxmlformats-officedocument.drawingml.chart+xml"/>
  <Override PartName="/ppt/notesSlides/notesSlide27.xml" ContentType="application/vnd.openxmlformats-officedocument.presentationml.notesSlide+xml"/>
  <Override PartName="/ppt/charts/chart5.xml" ContentType="application/vnd.openxmlformats-officedocument.drawingml.chart+xml"/>
  <Override PartName="/ppt/notesSlides/notesSlide28.xml" ContentType="application/vnd.openxmlformats-officedocument.presentationml.notesSlide+xml"/>
  <Override PartName="/ppt/charts/chart6.xml" ContentType="application/vnd.openxmlformats-officedocument.drawingml.chart+xml"/>
  <Override PartName="/ppt/notesSlides/notesSlide33.xml" ContentType="application/vnd.openxmlformats-officedocument.presentationml.notesSlide+xml"/>
  <Override PartName="/ppt/charts/chart8.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slides/slide49.xml" ContentType="application/vnd.openxmlformats-officedocument.presentationml.slide+xml"/>
  <Override PartName="/ppt/notesSlides/notesSlide49.xml" ContentType="application/vnd.openxmlformats-officedocument.presentationml.notesSlide+xml"/>
  <Override PartName="/ppt/charts/chart11.xml" ContentType="application/vnd.openxmlformats-officedocument.drawingml.chart+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304" r:id="rId55"/>
    <p:sldId id="305" r:id="rId56"/>
    <p:sldId id="266" r:id="rId12"/>
    <p:sldId id="267" r:id="rId13"/>
    <p:sldId id="268" r:id="rId14"/>
    <p:sldId id="269" r:id="rId15"/>
    <p:sldId id="270" r:id="rId16"/>
    <p:sldId id="271" r:id="rId17"/>
    <p:sldId id="272" r:id="rId18"/>
    <p:sldId id="274" r:id="rId20"/>
    <p:sldId id="275" r:id="rId21"/>
    <p:sldId id="276" r:id="rId22"/>
    <p:sldId id="277" r:id="rId23"/>
    <p:sldId id="278" r:id="rId24"/>
    <p:sldId id="279" r:id="rId25"/>
    <p:sldId id="280" r:id="rId26"/>
    <p:sldId id="281" r:id="rId27"/>
    <p:sldId id="282" r:id="rId28"/>
    <p:sldId id="283" r:id="rId29"/>
    <p:sldId id="306" r:id="rId57"/>
    <p:sldId id="301" r:id="rId52"/>
    <p:sldId id="302" r:id="rId53"/>
    <p:sldId id="303" r:id="rId54"/>
    <p:sldId id="307" r:id="rId58"/>
    <p:sldId id="288" r:id="rId34"/>
    <p:sldId id="289" r:id="rId35"/>
    <p:sldId id="290" r:id="rId36"/>
    <p:sldId id="291" r:id="rId37"/>
    <p:sldId id="299" r:id="rId38"/>
    <p:sldId id="292" r:id="rId40"/>
    <p:sldId id="308" r:id="rId59"/>
    <p:sldId id="294" r:id="rId42"/>
    <p:sldId id="295" r:id="rId43"/>
    <p:sldId id="296" r:id="rId44"/>
    <p:sldId id="297"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14"/>
    <p:restoredTop sz="72590"/>
  </p:normalViewPr>
  <p:slideViewPr>
    <p:cSldViewPr snapToGrid="0" snapToObjects="1">
      <p:cViewPr varScale="1">
        <p:scale>
          <a:sx n="90" d="100"/>
          <a:sy n="90" d="100"/>
        </p:scale>
        <p:origin x="728" y="1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__7.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_nudge1.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_nudge2.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_x2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bar"/>
        <c:grouping val="clustered"/>
        <c:varyColors val="0"/>
        <c:ser>
          <c:idx val="0"/>
          <c:order val="0"/>
          <c:tx>
            <c:strRef>
              <c:f>Sheet1!$B$1</c:f>
              <c:strCache>
                <c:ptCount val="1"/>
                <c:pt idx="0">
                  <c:v>値</c:v>
                </c:pt>
              </c:strCache>
            </c:strRef>
          </c:tx>
          <c:spPr>
            <a:solidFill>
              <a:srgbClr val="D1480E"/>
            </a:solidFill>
            <a:effectLst/>
          </c:spPr>
          <c:invertIfNegative val="0"/>
          <c:dPt>
            <c:idx val="0"/>
            <c:invertIfNegative val="0"/>
            <c:bubble3D val="0"/>
            <c:extLst>
              <c:ext xmlns:c16="http://schemas.microsoft.com/office/drawing/2014/chart" uri="{C3380CC4-5D6E-409C-BE32-E72D297353CC}">
                <c16:uniqueId val="{00000001-C238-9C48-B15B-0742A9AC3E98}"/>
              </c:ext>
            </c:extLst>
          </c:dPt>
          <c:dPt>
            <c:idx val="1"/>
            <c:invertIfNegative val="0"/>
            <c:bubble3D val="0"/>
            <c:spPr>
              <a:solidFill>
                <a:srgbClr val="0B7A70"/>
              </a:solidFill>
              <a:effectLst/>
            </c:spPr>
            <c:extLst>
              <c:ext xmlns:c16="http://schemas.microsoft.com/office/drawing/2014/chart" uri="{C3380CC4-5D6E-409C-BE32-E72D297353CC}">
                <c16:uniqueId val="{00000003-C238-9C48-B15B-0742A9AC3E98}"/>
              </c:ext>
            </c:extLst>
          </c:dPt>
          <c:dLbls>
            <c:numFmt formatCode="0.00" sourceLinked="0"/>
            <c:spPr>
              <a:noFill/>
              <a:ln>
                <a:noFill/>
              </a:ln>
              <a:effectLst/>
            </c:spPr>
            <c:txPr>
              <a:bodyPr/>
              <a:lstStyle/>
              <a:p>
                <a:pPr>
                  <a:defRPr sz="2800" b="1" i="0" u="none" strike="noStrike">
                    <a:solidFill>
                      <a:srgbClr val="1B2333"/>
                    </a:solidFill>
                    <a:latin typeface="BIZ UDゴシック"/>
                    <a:ea typeface="BIZ UDゴシック"/>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行動の変化</c:v>
                </c:pt>
                <c:pt idx="1">
                  <c:v>意図の変化</c:v>
                </c:pt>
              </c:strCache>
            </c:strRef>
          </c:cat>
          <c:val>
            <c:numRef>
              <c:f>Sheet1!$B$2:$B$3</c:f>
              <c:numCache>
                <c:formatCode>General</c:formatCode>
                <c:ptCount val="2"/>
                <c:pt idx="0">
                  <c:v>0.36</c:v>
                </c:pt>
                <c:pt idx="1">
                  <c:v>0.66</c:v>
                </c:pt>
              </c:numCache>
            </c:numRef>
          </c:val>
          <c:extLst>
            <c:ext xmlns:c16="http://schemas.microsoft.com/office/drawing/2014/chart" uri="{C3380CC4-5D6E-409C-BE32-E72D297353CC}">
              <c16:uniqueId val="{00000004-C238-9C48-B15B-0742A9AC3E9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ja-JP"/>
          </a:p>
        </c:txPr>
        <c:crossAx val="2094734552"/>
        <c:crosses val="autoZero"/>
        <c:auto val="1"/>
        <c:lblAlgn val="ctr"/>
        <c:lblOffset val="100"/>
        <c:noMultiLvlLbl val="1"/>
      </c:catAx>
      <c:valAx>
        <c:axId val="2094734552"/>
        <c:scaling>
          <c:orientation val="minMax"/>
          <c:max val="0.85"/>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値</c:v>
                </c:pt>
              </c:strCache>
            </c:strRef>
          </c:tx>
          <c:spPr>
            <a:solidFill>
              <a:srgbClr val="D1480E"/>
            </a:solidFill>
            <a:effectLst/>
          </c:spPr>
          <c:invertIfNegative val="0"/>
          <c:dPt>
            <c:idx val="0"/>
            <c:invertIfNegative val="0"/>
            <c:bubble3D val="0"/>
            <c:extLst>
              <c:ext xmlns:c16="http://schemas.microsoft.com/office/drawing/2014/chart" uri="{C3380CC4-5D6E-409C-BE32-E72D297353CC}">
                <c16:uniqueId val="{00000001-3D04-274E-8AA4-B745C603A4E5}"/>
              </c:ext>
            </c:extLst>
          </c:dPt>
          <c:dPt>
            <c:idx val="1"/>
            <c:invertIfNegative val="0"/>
            <c:bubble3D val="0"/>
            <c:spPr>
              <a:solidFill>
                <a:srgbClr val="8A96A8"/>
              </a:solidFill>
              <a:effectLst/>
            </c:spPr>
            <c:extLst>
              <c:ext xmlns:c16="http://schemas.microsoft.com/office/drawing/2014/chart" uri="{C3380CC4-5D6E-409C-BE32-E72D297353CC}">
                <c16:uniqueId val="{00000003-3D04-274E-8AA4-B745C603A4E5}"/>
              </c:ext>
            </c:extLst>
          </c:dPt>
          <c:dPt>
            <c:idx val="2"/>
            <c:invertIfNegative val="0"/>
            <c:bubble3D val="0"/>
            <c:spPr>
              <a:solidFill>
                <a:srgbClr val="8A96A8"/>
              </a:solidFill>
              <a:effectLst/>
            </c:spPr>
            <c:extLst>
              <c:ext xmlns:c16="http://schemas.microsoft.com/office/drawing/2014/chart" uri="{C3380CC4-5D6E-409C-BE32-E72D297353CC}">
                <c16:uniqueId val="{00000005-3D04-274E-8AA4-B745C603A4E5}"/>
              </c:ext>
            </c:extLst>
          </c:dPt>
          <c:dLbls>
            <c:numFmt formatCode="0.00" sourceLinked="0"/>
            <c:spPr>
              <a:noFill/>
              <a:ln>
                <a:noFill/>
              </a:ln>
              <a:effectLst/>
            </c:spPr>
            <c:txPr>
              <a:bodyPr/>
              <a:lstStyle/>
              <a:p>
                <a:pPr>
                  <a:defRPr sz="2400" b="1" i="0" u="none" strike="noStrike">
                    <a:solidFill>
                      <a:srgbClr val="1B2333"/>
                    </a:solidFill>
                    <a:latin typeface="BIZ UDゴシック"/>
                    <a:ea typeface="BIZ UDゴシック"/>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見える場所</c:v>
                </c:pt>
                <c:pt idx="1">
                  <c:v>見えない場所</c:v>
                </c:pt>
                <c:pt idx="2">
                  <c:v>前の週</c:v>
                </c:pt>
              </c:strCache>
            </c:strRef>
          </c:cat>
          <c:val>
            <c:numRef>
              <c:f>Sheet1!$B$2:$B$4</c:f>
              <c:numCache>
                <c:formatCode>General</c:formatCode>
                <c:ptCount val="3"/>
                <c:pt idx="0">
                  <c:v>3.75</c:v>
                </c:pt>
                <c:pt idx="1">
                  <c:v>1.48</c:v>
                </c:pt>
                <c:pt idx="2">
                  <c:v>1.07</c:v>
                </c:pt>
              </c:numCache>
            </c:numRef>
          </c:val>
          <c:extLst>
            <c:ext xmlns:c16="http://schemas.microsoft.com/office/drawing/2014/chart" uri="{C3380CC4-5D6E-409C-BE32-E72D297353CC}">
              <c16:uniqueId val="{00000006-3D04-274E-8AA4-B745C603A4E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ja-JP"/>
          </a:p>
        </c:txPr>
        <c:crossAx val="2094734552"/>
        <c:crosses val="autoZero"/>
        <c:auto val="1"/>
        <c:lblAlgn val="ctr"/>
        <c:lblOffset val="100"/>
        <c:noMultiLvlLbl val="1"/>
      </c:catAx>
      <c:valAx>
        <c:axId val="2094734552"/>
        <c:scaling>
          <c:orientation val="minMax"/>
          <c:max val="4.4000000000000004"/>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値</c:v>
                </c:pt>
              </c:strCache>
            </c:strRef>
          </c:tx>
          <c:spPr>
            <a:solidFill>
              <a:srgbClr val="8A96A8"/>
            </a:solidFill>
            <a:effectLst/>
          </c:spPr>
          <c:invertIfNegative val="0"/>
          <c:dPt>
            <c:idx val="0"/>
            <c:invertIfNegative val="0"/>
            <c:bubble3D val="0"/>
            <c:extLst>
              <c:ext xmlns:c16="http://schemas.microsoft.com/office/drawing/2014/chart" uri="{C3380CC4-5D6E-409C-BE32-E72D297353CC}">
                <c16:uniqueId val="{00000001-6C2F-CB4F-B3C1-42E1B5ACBA41}"/>
              </c:ext>
            </c:extLst>
          </c:dPt>
          <c:dPt>
            <c:idx val="1"/>
            <c:invertIfNegative val="0"/>
            <c:bubble3D val="0"/>
            <c:spPr>
              <a:solidFill>
                <a:srgbClr val="D1480E"/>
              </a:solidFill>
              <a:effectLst/>
            </c:spPr>
            <c:extLst>
              <c:ext xmlns:c16="http://schemas.microsoft.com/office/drawing/2014/chart" uri="{C3380CC4-5D6E-409C-BE32-E72D297353CC}">
                <c16:uniqueId val="{00000003-6C2F-CB4F-B3C1-42E1B5ACBA41}"/>
              </c:ext>
            </c:extLst>
          </c:dPt>
          <c:dLbls>
            <c:numFmt formatCode="0&quot;%&quot;" sourceLinked="0"/>
            <c:spPr>
              <a:noFill/>
              <a:ln>
                <a:noFill/>
              </a:ln>
              <a:effectLst/>
            </c:spPr>
            <c:txPr>
              <a:bodyPr/>
              <a:lstStyle/>
              <a:p>
                <a:pPr>
                  <a:defRPr sz="2800" b="1" i="0" u="none" strike="noStrike">
                    <a:solidFill>
                      <a:srgbClr val="1B2333"/>
                    </a:solidFill>
                    <a:latin typeface="BIZ UDゴシック"/>
                    <a:ea typeface="BIZ UDゴシック"/>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患者の皮膚</c:v>
                </c:pt>
                <c:pt idx="1">
                  <c:v>環境表面</c:v>
                </c:pt>
              </c:strCache>
            </c:strRef>
          </c:cat>
          <c:val>
            <c:numRef>
              <c:f>Sheet1!$B$2:$B$3</c:f>
              <c:numCache>
                <c:formatCode>General</c:formatCode>
                <c:ptCount val="2"/>
                <c:pt idx="0">
                  <c:v>40</c:v>
                </c:pt>
                <c:pt idx="1">
                  <c:v>45</c:v>
                </c:pt>
              </c:numCache>
            </c:numRef>
          </c:val>
          <c:extLst>
            <c:ext xmlns:c16="http://schemas.microsoft.com/office/drawing/2014/chart" uri="{C3380CC4-5D6E-409C-BE32-E72D297353CC}">
              <c16:uniqueId val="{00000004-6C2F-CB4F-B3C1-42E1B5ACBA4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ja-JP"/>
          </a:p>
        </c:txPr>
        <c:crossAx val="2094734552"/>
        <c:crosses val="autoZero"/>
        <c:auto val="1"/>
        <c:lblAlgn val="ctr"/>
        <c:lblOffset val="100"/>
        <c:noMultiLvlLbl val="1"/>
      </c:catAx>
      <c:valAx>
        <c:axId val="2094734552"/>
        <c:scaling>
          <c:orientation val="minMax"/>
          <c:max val="56"/>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値</c:v>
                </c:pt>
              </c:strCache>
            </c:strRef>
          </c:tx>
          <c:spPr>
            <a:solidFill>
              <a:srgbClr val="D1480E"/>
            </a:solidFill>
            <a:effectLst/>
          </c:spPr>
          <c:invertIfNegative val="0"/>
          <c:dPt>
            <c:idx val="0"/>
            <c:invertIfNegative val="0"/>
            <c:bubble3D val="0"/>
            <c:extLst>
              <c:ext xmlns:c16="http://schemas.microsoft.com/office/drawing/2014/chart" uri="{C3380CC4-5D6E-409C-BE32-E72D297353CC}">
                <c16:uniqueId val="{00000001-6128-AD4D-BD0F-1F686610C178}"/>
              </c:ext>
            </c:extLst>
          </c:dPt>
          <c:dPt>
            <c:idx val="1"/>
            <c:invertIfNegative val="0"/>
            <c:bubble3D val="0"/>
            <c:spPr>
              <a:solidFill>
                <a:srgbClr val="0B7A70"/>
              </a:solidFill>
              <a:effectLst/>
            </c:spPr>
            <c:extLst>
              <c:ext xmlns:c16="http://schemas.microsoft.com/office/drawing/2014/chart" uri="{C3380CC4-5D6E-409C-BE32-E72D297353CC}">
                <c16:uniqueId val="{00000003-6128-AD4D-BD0F-1F686610C178}"/>
              </c:ext>
            </c:extLst>
          </c:dPt>
          <c:dPt>
            <c:idx val="2"/>
            <c:invertIfNegative val="0"/>
            <c:bubble3D val="0"/>
            <c:spPr>
              <a:solidFill>
                <a:srgbClr val="0B7A70"/>
              </a:solidFill>
              <a:effectLst/>
            </c:spPr>
            <c:extLst>
              <c:ext xmlns:c16="http://schemas.microsoft.com/office/drawing/2014/chart" uri="{C3380CC4-5D6E-409C-BE32-E72D297353CC}">
                <c16:uniqueId val="{00000005-6128-AD4D-BD0F-1F686610C178}"/>
              </c:ext>
            </c:extLst>
          </c:dPt>
          <c:dPt>
            <c:idx val="3"/>
            <c:invertIfNegative val="0"/>
            <c:bubble3D val="0"/>
            <c:spPr>
              <a:solidFill>
                <a:srgbClr val="0B7A70"/>
              </a:solidFill>
              <a:effectLst/>
            </c:spPr>
            <c:extLst>
              <c:ext xmlns:c16="http://schemas.microsoft.com/office/drawing/2014/chart" uri="{C3380CC4-5D6E-409C-BE32-E72D297353CC}">
                <c16:uniqueId val="{00000007-6128-AD4D-BD0F-1F686610C178}"/>
              </c:ext>
            </c:extLst>
          </c:dPt>
          <c:dLbls>
            <c:numFmt formatCode="0.0&quot;%&quot;" sourceLinked="0"/>
            <c:spPr>
              <a:noFill/>
              <a:ln>
                <a:noFill/>
              </a:ln>
              <a:effectLst/>
            </c:spPr>
            <c:txPr>
              <a:bodyPr/>
              <a:lstStyle/>
              <a:p>
                <a:pPr>
                  <a:defRPr sz="2400" b="1" i="0" u="none" strike="noStrike">
                    <a:solidFill>
                      <a:srgbClr val="1B2333"/>
                    </a:solidFill>
                    <a:latin typeface="BIZ UDゴシック"/>
                    <a:ea typeface="BIZ UDゴシック"/>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介入前</c:v>
                </c:pt>
                <c:pt idx="1">
                  <c:v>直後</c:v>
                </c:pt>
                <c:pt idx="2">
                  <c:v>1か月後</c:v>
                </c:pt>
                <c:pt idx="3">
                  <c:v>3か月後</c:v>
                </c:pt>
              </c:strCache>
            </c:strRef>
          </c:cat>
          <c:val>
            <c:numRef>
              <c:f>Sheet1!$B$2:$B$5</c:f>
              <c:numCache>
                <c:formatCode>General</c:formatCode>
                <c:ptCount val="4"/>
                <c:pt idx="0">
                  <c:v>60</c:v>
                </c:pt>
                <c:pt idx="1">
                  <c:v>18.899999999999999</c:v>
                </c:pt>
                <c:pt idx="2">
                  <c:v>12</c:v>
                </c:pt>
                <c:pt idx="3">
                  <c:v>12</c:v>
                </c:pt>
              </c:numCache>
            </c:numRef>
          </c:val>
          <c:extLst>
            <c:ext xmlns:c16="http://schemas.microsoft.com/office/drawing/2014/chart" uri="{C3380CC4-5D6E-409C-BE32-E72D297353CC}">
              <c16:uniqueId val="{00000008-6128-AD4D-BD0F-1F686610C17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ja-JP"/>
          </a:p>
        </c:txPr>
        <c:crossAx val="2094734552"/>
        <c:crosses val="autoZero"/>
        <c:auto val="1"/>
        <c:lblAlgn val="ctr"/>
        <c:lblOffset val="100"/>
        <c:noMultiLvlLbl val="1"/>
      </c:catAx>
      <c:valAx>
        <c:axId val="2094734552"/>
        <c:scaling>
          <c:orientation val="minMax"/>
          <c:max val="7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値</c:v>
                </c:pt>
              </c:strCache>
            </c:strRef>
          </c:tx>
          <c:spPr>
            <a:solidFill>
              <a:srgbClr val="D1480E"/>
            </a:solidFill>
            <a:effectLst/>
          </c:spPr>
          <c:invertIfNegative val="0"/>
          <c:dPt>
            <c:idx val="0"/>
            <c:invertIfNegative val="0"/>
            <c:bubble3D val="0"/>
            <c:extLst>
              <c:ext xmlns:c16="http://schemas.microsoft.com/office/drawing/2014/chart" uri="{C3380CC4-5D6E-409C-BE32-E72D297353CC}">
                <c16:uniqueId val="{00000001-01C4-9B45-8506-813DC583061D}"/>
              </c:ext>
            </c:extLst>
          </c:dPt>
          <c:dPt>
            <c:idx val="1"/>
            <c:invertIfNegative val="0"/>
            <c:bubble3D val="0"/>
            <c:spPr>
              <a:solidFill>
                <a:srgbClr val="0B7A70"/>
              </a:solidFill>
              <a:effectLst/>
            </c:spPr>
            <c:extLst>
              <c:ext xmlns:c16="http://schemas.microsoft.com/office/drawing/2014/chart" uri="{C3380CC4-5D6E-409C-BE32-E72D297353CC}">
                <c16:uniqueId val="{00000003-01C4-9B45-8506-813DC583061D}"/>
              </c:ext>
            </c:extLst>
          </c:dPt>
          <c:dLbls>
            <c:numFmt formatCode="0&quot;%&quot;" sourceLinked="0"/>
            <c:spPr>
              <a:noFill/>
              <a:ln>
                <a:noFill/>
              </a:ln>
              <a:effectLst/>
            </c:spPr>
            <c:txPr>
              <a:bodyPr/>
              <a:lstStyle/>
              <a:p>
                <a:pPr>
                  <a:defRPr sz="2800" b="1" i="0" u="none" strike="noStrike">
                    <a:solidFill>
                      <a:srgbClr val="1B2333"/>
                    </a:solidFill>
                    <a:latin typeface="BIZ UDゴシック"/>
                    <a:ea typeface="BIZ UDゴシック"/>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介入前</c:v>
                </c:pt>
                <c:pt idx="1">
                  <c:v>介入後</c:v>
                </c:pt>
              </c:strCache>
            </c:strRef>
          </c:cat>
          <c:val>
            <c:numRef>
              <c:f>Sheet1!$B$2:$B$3</c:f>
              <c:numCache>
                <c:formatCode>General</c:formatCode>
                <c:ptCount val="2"/>
                <c:pt idx="0">
                  <c:v>48</c:v>
                </c:pt>
                <c:pt idx="1">
                  <c:v>77</c:v>
                </c:pt>
              </c:numCache>
            </c:numRef>
          </c:val>
          <c:extLst>
            <c:ext xmlns:c16="http://schemas.microsoft.com/office/drawing/2014/chart" uri="{C3380CC4-5D6E-409C-BE32-E72D297353CC}">
              <c16:uniqueId val="{00000004-01C4-9B45-8506-813DC583061D}"/>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ja-JP"/>
          </a:p>
        </c:txPr>
        <c:crossAx val="2094734552"/>
        <c:crosses val="autoZero"/>
        <c:auto val="1"/>
        <c:lblAlgn val="ctr"/>
        <c:lblOffset val="100"/>
        <c:noMultiLvlLbl val="1"/>
      </c:catAx>
      <c:valAx>
        <c:axId val="2094734552"/>
        <c:scaling>
          <c:orientation val="minMax"/>
          <c:max val="9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値</c:v>
                </c:pt>
              </c:strCache>
            </c:strRef>
          </c:tx>
          <c:spPr>
            <a:solidFill>
              <a:srgbClr val="8A96A8"/>
            </a:solidFill>
            <a:effectLst/>
          </c:spPr>
          <c:invertIfNegative val="0"/>
          <c:dPt>
            <c:idx val="0"/>
            <c:invertIfNegative val="0"/>
            <c:bubble3D val="0"/>
            <c:extLst>
              <c:ext xmlns:c16="http://schemas.microsoft.com/office/drawing/2014/chart" uri="{C3380CC4-5D6E-409C-BE32-E72D297353CC}">
                <c16:uniqueId val="{00000001-DA0F-E24D-858E-AE9B3AF85263}"/>
              </c:ext>
            </c:extLst>
          </c:dPt>
          <c:dPt>
            <c:idx val="1"/>
            <c:invertIfNegative val="0"/>
            <c:bubble3D val="0"/>
            <c:spPr>
              <a:solidFill>
                <a:srgbClr val="0B7A70"/>
              </a:solidFill>
              <a:effectLst/>
            </c:spPr>
            <c:extLst>
              <c:ext xmlns:c16="http://schemas.microsoft.com/office/drawing/2014/chart" uri="{C3380CC4-5D6E-409C-BE32-E72D297353CC}">
                <c16:uniqueId val="{00000003-DA0F-E24D-858E-AE9B3AF85263}"/>
              </c:ext>
            </c:extLst>
          </c:dPt>
          <c:dLbls>
            <c:numFmt formatCode="0.0" sourceLinked="0"/>
            <c:spPr>
              <a:noFill/>
              <a:ln>
                <a:noFill/>
              </a:ln>
              <a:effectLst/>
            </c:spPr>
            <c:txPr>
              <a:bodyPr/>
              <a:lstStyle/>
              <a:p>
                <a:pPr>
                  <a:defRPr sz="2800" b="1" i="0" u="none" strike="noStrike">
                    <a:solidFill>
                      <a:srgbClr val="1B2333"/>
                    </a:solidFill>
                    <a:latin typeface="BIZ UDゴシック"/>
                    <a:ea typeface="BIZ UDゴシック"/>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2018年度</c:v>
                </c:pt>
                <c:pt idx="1">
                  <c:v>2024年度</c:v>
                </c:pt>
              </c:strCache>
            </c:strRef>
          </c:cat>
          <c:val>
            <c:numRef>
              <c:f>Sheet1!$B$2:$B$3</c:f>
              <c:numCache>
                <c:formatCode>General</c:formatCode>
                <c:ptCount val="2"/>
                <c:pt idx="0">
                  <c:v>12.6</c:v>
                </c:pt>
                <c:pt idx="1">
                  <c:v>26.3</c:v>
                </c:pt>
              </c:numCache>
            </c:numRef>
          </c:val>
          <c:extLst>
            <c:ext xmlns:c16="http://schemas.microsoft.com/office/drawing/2014/chart" uri="{C3380CC4-5D6E-409C-BE32-E72D297353CC}">
              <c16:uniqueId val="{00000004-DA0F-E24D-858E-AE9B3AF85263}"/>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ja-JP"/>
          </a:p>
        </c:txPr>
        <c:crossAx val="2094734552"/>
        <c:crosses val="autoZero"/>
        <c:auto val="1"/>
        <c:lblAlgn val="ctr"/>
        <c:lblOffset val="100"/>
        <c:noMultiLvlLbl val="1"/>
      </c:catAx>
      <c:valAx>
        <c:axId val="2094734552"/>
        <c:scaling>
          <c:orientation val="minMax"/>
          <c:max val="3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値</c:v>
                </c:pt>
              </c:strCache>
            </c:strRef>
          </c:tx>
          <c:spPr>
            <a:solidFill>
              <a:srgbClr val="8A96A8"/>
            </a:solidFill>
            <a:effectLst/>
          </c:spPr>
          <c:invertIfNegative val="0"/>
          <c:dLbls>
            <c:numFmt formatCode="0&quot;%&quot;" sourceLinked="0"/>
            <c:txPr>
              <a:bodyPr/>
              <a:lstStyle/>
              <a:p>
                <a:pPr>
                  <a:defRPr b="1" i="0" strike="noStrike" sz="2800" u="none">
                    <a:solidFill>
                      <a:srgbClr val="1B2333"/>
                    </a:solidFill>
                    <a:latin typeface="BIZ UDゴシック"/>
                    <a:ea typeface="BIZ UDゴシック"/>
                  </a:defRPr>
                </a:pPr>
              </a:p>
            </c:txPr>
            <c:showLegendKey val="0"/>
            <c:showVal val="1"/>
            <c:showCatName val="0"/>
            <c:showSerName val="0"/>
            <c:showPercent val="0"/>
            <c:showBubbleSize val="0"/>
            <c:showLeaderLines val="0"/>
          </c:dLbls>
          <c:dPt>
            <c:idx val="0"/>
            <c:invertIfNegative val="0"/>
            <c:bubble3D val="0"/>
            <c:spPr>
              <a:solidFill>
                <a:srgbClr val="8A96A8"/>
              </a:solidFill>
              <a:effectLst/>
            </c:spPr>
          </c:dPt>
          <c:dPt>
            <c:idx val="1"/>
            <c:invertIfNegative val="0"/>
            <c:bubble3D val="0"/>
            <c:spPr>
              <a:solidFill>
                <a:srgbClr val="2F6FA8"/>
              </a:solidFill>
              <a:effectLst/>
            </c:spPr>
          </c:dPt>
          <c:cat>
            <c:multiLvlStrRef>
              <c:f>Sheet1!$A$2:$A$3</c:f>
              <c:multiLvlStrCache>
                <c:ptCount val="2"/>
                <c:lvl>
                  <c:pt idx="0">
                    <c:v>自分で
チェックを入れる</c:v>
                  </c:pt>
                  <c:pt idx="1">
                    <c:v>最初から
チェック済み</c:v>
                  </c:pt>
                </c:lvl>
              </c:multiLvlStrCache>
            </c:multiLvlStrRef>
          </c:cat>
          <c:val>
            <c:numRef>
              <c:f>Sheet1!$B$2:$B$3</c:f>
              <c:numCache>
                <c:formatCode>General</c:formatCode>
                <c:ptCount val="2"/>
                <c:pt idx="0">
                  <c:v>42</c:v>
                </c:pt>
                <c:pt idx="1">
                  <c:v>82</c:v>
                </c:pt>
              </c:numCache>
            </c:numRef>
          </c:val>
        </c:ser>
        <c:dLbls>
          <c:numFmt formatCode="0&quot;%&quot;" sourceLinked="0"/>
          <c:txPr>
            <a:bodyPr/>
            <a:lstStyle/>
            <a:p>
              <a:pPr>
                <a:defRPr b="1" i="0" strike="noStrike" sz="2800" u="none">
                  <a:solidFill>
                    <a:srgbClr val="1B2333"/>
                  </a:solidFill>
                  <a:latin typeface="BIZ UDゴシック"/>
                  <a:ea typeface="BIZ UDゴシック"/>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000000"/>
                </a:solidFill>
                <a:latin typeface="BIZ UDゴシック"/>
                <a:ea typeface="BIZ UDゴシック"/>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値</c:v>
                </c:pt>
              </c:strCache>
            </c:strRef>
          </c:tx>
          <c:spPr>
            <a:solidFill>
              <a:srgbClr val="8A96A8"/>
            </a:solidFill>
            <a:effectLst/>
          </c:spPr>
          <c:invertIfNegative val="0"/>
          <c:dLbls>
            <c:numFmt formatCode="0&quot;%&quot;" sourceLinked="0"/>
            <c:txPr>
              <a:bodyPr/>
              <a:lstStyle/>
              <a:p>
                <a:pPr>
                  <a:defRPr b="1" i="0" strike="noStrike" sz="2800" u="none">
                    <a:solidFill>
                      <a:srgbClr val="1B2333"/>
                    </a:solidFill>
                    <a:latin typeface="BIZ UDゴシック"/>
                    <a:ea typeface="BIZ UDゴシック"/>
                  </a:defRPr>
                </a:pPr>
              </a:p>
            </c:txPr>
            <c:showLegendKey val="0"/>
            <c:showVal val="1"/>
            <c:showCatName val="0"/>
            <c:showSerName val="0"/>
            <c:showPercent val="0"/>
            <c:showBubbleSize val="0"/>
            <c:showLeaderLines val="0"/>
          </c:dLbls>
          <c:dPt>
            <c:idx val="0"/>
            <c:invertIfNegative val="0"/>
            <c:bubble3D val="0"/>
            <c:spPr>
              <a:solidFill>
                <a:srgbClr val="8A96A8"/>
              </a:solidFill>
              <a:effectLst/>
            </c:spPr>
          </c:dPt>
          <c:dPt>
            <c:idx val="1"/>
            <c:invertIfNegative val="0"/>
            <c:bubble3D val="0"/>
            <c:spPr>
              <a:solidFill>
                <a:srgbClr val="2F6FA8"/>
              </a:solidFill>
              <a:effectLst/>
            </c:spPr>
          </c:dPt>
          <c:cat>
            <c:multiLvlStrRef>
              <c:f>Sheet1!$A$2:$A$3</c:f>
              <c:multiLvlStrCache>
                <c:ptCount val="2"/>
                <c:lvl>
                  <c:pt idx="0">
                    <c:v>自分で予約</c:v>
                  </c:pt>
                  <c:pt idx="1">
                    <c:v>最初から予約済み
（変更・取消は自由）</c:v>
                  </c:pt>
                </c:lvl>
              </c:multiLvlStrCache>
            </c:multiLvlStrRef>
          </c:cat>
          <c:val>
            <c:numRef>
              <c:f>Sheet1!$B$2:$B$3</c:f>
              <c:numCache>
                <c:formatCode>General</c:formatCode>
                <c:ptCount val="2"/>
                <c:pt idx="0">
                  <c:v>33</c:v>
                </c:pt>
                <c:pt idx="1">
                  <c:v>45</c:v>
                </c:pt>
              </c:numCache>
            </c:numRef>
          </c:val>
        </c:ser>
        <c:dLbls>
          <c:numFmt formatCode="0&quot;%&quot;" sourceLinked="0"/>
          <c:txPr>
            <a:bodyPr/>
            <a:lstStyle/>
            <a:p>
              <a:pPr>
                <a:defRPr b="1" i="0" strike="noStrike" sz="2800" u="none">
                  <a:solidFill>
                    <a:srgbClr val="1B2333"/>
                  </a:solidFill>
                  <a:latin typeface="BIZ UDゴシック"/>
                  <a:ea typeface="BIZ UDゴシック"/>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en-US"/>
          </a:p>
        </c:txPr>
        <c:crossAx val="2094734552"/>
        <c:crosses val="autoZero"/>
        <c:auto val="1"/>
        <c:lblAlgn val="ctr"/>
        <c:noMultiLvlLbl val="1"/>
      </c:catAx>
      <c:valAx>
        <c:axId val="2094734552"/>
        <c:scaling>
          <c:orientation val="minMax"/>
          <c:max val="5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000000"/>
                </a:solidFill>
                <a:latin typeface="BIZ UDゴシック"/>
                <a:ea typeface="BIZ UDゴシック"/>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値</c:v>
                </c:pt>
              </c:strCache>
            </c:strRef>
          </c:tx>
          <c:spPr>
            <a:solidFill>
              <a:srgbClr val="D1480E"/>
            </a:solidFill>
            <a:effectLst/>
          </c:spPr>
          <c:invertIfNegative val="0"/>
          <c:dLbls>
            <c:numFmt formatCode="0&quot;%&quot;" sourceLinked="0"/>
            <c:txPr>
              <a:bodyPr/>
              <a:lstStyle/>
              <a:p>
                <a:pPr>
                  <a:defRPr b="1" i="0" strike="noStrike" sz="2800" u="none">
                    <a:solidFill>
                      <a:srgbClr val="1B2333"/>
                    </a:solidFill>
                    <a:latin typeface="BIZ UDゴシック"/>
                    <a:ea typeface="BIZ UDゴシック"/>
                  </a:defRPr>
                </a:pPr>
              </a:p>
            </c:txPr>
            <c:showLegendKey val="0"/>
            <c:showVal val="1"/>
            <c:showCatName val="0"/>
            <c:showSerName val="0"/>
            <c:showPercent val="0"/>
            <c:showBubbleSize val="0"/>
            <c:showLeaderLines val="0"/>
          </c:dLbls>
          <c:dPt>
            <c:idx val="0"/>
            <c:invertIfNegative val="0"/>
            <c:bubble3D val="0"/>
            <c:spPr>
              <a:solidFill>
                <a:srgbClr val="D1480E"/>
              </a:solidFill>
              <a:effectLst/>
            </c:spPr>
          </c:dPt>
          <c:dPt>
            <c:idx val="1"/>
            <c:invertIfNegative val="0"/>
            <c:bubble3D val="0"/>
            <c:spPr>
              <a:solidFill>
                <a:srgbClr val="0B7A70"/>
              </a:solidFill>
              <a:effectLst/>
            </c:spPr>
          </c:dPt>
          <c:cat>
            <c:multiLvlStrRef>
              <c:f>Sheet1!$A$2:$A$3</c:f>
              <c:multiLvlStrCache>
                <c:ptCount val="2"/>
                <c:lvl>
                  <c:pt idx="0">
                    <c:v>患者に触れた後
（思わず洗う）</c:v>
                  </c:pt>
                  <c:pt idx="1">
                    <c:v>患者に触れる前
（意識して行う）</c:v>
                  </c:pt>
                </c:lvl>
              </c:multiLvlStrCache>
            </c:multiLvlStrRef>
          </c:cat>
          <c:val>
            <c:numRef>
              <c:f>Sheet1!$B$2:$B$3</c:f>
              <c:numCache>
                <c:formatCode>General</c:formatCode>
                <c:ptCount val="2"/>
                <c:pt idx="0">
                  <c:v>47</c:v>
                </c:pt>
                <c:pt idx="1">
                  <c:v>21</c:v>
                </c:pt>
              </c:numCache>
            </c:numRef>
          </c:val>
        </c:ser>
        <c:dLbls>
          <c:numFmt formatCode="0&quot;%&quot;" sourceLinked="0"/>
          <c:txPr>
            <a:bodyPr/>
            <a:lstStyle/>
            <a:p>
              <a:pPr>
                <a:defRPr b="1" i="0" strike="noStrike" sz="2800" u="none">
                  <a:solidFill>
                    <a:srgbClr val="1B2333"/>
                  </a:solidFill>
                  <a:latin typeface="BIZ UDゴシック"/>
                  <a:ea typeface="BIZ UDゴシック"/>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B2333"/>
                </a:solidFill>
                <a:latin typeface="BIZ UDゴシック"/>
                <a:ea typeface="BIZ UDゴシック"/>
              </a:defRPr>
            </a:pPr>
            <a:endParaRPr lang="en-US"/>
          </a:p>
        </c:txPr>
        <c:crossAx val="2094734552"/>
        <c:crosses val="autoZero"/>
        <c:auto val="1"/>
        <c:lblAlgn val="ctr"/>
        <c:noMultiLvlLbl val="1"/>
      </c:catAx>
      <c:valAx>
        <c:axId val="2094734552"/>
        <c:scaling>
          <c:orientation val="minMax"/>
          <c:max val="5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2000" b="0" i="0" u="none" strike="noStrike">
                <a:solidFill>
                  <a:srgbClr val="000000"/>
                </a:solidFill>
                <a:latin typeface="BIZ UDゴシック"/>
                <a:ea typeface="BIZ UDゴシック"/>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3143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【目安1分／0:00–1:00】
皆さん、こんにちは。市立豊中病院 感染対策室、感染管理認定看護師の鈴木です。本日は「行動科学は感染対策の『見えない敵』を可視化する」というテーマで、約60分お話しします。
医師、看護師、薬剤師、検査技師、リハビリ、放射線、事務や清掃の方まで、職種を問わず明日から使える視点をお持ち帰りいただくことが目標です。専門用語はできるだけかみ砕いてご説明しますので、行動科学がはじめての方も安心してお聞きくださ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【目安2分／1:00–3:00】
最初に皆さんに質問です。感染対策の「敵」とは何でしょうか。隣の方と30秒ほど話してみてください。
（30秒）
ありがとうございます。細菌、ウイルス、耐性菌、といった声が多かったと思います。もちろん正解です。
ただ、今日はもう一つ、もっと手ごわい敵の話をします。それは、私たちの「行動」をゆがめてしまう、目に見えない力です。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【目安1分／3:00–4:00】
私たちは、微生物という目に見えない敵を、道具で「見える化」してきました。顕微鏡とグラム染色で形を見て、培養と感受性検査で効く薬を見て、遺伝子検査で正体を見て、蛍光マーカーやATPで汚れを見る。
見えるからこそ、私たちは対策を立てることができます。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【目安1分30秒／4:00–5:30】
では、感染を広げてしまう「行動」の原因はどうでしょうか。
手指衛生を1回飛ばしてしまう、防護具を外すときに自分を汚染してしまう、必要のない抗菌薬を処方してしまう。これらは水面の上に見えている「行動」です。
しかし、その下には、思い込み、見られているかどうか、疲れ、周囲の空気、環境や動線といった「見えない原因」が隠れています。
今日は、この水面下の敵を、行動科学というレンズで見える化していきます。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【目安1分／5:30–6:30】
微生物学では、顕微鏡や培養で見えないものを見て、消毒や抗菌薬で対処します。
行動科学も同じです。理論とデータで行動の原因を見えるようにし、仕組みや環境を設計して対処します。
つまり行動科学は、行動を見るための「顕微鏡」だと考えていただくとわかりやすいと思います。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【目安1分／6:30–7:30】
今日のゴールは3つのステップです。まず、5つの「見えない敵」を知ること。次に、COM-B（コム・ビー）という枠組みで原因を診断できるようになること。そして最後に、明日から小さく一つ仕掛けること。
聞いて終わりではなく、明日一つだけ行動が変わることを目指しましょう。</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【目安20秒／7:30–7:50】
第1部では、なぜ感染対策が「行動」の問題なのかを確認します。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【目安1分30秒／7:50–9:20】
手指衛生の遵守率について、96の研究をまとめた系統的レビューがあります。遵守率の中央値は40%でした。
職種別では医師32%、看護師48%。タイミング別では、患者に触れる前が21%、触れた後が47%。ICUでは30〜40%と、他の場所の50〜60%より低い結果でした。
注目していただきたいのは「触れる前」が21%という点です。患者さんを守るためのタイミングが、最も守られていないのです。また、業務が立て込む場面ほど遵守率が低いことも報告されています。
（出典：Erasmus V, et al. Infect Control Hosp Epidemiol 2010;31:283-94）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【目安1分30秒／9:20–10:50】
では、行動が変わると何が起きるのか。ジュネーブ大学病院の有名な研究です。ベッドサイドでのアルコール手指消毒を柱に病院全体で取り組んだ結果、遵守率は48%から66%へ上がり、院内感染の有病率は16.9%から9.9%へ、MRSAの伝播は1万患者日あたり2.16件から0.93件へ減少しました。同時に、アルコール手指消毒剤の使用量は1000患者日あたり3.5Lから15.4Lに増えています。
行動が変われば、感染は減る。これが今日の出発点です。
（出典：Pittet D, et al. Lancet 2000;356:1307-12）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【目安1分30秒／10:50–12:20】
では、行動を変えるには知識ややる気を高めればよいのでしょうか。
47の実験研究をまとめたメタ分析では、意図、つまり「やろう」という気持ちを中〜大きく変えても、実際の行動の変化は小〜中程度にとどまりました。効果量でいうと0.66に対して0.36、おおよそ半分です。
知識や意識を高める研修は大切です。しかし、それだけでは行動は変わりきらない。行動そのものと、それを取り巻く環境に目を向ける必要があります。
（出典：Webb TL, Sheeran P. Psychol Bull 2006;132:249-68）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【目安1分／14:35–15:35】
ここで見方を変えてみましょう。これまで私たちは、守られない理由を「意識が低い」「やる気がない」と、人の問題として捉えがちでした。
行動科学では、人の周りに働いている「見えない力」に目を向けます。思い込み、疲れ、周囲の空気、動線。これらは本人の努力だけでは変えにくいものです。
人を責める前に、仕組みを疑う。これが行動科学の基本姿勢です。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【目安40秒／15:35–16:15】
第2部では、5つの「見えない敵」を順番に可視化していきます。①思い込み、②見られている効果、③疲れ、④周囲の空気、⑤環境と動線です。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【目安1分30秒／16:15–17:45】
一つ目の敵は「思い込み」です。
71名の医療者を合計132時間観察し、1,284回の手指衛生の機会を調べた研究では、観察された遵守率は非常に低く、しかも実際の行動は、本人の「やるつもり」や「やっている」という自己申告とは関連しませんでした。MRSA保菌者のケアでさえ、リスクに応じた行動がとれていなかったと報告されています。
つまり、アンケートや自己評価では、行動の実態は見えないのです。意識調査で「できている」と答えた部署ほど、実際の観察データを返すことが大切になります。
（出典：Jenner EA, et al. J Hosp Infect 2006;63:418-22）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【目安2分／17:45–19:45】
思い込みのもう一つの形が、「自分は大丈夫」という過信です。
病院で行われた2つのフィールド実験で、手指消毒剤の近くに2種類の掲示をしました。「手指衛生で、あなたが病気になるのを防げます」と、「手指衛生で、患者さんが病気になるのを防げます」。違いは主語の1語だけです。
結果、「あなた」の掲示では変化がなく、「患者さん」の掲示では、消毒剤の使用量も、覆面での観察による手指衛生も有意に増えました。医療者は日頃から病原体に触れているため「自分は感染しない」と過信しやすく、自分を守るメッセージは響きにくいのです。
皆さんの施設のポスターの主語は、誰になっていますか。
（出典：Grant AM, Hofmann DA. Psychol Sci 2011;22:1494-9）</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【目安1分30秒／19:45–21:15】
二つ目の敵は「見られている効果」、いわゆるホーソン効果です。
カナダの大学病院で、電子システムを使って8か月間、全ての手指衛生を記録しました。すると、監査者が見える廊下の消毒剤では1時間あたり3.75回、同じ時間の監査者が見えない場所では1.48回、同じ場所の前の週は1.07回でした。監査者が見えると約3倍になり、しかも病室内では変化がありませんでした。
私たちが監査で測っている遵守率は、実際より高く見えている可能性があるということです。
（出典：Srigley JA, et al. BMJ Qual Saf 2014;23:974-80）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【目安1分30秒／21:15–22:45】
では、どう測ればよいのでしょうか。答えは、物差しを組み合わせることです。
直接観察はタイミングや手技がわかりますが、見られている効果が出ます。手指消毒剤の使用量は、全体の傾向を客観的に追えますが、どのタイミングで使ったかはわかりません。電子モニタリングは24時間の実態に迫れますが、導入にコストがかかります。
医師の手指衛生を調べた研究でも、「観察されている」という意識が遵守と関連していました。一つの数字を信じ込まず、複数の物差しで行動の「素顔」に近づきましょう。
（出典：Srigley JA, et al. BMJ Qual Saf 2014；Pittet D, et al. Ann Intern Med 2004;141:1-8）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【目安1分30秒／22:45–24:15】
三つ目の敵は「疲れ」です。
米国35病院、4,157人の医療者、約1,370万回の手指衛生機会を分析した研究では、12時間勤務の始めから終わりまでに、遵守率が平均8.7ポイント低下しました。業務が立て込むほど低下は大きく、逆に勤務と勤務の間の休息が長いと、次の勤務で遵守率が回復していました。
ルールを守る力は、時間とともにすり減る「資源」なのです。
（出典：Dai H, et al. J Appl Psychol 2015;100:846-62）</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【目安1分30秒／24:15–25:45】
ジュネーブの研究でも、ケアが立て込み、1時間あたりの手指衛生の機会が41回を超えるような場面では、20回以下の場面に比べて、手指衛生をしないオッズが約2倍になっていました。
忙しさを「気合い」で乗り切ることはできません。手の届く場所に消毒剤を置いて探す手間をなくす、忙しい時間帯や勤務の後半に合図を出す、休憩を確保する、判断を助けるオーダーセットを用意する。意志ではなく、仕組みで守りましょう。
（出典：Pittet D, et al. Ann Intern Med 1999;130:126-30）</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【目安1分30秒／25:45–27:15】
四つ目の敵は「周囲の空気」です。
ある研究では、同じ部屋にいる上級の医療者や同僚が手指衛生をしないと、自分も手指衛生をしにくくなっていました。オッズ比は0.2、つまり手指衛生をする見込みが大きく下がるということです。
逆に、ICUでセンサーを使って約4万8千回の機会を調べた研究では、一人のときの遵守率は20.9%、周りに他の職員がいるときは27.9%に上がっていました。
私たちはルールよりも、周りの人の行動に強く影響されているのです。
（出典：Lankford MG, et al. Emerg Infect Dis 2003;9:217-23／Monsalve MN, et al. Infect Control Hosp Epidemiol 2014;35:1277-85）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【目安1分30秒／27:15–28:45】
この「空気」をつくるのはリーダーです。医師163名を観察した研究では、遵守率は平均57%で、「自分は同僚の手本になっている」という意識が遵守と関連していました。観察されているという意識や、手指消毒剤へのアクセスのしやすさも関連していました。
明日からの一手はシンプルです。回診やラウンドの先頭に立つ人が、最初に、みんなに見えるように手指衛生をする。新人や研修医は、上の人の背中を見て学んでいます。
（出典：Pittet D, et al. Ann Intern Med 2004;141:1-8）</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【目安1分30秒／28:45–30:15】
五つ目の敵は「環境と動線」です。
先ほどの研究では、手洗いシンクを増やした新しい病院に移ったところ、遵守率は53%から23%に下がっていました。設備を増やすだけでは行動は変わらなかったのです。
一方、ジュネーブの研究では、ベッドサイドにアルコール手指消毒剤を置いたことが遵守率向上に大きく寄与しました。コクランレビューでも、使用する場所の近くに置くことで遵守率が改善する可能性が、中等度の確実性で示されています。
「数」より「その場にあるか」。人は、そこにあるから手を伸ばします。
（出典：Lankford MG, et al. 2003／Pittet D, et al. 2000／Gould DJ, et al. Cochrane Database Syst Rev 2017;9:CD005186）</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【目安20秒／30:15–30:35】
第3部では、これらの見えない敵を「見える化」する方法を、診断する・見せる・後押しする、の3つの視点でご紹介します。</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【目安1分40秒／30:35–32:15】
まず「診断する」ための道具が、COM-B（コム・ビー）モデルです。英国のMichieらが、既存の19の行動変容の枠組みを整理して提唱しました。
行動が起こるには、能力（Capability）、機会（Opportunity）、動機（Motivation）の3つがそろう必要があります。能力には身体的・心理的、機会には物理的・社会的、動機には内省的・自動的という、それぞれ2つの側面があります。
「なぜできないのか」を、この3つの箱に分けて考えるだけで、原因が見えやすくなります。
（出典：Michie S, et al. Implement Sci 2011;6:42）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【目安1分30秒／32:15–33:45】
今日の5つの敵をCOM-Bに当てはめてみます。
思い込みは内省的な動機、疲れは心理的な能力、周囲の空気は社会的な機会、環境と動線は物理的な機会の問題です。見られている効果は、行動そのものではなく、私たちの「測定」をゆがめる敵です。
箱が決まれば、打ち手も決まります。動機の問題に消毒剤の置き場所を変えても効きにくく、機会の問題に研修を重ねても効きにくい。原因の箱と打ち手の方向を合わせることが大切です。</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【目安1分30秒／33:45–35:15】
ここから「見せる」です。そもそも汚染は目に見えません。
MRSA保菌者40名の病室で調べた研究では、患者さんの皮膚に触れた後に手にMRSAが付着した割合は40%、ベッド柵やテーブルなど環境表面に触れた後は45%で、ほぼ同じでした。
患者さんに直接触れない職種、たとえばリハビリ、放射線、検査、清掃のスタッフも、環境に触れたら手指衛生が必要です。WHOの「手指衛生の5つのタイミング」の5番目、患者周囲の環境に触れた後ですね。
（出典：Stiefel U, et al. Infect Control Hosp Epidemiol 2011;32:185-7）</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【目安1分30秒／35:15–36:45】
見えない汚染を「その場で見せる」と、行動は変わります。
4病院で435回の防護具の脱衣シミュレーションを行ったところ、蛍光ローションによる皮膚や衣服の汚染が46%で起きていました。手袋を外すときの方が、ガウンより多く汚染していました。
そこで、蛍光ローションで汚染をその場で見せながら練習する教育を行うと、汚染は60%から18.9%に減り、1か月後、3か月後も12%に保たれていました。
自分の汚染が見えると、行動は自然と丁寧になります。
（出典：Tomas ME, et al. JAMA Intern Med 2015;175:1904-10）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【目安1分30秒／36:45–38:15】
清掃も同じです。米国36病院で、約2万か所の高頻度接触面を蛍光マーカーで評価したところ、退院後の清掃で拭かれていた表面は48%にとどまりました。
蛍光マーカーの結果を清掃スタッフに繰り返しフィードバックし、手順を見直した結果、77%まで改善しました。
清掃スタッフが悪いのではなく、「拭き残しが見えない」ことが敵だったのです。
（出典：Carling PC, et al. Infect Control Hosp Epidemiol 2008;29:1035-41）</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【目安1分30秒／43:45–45:15】
結果です。病院全体の手指消毒剤の使用量は、2018年度の1000患者日あたり12.6Lから、2024年度は26.3Lへ、約2.1倍に増えました。全13部署で統計学的に有意な増加でした。なお、コロナ禍の影響が大きい2020〜2023年度は比較から除いています。
一方で、直接観察による遵守率には大きな伸びは見られていません。ただ、コロナ禍を経ても低下せずに維持できています。
単年度の前後比較であり、使用量イコール遵守率ではない、という限界もあります。だからこそ、先ほどお話しした「複数の物差し」で見ていくことが大切だと考えています。看護師以外の職種へのアプローチが今後の課題です。</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【目安20秒／45:15–45:35】
第4部では、明日から「仕掛ける」ための具体的な手順をお伝えします。</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【目安1分20秒／45:35–46:55】
見える化は4つのステップで進めます。
①絞る：「手指衛生を頑張る」ではなく、「誰が、いつ、どこで、何をするか」を1つに絞ります。②診断する：COM-Bで、能力・機会・動機のどこに原因があるかを探します。③仕掛ける：次にご紹介するEASTの視点で、環境や伝え方を変えます。④返す：測った結果を、現場に見える形で返します。
大きな計画より、小さく始めて回すことが成功のコツです。</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【目安1分30秒／46:55–48:25】
仕掛けを考えるときのチェックリストが、英国の行動インサイトチームが提唱するEASTです。
Easy、簡単に：消毒剤を動線上や手の届くところに置く、手順を番号にする。Attractive、魅力的に：「患者さんを守る」を主語にする、目を引く表示にする。Social、社会的に：部署の実施状況を共有する、リーダーが率先する。Timely、タイミングよく：入室の直前や、手袋を外した直後に合図を出す。
今日ご紹介した研究の多くは、この4つのどれかに当てはまります。
（出典：The Behavioural Insights Team. EAST: Four simple ways to apply behavioural insights. 2014）</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【0:37】システム変更はWHO戦略の「前提条件」。Pittetらは、ベッドサイドの擦式消毒剤の普及が遵守率改善に最も寄与したと結論しています。Cure &amp; Van Enkは、ディスペンサーの「見えやすさ」と「病室入口での取りやすさ」が遵守率と関連し、規格統一だけでは関連しなかったことを示しました。 逆にLankfordの新病院の例のように、設備を増やすだけでは不十分。「どこに・どう置くか」を動線と行動の瞬間から設計します。 写真は当院救急外来のPPE置き場（番号順に並べ、考えずに正しい順で取れる＝選択の設計）。</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【目安1分50秒／49:25–51:15】
「見えない敵」は職種によって姿を変えます。
医師は回診などで「触れる前」が抜けやすいため、先頭に立つ人が最初に手指衛生をすることが、研修医への手本にもなります。看護師は繁忙時の「触れる前」のスキップに、動線上の消毒剤と合図を。薬剤師は処方の偏りを、抗菌薬の使用データとして部署に返すことができます。臨床検査技師は、耐性菌の検出状況を部署別に見える化できます。リハビリや放射線は、機器や環境に触れた後の手指衛生。清掃や看護補助は、蛍光マーカーによるフィードバック。事務・管理者は、物品の配置や使用量を定期的に共有する。
どの職種にも、見える化の担い手としての役割があります。
※表の例は、本日ご紹介した研究をもとにした応用例です。</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【目安1分／52:45–53:45】
最後に、科学的に誠実であるために。手指衛生の介入を検証したコクランレビューでは、消毒剤を使用場所の近くに置くことは中等度の確実性で改善が期待できる一方、フィードバック、教育、掲示や香りなどのきっかけ、多角的な介入の多くは、効果が示唆されるものの確実性は低い、とされています。
WHOの多角的戦略も、システムの変更、教育、モニタリングとフィードバック、職場でのリマインダー、安全文化を組み合わせることを求めています。
ナッジは万能薬ではありません。組み合わせて、測って、直す。この繰り返しが大切です。
（出典：Gould DJ, et al. Cochrane Database Syst Rev 2017;9:CD005186／Lotfinejad N, et al. Lancet Infect Dis 2021;21:e209-21）</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【目安2分／53:45–55:45】
では1分間、考えてみてください。お手元の紙にメモしていただいても構いません。
①あなたの職場で変えたい行動を1つ、誰が・いつ・どこで・何をするかまで絞ってください。②その行動を邪魔している見えない敵は、5つのうちどれでしょうか。③明日できる一手は何でしょうか。見せる、返す、仕掛ける、のどれでも構いません。
（1分後）
何人かの方に伺ってみましょう。</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【目安1分／55:45–56:45】
まとめです。
一つ、行動の原因は目に見えません。人を責める前に、仕組みを疑いましょう。
二つ、行動科学、特にCOM-Bを使えば、見えない敵を診断できます。
三つ、見せる・返す・仕掛ける。小さく始めて、測って、直していきましょう。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【目安30秒／56:45–57:15】
見えない敵は、「人の中」ではなく「仕組みの中」にいます。
明日、ひとつだけ、仕掛けてみませんか。</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【目安1分／39:15–40:15】
人の行動を変える道具を、大きく4つに分けてみます。
1つ目はルール。「必ずこうする」という義務や禁止です。2つ目はお金。ごほうびや罰金です。3つ目は教育。知識を伝える研修やマニュアルです。そして4つ目がナッジ。選択肢や環境の「見せ方・置き方」を設計して、自然に選びやすくします。
例えば手指衛生なら、手順を決めるのがルール、研修をするのが教育、入口の動線上に消毒剤を置いたり、足あとで誘導したりするのがナッジです。
大切なのは、ナッジは他の道具の代わりではないということ。ルールや教育と組み合わせて、「わかっているのにできない」の最後のひと押しを担います。
（出典：Thaler RH, Sunstein CR. Nudge. 2008／Michie S, et al. Implement Sci 2011;6:42）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【目安1分／40:15–41:15】
ナッジの中でも特に強力なのが「初期設定（デフォルト）」です。
臓器提供の意思をたずねるオンライン実験で、「提供したい人がチェックを入れる」聞き方では、同意した人は約42%でした。ところが「提供したくない人がチェックを外す」、つまり最初から同意が選ばれている聞き方では、約82%に上がりました。選ぶ自由はどちらも同じです。変えたのは「最初の設定」だけです。
国別に見ても、同意が初期設定になっている国では、実際の同意率が90%を超える国が多く見られました。
人は、最初から選ばれているものを、そのまま選びやすいのです。
（出典：Johnson EJ, Goldstein D. Science 2003;302:1338-9）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【目安1分／41:15–42:15】
このデフォルトは、感染対策でも使えます。
米国の大学職員478名を対象にしたランダム化比較試験で、インフルエンザワクチンの案内を2通り送りました。「接種したい人は自分で予約してください」という案内では接種率33%。一方、「あなたの接種日時はすでに予約されています。都合が悪ければ変更・取消できます」という案内では45%でした。予約を取り消したのは8%だけでした。
新型コロナワクチンでも、9万人以上を対象にした試験で、「あなたのためのワクチンが用意されています」と伝えるショートメッセージが、接種率を3.57ポイント押し上げました。
職員のワクチン接種や、物品の初期配置など、「最初の設定」を見直すことは、明日からできるナッジです。
（出典：Chapman GB, et al. JAMA 2010;304:43-4／Dai H, et al. Nature 2021;597:404-9）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【目安1分15秒／12:20–13:35】
ここで、なぜ「わかっているのに、できない」のかを、頭の働きから考えてみます。
まずクイズです。バットとボールで合わせて1,100円。バットはボールより1,000円高い。ボールはいくらでしょう？……とっさに「100円」と浮かんだ方が多いと思います。でも、それだとバットは1,100円で、合計は1,200円になってしまいます。正解は50円です。
ノーベル経済学賞を受賞した心理学者カーネマンは、人の思考を2つに分けて説明しました。システム1は「速い思考」。自動的・直感的で、努力がいらず、慣れた手順や忙しいときの判断を担います。システム2は「遅い思考」。意識的・論理的ですが、エネルギーを使い、疲れると働きにくくなります。
私たちの毎日の行動の多くは、速い思考で動いています。
（出典：Kahneman D. Am Psychol 2003;58:697-720／Frederick S. J Econ Perspect 2005;19:25-42。クイズは原典の米ドルを円に置き換えています）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【目安1分／13:35–14:35】
感染対策に当てはめてみます。
看護師754名を対象にした研究では、手洗いには2種類あると整理されました。汚れを感じたときや体液に触れた後に「思わず洗う」手洗いと、患者さんの健康な皮膚に触れる前のように、意識して「選んで行う」手洗いです。そして、どちらの手洗いも、子どもの頃から身についた家庭や地域での手洗いの習慣に最も強く影響されていました。
先ほどの遵守率のデータでも、患者さんに触れた後の遵守率は47%、触れる前は21%でした。「汚れた」と感じる場面では速い思考で手が動きますが、「触れる前」は遅い思考で意識しないとできないと考えると、この差が理解しやすくなります。
研修で知識を伝えることは、遅い思考に届きます。でも、忙しい現場で行動を動かしているのは速い思考です。だから、環境の側から速い思考に働きかける工夫が必要になります。それが、後半でご紹介する「ナッジ」です。
（出典：Whitby M, et al. Infect Control Hosp Epidemiol 2006;27:484-92／Erasmus V, et al. Infect Control Hosp Epidemiol 2010;31:283-94。2つの手洗いを速い思考・遅い思考に対応させる説明は講演者による解釈です）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【目安1分／38:15–39:15】
ここで、今日のキーワード「ナッジ」を確認しておきます。
ナッジは英語で「ひじで軽くつつく」という意味です。行動経済学者のセイラーとサンスティーンが広めた考え方で、禁止や強制をしたり、お金で釣ったりせずに、選ぶ自由は残したまま、望ましい行動を「選びやすく」する工夫のことです。
実は皆さんの身の回りにもあります。レジ前の足あとマークがあると、言われなくても間隔をあけて並びます。「一番人気」と書いてあると、ついそれを選びます。最初からチェックが入っている欄は、そのままにしがちです。
第1部でお話しした「速い思考（システム1）」は、理屈より目の前の環境に反応します。ナッジは、その速い思考に働きかけて、考えなくても望ましい行動を選べるようにする方法です。
（出典：Thaler RH, Sunstein CR. Nudge: Improving Decisions about Health, Wealth, and Happiness. Yale University Press;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【目安1分30秒／42:15–43:45】
ここで当院の実践をご紹介します。写真の3つは、いずれも「考えなくても手が動く」ことをねらったナッジです。
一つ目は救急外来の入口です。床の足あとで手指消毒剤のスタンドへ誘導し、目立たせました。患者さんのご家族が入室時に手指消毒をする頻度が増えました。
二つ目は病室の名札の下の表示です。「①氏名を確認したら、②手指消毒を2プッシュ」と、毎回必ず行う氏名確認を合図にして、次の行動を具体的に示しています。
三つ目は病室前の宣言です。「患者さんを感染から守るため手指消毒をします」とスタッフが公言することで、言ったことを守ろうとする心理と、「患者さんのため」という目的を同時に働かせます。
このほか、救急外来で防護具の着用手順を番号で示したことや、手指消毒剤を1本使い切るごとにシールを貼って個人の使用量を見える化したことにも取り組みました。うまくいった方法やツールは、実施部署から全部署に共有しています。
（出典：鈴木徳洋, 他. 日本外科感染症学会（ポスター発表））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【目安1分30秒／51:15–52:45】
組織として仕掛けた有名な例が、米国ミシガン州のICUプロジェクトです。
やったことは、中心静脈カテーテルの感染を防ぐ、エビデンスのある5つの対策です。手指衛生、挿入時のマキシマル・バリアプリコーション、クロルヘキシジンによる皮膚消毒、できるだけ大腿部を避けること、不要なカテーテルを抜くこと。これを物品カートとチェックリストで支え、守られていなければ緊急時を除いて手技を止めることにしました。
その結果、103のICUで、カテーテル関連血流感染は1000カテーテル日あたり平均7.7件から1.4件へ、最大66%減りました。
5つの対策自体は、以前から知られていたものです。では、なぜここまで成功したのか。後の社会学的な分析では、ICU同士が横につながり、「みんなやっている」ことが規範になったこと、感染を「仕方ないもの」から「防げるもの」と捉え直したこと、感染率を測って共有し、互いに比べられるようにしたこと、そして手順を守らなければ止めるという、ゆずれない仕組みを持ったことが鍵だったとされています。
道具の裏にある「見えない社会の力」こそが、行動を変えるのです。
（出典：Pronovost P, et al. N Engl J Med 2006;355:2725-32／Dixon-Woods M, et al. Milbank Q 2011;89:167-205）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sec3-nudge.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image" Target="../media/nudge-image-2-1.png"/><Relationship Id="rId2" Type="http://schemas.openxmlformats.org/officeDocument/2006/relationships/image" Target="../media/nudge-image-2-2.png"/><Relationship Id="rId3" Type="http://schemas.openxmlformats.org/officeDocument/2006/relationships/image" Target="../media/nudge-image-2-3.png"/><Relationship Id="rId4" Type="http://schemas.openxmlformats.org/officeDocument/2006/relationships/image" Target="../media/nudge-image-2-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image" Target="../media/nudge-image-4-1.png"/><Relationship Id="rId3" Type="http://schemas.openxmlformats.org/officeDocument/2006/relationships/image" Target="../media/nudge-image-4-2.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x2-image-1-1.png"/><Relationship Id="rId2" Type="http://schemas.openxmlformats.org/officeDocument/2006/relationships/image" Target="../media/x2-image-1-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x2-image-3-1.png"/><Relationship Id="rId2" Type="http://schemas.openxmlformats.org/officeDocument/2006/relationships/image" Target="../media/x2-image-3-2.png"/><Relationship Id="rId3" Type="http://schemas.openxmlformats.org/officeDocument/2006/relationships/image" Target="../media/x2-image-3-3.png"/><Relationship Id="rId4" Type="http://schemas.openxmlformats.org/officeDocument/2006/relationships/image" Target="../media/x2-image-3-4.png"/><Relationship Id="rId5" Type="http://schemas.openxmlformats.org/officeDocument/2006/relationships/slideLayout" Target="../slideLayouts/slideLayout1.xm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x2-image-4-1.jpg"/><Relationship Id="rId2" Type="http://schemas.openxmlformats.org/officeDocument/2006/relationships/image" Target="../media/x2-image-4-2.jpg"/><Relationship Id="rId3" Type="http://schemas.openxmlformats.org/officeDocument/2006/relationships/image" Target="../media/x2-image-4-3.jpg"/><Relationship Id="rId4" Type="http://schemas.openxmlformats.org/officeDocument/2006/relationships/slideLayout" Target="../slideLayouts/slideLayout1.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x2-image-5-1.png"/><Relationship Id="rId2" Type="http://schemas.openxmlformats.org/officeDocument/2006/relationships/image" Target="../media/x2-image-5-2.png"/><Relationship Id="rId3" Type="http://schemas.openxmlformats.org/officeDocument/2006/relationships/image" Target="../media/x2-image-5-3.png"/><Relationship Id="rId4" Type="http://schemas.openxmlformats.org/officeDocument/2006/relationships/image" Target="../media/x2-image-5-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772400" y="1280160"/>
            <a:ext cx="4023360" cy="4023360"/>
          </a:xfrm>
          <a:prstGeom prst="rect">
            <a:avLst/>
          </a:prstGeom>
        </p:spPr>
      </p:pic>
      <p:sp>
        <p:nvSpPr>
          <p:cNvPr id="4" name="Text 0"/>
          <p:cNvSpPr txBox="1"/>
          <p:nvPr/>
        </p:nvSpPr>
        <p:spPr>
          <a:xfrm>
            <a:off x="611981" y="222885"/>
            <a:ext cx="6766560" cy="754380"/>
          </a:xfrm>
          <a:prstGeom prst="rect">
            <a:avLst/>
          </a:prstGeom>
          <a:noFill/>
          <a:ln/>
        </p:spPr>
        <p:txBody>
          <a:bodyPr wrap="square" lIns="0" tIns="0" rIns="0" bIns="0" rtlCol="0" anchor="t"/>
          <a:lstStyle/>
          <a:p>
            <a:pPr marL="0" indent="0">
              <a:buNone/>
            </a:pPr>
            <a:r>
              <a:rPr lang="en-US" sz="2000" b="1" dirty="0" err="1">
                <a:latin typeface="BIZ UDゴシック" pitchFamily="34" charset="0"/>
                <a:ea typeface="BIZ UDゴシック" pitchFamily="49" charset="-128"/>
                <a:cs typeface="BIZ UDゴシック" pitchFamily="34" charset="-120"/>
              </a:rPr>
              <a:t>済生会千里病院</a:t>
            </a:r>
            <a:br>
              <a:rPr lang="en-US" sz="2000" b="1" dirty="0">
                <a:latin typeface="BIZ UDゴシック" pitchFamily="34" charset="0"/>
                <a:ea typeface="BIZ UDゴシック" pitchFamily="49" charset="-128"/>
                <a:cs typeface="BIZ UDゴシック" pitchFamily="34" charset="-120"/>
              </a:rPr>
            </a:br>
            <a:r>
              <a:rPr lang="en-US" sz="2000" b="1" dirty="0" err="1">
                <a:latin typeface="BIZ UDゴシック" pitchFamily="34" charset="0"/>
                <a:ea typeface="BIZ UDゴシック" pitchFamily="49" charset="-128"/>
                <a:cs typeface="BIZ UDゴシック" pitchFamily="34" charset="-120"/>
              </a:rPr>
              <a:t>感染対策講習会</a:t>
            </a:r>
            <a:r>
              <a:rPr lang="en-US" sz="2000" b="1" dirty="0">
                <a:latin typeface="BIZ UDゴシック" pitchFamily="34" charset="0"/>
                <a:ea typeface="BIZ UDゴシック" pitchFamily="49" charset="-128"/>
                <a:cs typeface="BIZ UDゴシック" pitchFamily="34" charset="-120"/>
              </a:rPr>
              <a:t>　2026年10月15日</a:t>
            </a:r>
            <a:endParaRPr lang="en-US" sz="2000" dirty="0"/>
          </a:p>
        </p:txBody>
      </p:sp>
      <p:sp>
        <p:nvSpPr>
          <p:cNvPr id="5" name="Text 1"/>
          <p:cNvSpPr txBox="1"/>
          <p:nvPr/>
        </p:nvSpPr>
        <p:spPr>
          <a:xfrm>
            <a:off x="611981" y="1954530"/>
            <a:ext cx="7706679" cy="1737360"/>
          </a:xfrm>
          <a:prstGeom prst="rect">
            <a:avLst/>
          </a:prstGeom>
          <a:noFill/>
          <a:ln/>
        </p:spPr>
        <p:txBody>
          <a:bodyPr wrap="square" lIns="0" tIns="0" rIns="0" bIns="0" rtlCol="0" anchor="ctr"/>
          <a:lstStyle/>
          <a:p>
            <a:pPr marL="0" indent="0">
              <a:lnSpc>
                <a:spcPct val="110000"/>
              </a:lnSpc>
              <a:buNone/>
            </a:pPr>
            <a:r>
              <a:rPr lang="en-US" sz="4400" b="1" dirty="0">
                <a:latin typeface="BIZ UDゴシック" pitchFamily="34" charset="0"/>
                <a:ea typeface="BIZ UDゴシック" pitchFamily="49" charset="-128"/>
                <a:cs typeface="BIZ UDゴシック" pitchFamily="34" charset="-120"/>
              </a:rPr>
              <a:t>行動科学は感染対策の</a:t>
            </a:r>
            <a:endParaRPr lang="en-US" sz="4400" dirty="0"/>
          </a:p>
          <a:p>
            <a:pPr marL="0" indent="0">
              <a:lnSpc>
                <a:spcPct val="110000"/>
              </a:lnSpc>
              <a:buNone/>
            </a:pPr>
            <a:r>
              <a:rPr lang="en-US" sz="4400" b="1" dirty="0">
                <a:latin typeface="BIZ UDゴシック" pitchFamily="34" charset="0"/>
                <a:ea typeface="BIZ UDゴシック" pitchFamily="49" charset="-128"/>
                <a:cs typeface="BIZ UDゴシック" pitchFamily="34" charset="-120"/>
              </a:rPr>
              <a:t>「見えない敵」を可視化する</a:t>
            </a:r>
            <a:endParaRPr lang="en-US" sz="4400" dirty="0"/>
          </a:p>
        </p:txBody>
      </p:sp>
      <p:sp>
        <p:nvSpPr>
          <p:cNvPr id="7" name="Text 3"/>
          <p:cNvSpPr txBox="1"/>
          <p:nvPr/>
        </p:nvSpPr>
        <p:spPr>
          <a:xfrm>
            <a:off x="1051560" y="4897755"/>
            <a:ext cx="4592003" cy="1709928"/>
          </a:xfrm>
          <a:prstGeom prst="rect">
            <a:avLst/>
          </a:prstGeom>
          <a:noFill/>
          <a:ln/>
        </p:spPr>
        <p:txBody>
          <a:bodyPr wrap="square" lIns="0" tIns="0" rIns="0" bIns="0" rtlCol="0" anchor="t"/>
          <a:lstStyle/>
          <a:p>
            <a:pPr marL="0" indent="0">
              <a:buNone/>
            </a:pPr>
            <a:r>
              <a:rPr lang="en-US" sz="2800" dirty="0" err="1">
                <a:latin typeface="BIZ UDゴシック" pitchFamily="34" charset="0"/>
                <a:ea typeface="BIZ UDゴシック" pitchFamily="49" charset="-128"/>
                <a:cs typeface="BIZ UDゴシック" pitchFamily="34" charset="-120"/>
              </a:rPr>
              <a:t>市立豊中病院</a:t>
            </a:r>
            <a:r>
              <a:rPr lang="en-US" sz="2800" dirty="0">
                <a:latin typeface="BIZ UDゴシック" pitchFamily="34" charset="0"/>
                <a:ea typeface="BIZ UDゴシック" pitchFamily="49" charset="-128"/>
                <a:cs typeface="BIZ UDゴシック" pitchFamily="34" charset="-120"/>
              </a:rPr>
              <a:t> </a:t>
            </a:r>
          </a:p>
          <a:p>
            <a:pPr marL="0" indent="0">
              <a:buNone/>
            </a:pPr>
            <a:r>
              <a:rPr lang="en-US" sz="2800" dirty="0" err="1">
                <a:latin typeface="BIZ UDゴシック" pitchFamily="34" charset="0"/>
                <a:ea typeface="BIZ UDゴシック" pitchFamily="49" charset="-128"/>
                <a:cs typeface="BIZ UDゴシック" pitchFamily="34" charset="-120"/>
              </a:rPr>
              <a:t>感染対策室</a:t>
            </a:r>
            <a:endParaRPr lang="en-US" sz="2800" dirty="0"/>
          </a:p>
          <a:p>
            <a:pPr marL="0" indent="0">
              <a:buNone/>
            </a:pPr>
            <a:r>
              <a:rPr lang="en-US" sz="2800" dirty="0" err="1">
                <a:latin typeface="BIZ UDゴシック" pitchFamily="34" charset="0"/>
                <a:ea typeface="BIZ UDゴシック" pitchFamily="49" charset="-128"/>
                <a:cs typeface="BIZ UDゴシック" pitchFamily="34" charset="-120"/>
              </a:rPr>
              <a:t>鈴木</a:t>
            </a:r>
            <a:r>
              <a:rPr lang="en-US" sz="2800" dirty="0">
                <a:latin typeface="BIZ UDゴシック" pitchFamily="34" charset="0"/>
                <a:ea typeface="BIZ UDゴシック" pitchFamily="49" charset="-128"/>
                <a:cs typeface="BIZ UDゴシック" pitchFamily="34" charset="-120"/>
              </a:rPr>
              <a:t> 徳洋</a:t>
            </a:r>
            <a:endParaRPr lang="en-US" sz="28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FA0C0"/>
                </a:solidFill>
                <a:latin typeface="BIZ UDゴシック"/>
                <a:ea typeface="BIZ UDゴシック"/>
                <a:cs typeface="BIZ UDゴシック"/>
              </a:defRPr>
            </a:lvl1pPr>
          </a:lstStyle>
          <a:p>
            <a:pPr algn="r"/>
            <a:fld id="{F7021451-1387-4CA6-816F-3879F97B5CBC}" type="slidenum">
              <a:rPr lang="en-US" b="0">
                <a:solidFill>
                  <a:schemeClr val="tx1"/>
                </a:solidFill>
              </a:rPr>
              <a:t>1</a:t>
            </a:fld>
            <a:endParaRPr lang="en-US">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138928" y="685800"/>
            <a:ext cx="1920240" cy="1920240"/>
          </a:xfrm>
          <a:prstGeom prst="rect">
            <a:avLst/>
          </a:prstGeom>
        </p:spPr>
      </p:pic>
      <p:pic>
        <p:nvPicPr>
          <p:cNvPr id="4" name="Image 1" descr="preencoded.png"/>
          <p:cNvPicPr>
            <a:picLocks noChangeAspect="1"/>
          </p:cNvPicPr>
          <p:nvPr/>
        </p:nvPicPr>
        <p:blipFill>
          <a:blip r:embed="rId4"/>
          <a:stretch>
            <a:fillRect/>
          </a:stretch>
        </p:blipFill>
        <p:spPr>
          <a:xfrm>
            <a:off x="5733288" y="1280160"/>
            <a:ext cx="731520" cy="731520"/>
          </a:xfrm>
          <a:prstGeom prst="rect">
            <a:avLst/>
          </a:prstGeom>
        </p:spPr>
      </p:pic>
      <p:sp>
        <p:nvSpPr>
          <p:cNvPr id="5" name="Text 0"/>
          <p:cNvSpPr txBox="1"/>
          <p:nvPr/>
        </p:nvSpPr>
        <p:spPr>
          <a:xfrm>
            <a:off x="822960" y="2788920"/>
            <a:ext cx="10543032" cy="1737360"/>
          </a:xfrm>
          <a:prstGeom prst="rect">
            <a:avLst/>
          </a:prstGeom>
          <a:noFill/>
          <a:ln/>
        </p:spPr>
        <p:txBody>
          <a:bodyPr wrap="square" lIns="0" tIns="0" rIns="0" bIns="0" rtlCol="0" anchor="ctr"/>
          <a:lstStyle/>
          <a:p>
            <a:pPr marL="0" indent="0" algn="ctr">
              <a:buNone/>
            </a:pPr>
            <a:r>
              <a:rPr lang="en-US" sz="4000" b="1" dirty="0">
                <a:latin typeface="BIZ UDゴシック" pitchFamily="34" charset="0"/>
                <a:ea typeface="BIZ UDゴシック" pitchFamily="49" charset="-128"/>
                <a:cs typeface="BIZ UDゴシック" pitchFamily="34" charset="-120"/>
              </a:rPr>
              <a:t>感染対策の「敵」は、</a:t>
            </a:r>
            <a:endParaRPr lang="en-US" sz="4000" dirty="0"/>
          </a:p>
          <a:p>
            <a:pPr marL="0" indent="0" algn="ctr">
              <a:buNone/>
            </a:pPr>
            <a:r>
              <a:rPr lang="en-US" sz="4000" b="1" dirty="0">
                <a:latin typeface="BIZ UDゴシック" pitchFamily="34" charset="0"/>
                <a:ea typeface="BIZ UDゴシック" pitchFamily="49" charset="-128"/>
                <a:cs typeface="BIZ UDゴシック" pitchFamily="34" charset="-120"/>
              </a:rPr>
              <a:t>何だと思いますか？</a:t>
            </a:r>
            <a:endParaRPr lang="en-US" sz="4000" dirty="0"/>
          </a:p>
        </p:txBody>
      </p:sp>
      <p:sp>
        <p:nvSpPr>
          <p:cNvPr id="6" name="Text 1"/>
          <p:cNvSpPr txBox="1"/>
          <p:nvPr/>
        </p:nvSpPr>
        <p:spPr>
          <a:xfrm>
            <a:off x="822960" y="4800600"/>
            <a:ext cx="10543032" cy="548640"/>
          </a:xfrm>
          <a:prstGeom prst="rect">
            <a:avLst/>
          </a:prstGeom>
          <a:noFill/>
          <a:ln/>
        </p:spPr>
        <p:txBody>
          <a:bodyPr wrap="square" lIns="0" tIns="0" rIns="0" bIns="0" rtlCol="0" anchor="t"/>
          <a:lstStyle/>
          <a:p>
            <a:pPr marL="0" indent="0" algn="ctr">
              <a:buNone/>
            </a:pPr>
            <a:r>
              <a:rPr lang="en-US" sz="2600" dirty="0">
                <a:latin typeface="BIZ UDゴシック" pitchFamily="34" charset="0"/>
                <a:ea typeface="BIZ UDゴシック" pitchFamily="49" charset="-128"/>
                <a:cs typeface="BIZ UDゴシック" pitchFamily="34" charset="-120"/>
              </a:rPr>
              <a:t>隣の方と30秒、話してみてください</a:t>
            </a:r>
            <a:endParaRPr lang="en-US" sz="26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FA0C0"/>
                </a:solidFill>
                <a:latin typeface="BIZ UDゴシック"/>
                <a:ea typeface="BIZ UDゴシック"/>
                <a:cs typeface="BIZ UDゴシック"/>
              </a:defRPr>
            </a:lvl1pPr>
          </a:lstStyle>
          <a:p>
            <a:pPr algn="r"/>
            <a:fld id="{F7021451-1387-4CA6-816F-3879F97B5CBC}" type="slidenum">
              <a:rPr lang="en-US" b="0">
                <a:solidFill>
                  <a:schemeClr val="tx1"/>
                </a:solidFill>
              </a:rPr>
              <a:t>2</a:t>
            </a:fld>
            <a:endParaRPr 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473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473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はじめに</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私たちは、微生物を「見える化」する道具を持っている</a:t>
            </a:r>
            <a:endParaRPr lang="en-US" sz="3200" dirty="0"/>
          </a:p>
        </p:txBody>
      </p:sp>
      <p:sp>
        <p:nvSpPr>
          <p:cNvPr id="6" name="Shape 3"/>
          <p:cNvSpPr/>
          <p:nvPr/>
        </p:nvSpPr>
        <p:spPr>
          <a:xfrm>
            <a:off x="548640" y="2011680"/>
            <a:ext cx="2560320" cy="2834640"/>
          </a:xfrm>
          <a:prstGeom prst="roundRect">
            <a:avLst>
              <a:gd name="adj" fmla="val 4286"/>
            </a:avLst>
          </a:prstGeom>
          <a:solidFill>
            <a:srgbClr val="EEF2F7"/>
          </a:solidFill>
          <a:ln w="12700">
            <a:solidFill>
              <a:srgbClr val="EEF2F7"/>
            </a:solidFill>
            <a:prstDash val="solid"/>
          </a:ln>
        </p:spPr>
      </p:sp>
      <p:sp>
        <p:nvSpPr>
          <p:cNvPr id="7" name="Shape 4"/>
          <p:cNvSpPr/>
          <p:nvPr/>
        </p:nvSpPr>
        <p:spPr>
          <a:xfrm>
            <a:off x="1280160" y="2286000"/>
            <a:ext cx="1097280" cy="1097280"/>
          </a:xfrm>
          <a:prstGeom prst="ellipse">
            <a:avLst/>
          </a:prstGeom>
          <a:solidFill>
            <a:srgbClr val="0B7A70"/>
          </a:solidFill>
          <a:ln w="12700">
            <a:solidFill>
              <a:srgbClr val="0B7A70"/>
            </a:solidFill>
            <a:prstDash val="solid"/>
          </a:ln>
        </p:spPr>
      </p:sp>
      <p:pic>
        <p:nvPicPr>
          <p:cNvPr id="8" name="Image 0" descr="preencoded.png"/>
          <p:cNvPicPr>
            <a:picLocks noChangeAspect="1"/>
          </p:cNvPicPr>
          <p:nvPr/>
        </p:nvPicPr>
        <p:blipFill>
          <a:blip r:embed="rId3"/>
          <a:stretch>
            <a:fillRect/>
          </a:stretch>
        </p:blipFill>
        <p:spPr>
          <a:xfrm>
            <a:off x="1543507" y="2549347"/>
            <a:ext cx="570586" cy="570586"/>
          </a:xfrm>
          <a:prstGeom prst="rect">
            <a:avLst/>
          </a:prstGeom>
        </p:spPr>
      </p:pic>
      <p:sp>
        <p:nvSpPr>
          <p:cNvPr id="9" name="Text 5"/>
          <p:cNvSpPr txBox="1"/>
          <p:nvPr/>
        </p:nvSpPr>
        <p:spPr>
          <a:xfrm>
            <a:off x="548640" y="3566160"/>
            <a:ext cx="2560320" cy="50292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顕微鏡</a:t>
            </a:r>
            <a:endParaRPr lang="en-US" sz="2400" dirty="0"/>
          </a:p>
        </p:txBody>
      </p:sp>
      <p:sp>
        <p:nvSpPr>
          <p:cNvPr id="10" name="Text 6"/>
          <p:cNvSpPr txBox="1"/>
          <p:nvPr/>
        </p:nvSpPr>
        <p:spPr>
          <a:xfrm>
            <a:off x="548640" y="4114800"/>
            <a:ext cx="2560320" cy="45720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「形」を見る</a:t>
            </a:r>
            <a:endParaRPr lang="en-US" sz="2200" dirty="0"/>
          </a:p>
        </p:txBody>
      </p:sp>
      <p:sp>
        <p:nvSpPr>
          <p:cNvPr id="11" name="Shape 7"/>
          <p:cNvSpPr/>
          <p:nvPr/>
        </p:nvSpPr>
        <p:spPr>
          <a:xfrm>
            <a:off x="3393338" y="2011680"/>
            <a:ext cx="2560320" cy="2834640"/>
          </a:xfrm>
          <a:prstGeom prst="roundRect">
            <a:avLst>
              <a:gd name="adj" fmla="val 4286"/>
            </a:avLst>
          </a:prstGeom>
          <a:solidFill>
            <a:srgbClr val="EEF2F7"/>
          </a:solidFill>
          <a:ln w="12700">
            <a:solidFill>
              <a:srgbClr val="EEF2F7"/>
            </a:solidFill>
            <a:prstDash val="solid"/>
          </a:ln>
        </p:spPr>
      </p:sp>
      <p:sp>
        <p:nvSpPr>
          <p:cNvPr id="12" name="Shape 8"/>
          <p:cNvSpPr/>
          <p:nvPr/>
        </p:nvSpPr>
        <p:spPr>
          <a:xfrm>
            <a:off x="4124858" y="2286000"/>
            <a:ext cx="1097280" cy="1097280"/>
          </a:xfrm>
          <a:prstGeom prst="ellipse">
            <a:avLst/>
          </a:prstGeom>
          <a:solidFill>
            <a:srgbClr val="0B7A70"/>
          </a:solidFill>
          <a:ln w="12700">
            <a:solidFill>
              <a:srgbClr val="0B7A70"/>
            </a:solidFill>
            <a:prstDash val="solid"/>
          </a:ln>
        </p:spPr>
      </p:sp>
      <p:pic>
        <p:nvPicPr>
          <p:cNvPr id="13" name="Image 1" descr="preencoded.png"/>
          <p:cNvPicPr>
            <a:picLocks noChangeAspect="1"/>
          </p:cNvPicPr>
          <p:nvPr/>
        </p:nvPicPr>
        <p:blipFill>
          <a:blip r:embed="rId4"/>
          <a:stretch>
            <a:fillRect/>
          </a:stretch>
        </p:blipFill>
        <p:spPr>
          <a:xfrm>
            <a:off x="4388206" y="2549347"/>
            <a:ext cx="570586" cy="570586"/>
          </a:xfrm>
          <a:prstGeom prst="rect">
            <a:avLst/>
          </a:prstGeom>
        </p:spPr>
      </p:pic>
      <p:sp>
        <p:nvSpPr>
          <p:cNvPr id="14" name="Text 9"/>
          <p:cNvSpPr txBox="1"/>
          <p:nvPr/>
        </p:nvSpPr>
        <p:spPr>
          <a:xfrm>
            <a:off x="3393338" y="3566160"/>
            <a:ext cx="2560320" cy="50292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培養・感受性</a:t>
            </a:r>
            <a:endParaRPr lang="en-US" sz="2400" dirty="0"/>
          </a:p>
        </p:txBody>
      </p:sp>
      <p:sp>
        <p:nvSpPr>
          <p:cNvPr id="15" name="Text 10"/>
          <p:cNvSpPr txBox="1"/>
          <p:nvPr/>
        </p:nvSpPr>
        <p:spPr>
          <a:xfrm>
            <a:off x="3393338" y="4114800"/>
            <a:ext cx="2560320" cy="45720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「効く薬」を見る</a:t>
            </a:r>
            <a:endParaRPr lang="en-US" sz="2200" dirty="0"/>
          </a:p>
        </p:txBody>
      </p:sp>
      <p:sp>
        <p:nvSpPr>
          <p:cNvPr id="16" name="Shape 11"/>
          <p:cNvSpPr/>
          <p:nvPr/>
        </p:nvSpPr>
        <p:spPr>
          <a:xfrm>
            <a:off x="6238037" y="2011680"/>
            <a:ext cx="2560320" cy="2834640"/>
          </a:xfrm>
          <a:prstGeom prst="roundRect">
            <a:avLst>
              <a:gd name="adj" fmla="val 4286"/>
            </a:avLst>
          </a:prstGeom>
          <a:solidFill>
            <a:srgbClr val="EEF2F7"/>
          </a:solidFill>
          <a:ln w="12700">
            <a:solidFill>
              <a:srgbClr val="EEF2F7"/>
            </a:solidFill>
            <a:prstDash val="solid"/>
          </a:ln>
        </p:spPr>
      </p:sp>
      <p:sp>
        <p:nvSpPr>
          <p:cNvPr id="17" name="Shape 12"/>
          <p:cNvSpPr/>
          <p:nvPr/>
        </p:nvSpPr>
        <p:spPr>
          <a:xfrm>
            <a:off x="6969557" y="2286000"/>
            <a:ext cx="1097280" cy="1097280"/>
          </a:xfrm>
          <a:prstGeom prst="ellipse">
            <a:avLst/>
          </a:prstGeom>
          <a:solidFill>
            <a:srgbClr val="0B7A70"/>
          </a:solidFill>
          <a:ln w="12700">
            <a:solidFill>
              <a:srgbClr val="0B7A70"/>
            </a:solidFill>
            <a:prstDash val="solid"/>
          </a:ln>
        </p:spPr>
      </p:sp>
      <p:pic>
        <p:nvPicPr>
          <p:cNvPr id="18" name="Image 2" descr="preencoded.png"/>
          <p:cNvPicPr>
            <a:picLocks noChangeAspect="1"/>
          </p:cNvPicPr>
          <p:nvPr/>
        </p:nvPicPr>
        <p:blipFill>
          <a:blip r:embed="rId5"/>
          <a:stretch>
            <a:fillRect/>
          </a:stretch>
        </p:blipFill>
        <p:spPr>
          <a:xfrm>
            <a:off x="7232904" y="2549347"/>
            <a:ext cx="570586" cy="570586"/>
          </a:xfrm>
          <a:prstGeom prst="rect">
            <a:avLst/>
          </a:prstGeom>
        </p:spPr>
      </p:pic>
      <p:sp>
        <p:nvSpPr>
          <p:cNvPr id="19" name="Text 13"/>
          <p:cNvSpPr txBox="1"/>
          <p:nvPr/>
        </p:nvSpPr>
        <p:spPr>
          <a:xfrm>
            <a:off x="6238037" y="3566160"/>
            <a:ext cx="2560320" cy="50292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遺伝子検査</a:t>
            </a:r>
            <a:endParaRPr lang="en-US" sz="2400" dirty="0"/>
          </a:p>
        </p:txBody>
      </p:sp>
      <p:sp>
        <p:nvSpPr>
          <p:cNvPr id="20" name="Text 14"/>
          <p:cNvSpPr txBox="1"/>
          <p:nvPr/>
        </p:nvSpPr>
        <p:spPr>
          <a:xfrm>
            <a:off x="6238037" y="4114800"/>
            <a:ext cx="2560320" cy="45720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「正体」を見る</a:t>
            </a:r>
            <a:endParaRPr lang="en-US" sz="2200" dirty="0"/>
          </a:p>
        </p:txBody>
      </p:sp>
      <p:sp>
        <p:nvSpPr>
          <p:cNvPr id="21" name="Shape 15"/>
          <p:cNvSpPr/>
          <p:nvPr/>
        </p:nvSpPr>
        <p:spPr>
          <a:xfrm>
            <a:off x="9082735" y="2011680"/>
            <a:ext cx="2560320" cy="2834640"/>
          </a:xfrm>
          <a:prstGeom prst="roundRect">
            <a:avLst>
              <a:gd name="adj" fmla="val 4286"/>
            </a:avLst>
          </a:prstGeom>
          <a:solidFill>
            <a:srgbClr val="EEF2F7"/>
          </a:solidFill>
          <a:ln w="12700">
            <a:solidFill>
              <a:srgbClr val="EEF2F7"/>
            </a:solidFill>
            <a:prstDash val="solid"/>
          </a:ln>
        </p:spPr>
      </p:sp>
      <p:sp>
        <p:nvSpPr>
          <p:cNvPr id="22" name="Shape 16"/>
          <p:cNvSpPr/>
          <p:nvPr/>
        </p:nvSpPr>
        <p:spPr>
          <a:xfrm>
            <a:off x="9814255" y="2286000"/>
            <a:ext cx="1097280" cy="1097280"/>
          </a:xfrm>
          <a:prstGeom prst="ellipse">
            <a:avLst/>
          </a:prstGeom>
          <a:solidFill>
            <a:srgbClr val="0B7A70"/>
          </a:solidFill>
          <a:ln w="12700">
            <a:solidFill>
              <a:srgbClr val="0B7A70"/>
            </a:solidFill>
            <a:prstDash val="solid"/>
          </a:ln>
        </p:spPr>
      </p:sp>
      <p:pic>
        <p:nvPicPr>
          <p:cNvPr id="23" name="Image 3" descr="preencoded.png"/>
          <p:cNvPicPr>
            <a:picLocks noChangeAspect="1"/>
          </p:cNvPicPr>
          <p:nvPr/>
        </p:nvPicPr>
        <p:blipFill>
          <a:blip r:embed="rId6"/>
          <a:stretch>
            <a:fillRect/>
          </a:stretch>
        </p:blipFill>
        <p:spPr>
          <a:xfrm>
            <a:off x="10077602" y="2549347"/>
            <a:ext cx="570586" cy="570586"/>
          </a:xfrm>
          <a:prstGeom prst="rect">
            <a:avLst/>
          </a:prstGeom>
        </p:spPr>
      </p:pic>
      <p:sp>
        <p:nvSpPr>
          <p:cNvPr id="24" name="Text 17"/>
          <p:cNvSpPr txBox="1"/>
          <p:nvPr/>
        </p:nvSpPr>
        <p:spPr>
          <a:xfrm>
            <a:off x="9082735" y="3566160"/>
            <a:ext cx="2560320" cy="50292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蛍光・ATP</a:t>
            </a:r>
            <a:endParaRPr lang="en-US" sz="2400" dirty="0"/>
          </a:p>
        </p:txBody>
      </p:sp>
      <p:sp>
        <p:nvSpPr>
          <p:cNvPr id="25" name="Text 18"/>
          <p:cNvSpPr txBox="1"/>
          <p:nvPr/>
        </p:nvSpPr>
        <p:spPr>
          <a:xfrm>
            <a:off x="9082735" y="4114800"/>
            <a:ext cx="2560320" cy="45720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「汚れ」を見る</a:t>
            </a:r>
            <a:endParaRPr lang="en-US" sz="2200" dirty="0"/>
          </a:p>
        </p:txBody>
      </p:sp>
      <p:sp>
        <p:nvSpPr>
          <p:cNvPr id="26" name="Text 19"/>
          <p:cNvSpPr txBox="1"/>
          <p:nvPr/>
        </p:nvSpPr>
        <p:spPr>
          <a:xfrm>
            <a:off x="548640" y="5212080"/>
            <a:ext cx="11094415" cy="640080"/>
          </a:xfrm>
          <a:prstGeom prst="rect">
            <a:avLst/>
          </a:prstGeom>
          <a:noFill/>
          <a:ln/>
        </p:spPr>
        <p:txBody>
          <a:bodyPr wrap="square" lIns="0" tIns="0" rIns="0" bIns="0" rtlCol="0" anchor="ctr"/>
          <a:lstStyle/>
          <a:p>
            <a:pPr marL="0" indent="0" algn="ctr">
              <a:buNone/>
            </a:pPr>
            <a:r>
              <a:rPr lang="en-US" sz="2800" b="1" dirty="0">
                <a:solidFill>
                  <a:srgbClr val="0B7A70"/>
                </a:solidFill>
                <a:latin typeface="BIZ UDゴシック" pitchFamily="34" charset="0"/>
                <a:ea typeface="BIZ UDゴシック" pitchFamily="49" charset="-128"/>
                <a:cs typeface="BIZ UDゴシック" pitchFamily="34" charset="-120"/>
              </a:rPr>
              <a:t>見えるから、対策を立てられる</a:t>
            </a:r>
            <a:endParaRPr lang="en-US" sz="2800" dirty="0"/>
          </a:p>
        </p:txBody>
      </p:sp>
      <p:sp>
        <p:nvSpPr>
          <p:cNvPr id="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473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473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はじめに</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感染を広げる「行動の原因」は、目に見えない</a:t>
            </a:r>
            <a:endParaRPr lang="en-US" sz="3200" dirty="0"/>
          </a:p>
        </p:txBody>
      </p:sp>
      <p:pic>
        <p:nvPicPr>
          <p:cNvPr id="6" name="Image 0" descr="preencoded.png"/>
          <p:cNvPicPr>
            <a:picLocks noChangeAspect="1"/>
          </p:cNvPicPr>
          <p:nvPr/>
        </p:nvPicPr>
        <p:blipFill>
          <a:blip r:embed="rId3"/>
          <a:stretch>
            <a:fillRect/>
          </a:stretch>
        </p:blipFill>
        <p:spPr>
          <a:xfrm>
            <a:off x="548640" y="1828800"/>
            <a:ext cx="5577840" cy="4142232"/>
          </a:xfrm>
          <a:prstGeom prst="rect">
            <a:avLst/>
          </a:prstGeom>
        </p:spPr>
      </p:pic>
      <p:sp>
        <p:nvSpPr>
          <p:cNvPr id="7" name="Text 3"/>
          <p:cNvSpPr txBox="1"/>
          <p:nvPr/>
        </p:nvSpPr>
        <p:spPr>
          <a:xfrm>
            <a:off x="3017520" y="2697480"/>
            <a:ext cx="822960" cy="41148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行動</a:t>
            </a:r>
            <a:endParaRPr lang="en-US" sz="2400" dirty="0"/>
          </a:p>
        </p:txBody>
      </p:sp>
      <p:sp>
        <p:nvSpPr>
          <p:cNvPr id="8" name="Text 4"/>
          <p:cNvSpPr txBox="1"/>
          <p:nvPr/>
        </p:nvSpPr>
        <p:spPr>
          <a:xfrm>
            <a:off x="2880360" y="4251960"/>
            <a:ext cx="1097280" cy="548640"/>
          </a:xfrm>
          <a:prstGeom prst="rect">
            <a:avLst/>
          </a:prstGeom>
          <a:noFill/>
          <a:ln/>
        </p:spPr>
        <p:txBody>
          <a:bodyPr wrap="square" lIns="0" tIns="0" rIns="0" bIns="0" rtlCol="0" anchor="t"/>
          <a:lstStyle/>
          <a:p>
            <a:pPr marL="0" indent="0" algn="ctr">
              <a:buNone/>
            </a:pPr>
            <a:r>
              <a:rPr lang="en-US" sz="3000" b="1" dirty="0">
                <a:solidFill>
                  <a:srgbClr val="D1480E"/>
                </a:solidFill>
                <a:latin typeface="BIZ UDゴシック" pitchFamily="34" charset="0"/>
                <a:ea typeface="BIZ UDゴシック" pitchFamily="49" charset="-128"/>
                <a:cs typeface="BIZ UDゴシック" pitchFamily="34" charset="-120"/>
              </a:rPr>
              <a:t>原因</a:t>
            </a:r>
            <a:endParaRPr lang="en-US" sz="3000" dirty="0"/>
          </a:p>
        </p:txBody>
      </p:sp>
      <p:sp>
        <p:nvSpPr>
          <p:cNvPr id="9" name="Text 5"/>
          <p:cNvSpPr txBox="1"/>
          <p:nvPr/>
        </p:nvSpPr>
        <p:spPr>
          <a:xfrm>
            <a:off x="6492240" y="1874520"/>
            <a:ext cx="5150815" cy="457200"/>
          </a:xfrm>
          <a:prstGeom prst="rect">
            <a:avLst/>
          </a:prstGeom>
          <a:noFill/>
          <a:ln/>
        </p:spPr>
        <p:txBody>
          <a:bodyPr wrap="square" lIns="0" tIns="0" rIns="0" bIns="0" rtlCol="0" anchor="t"/>
          <a:lstStyle/>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水面の上＝見える「行動」</a:t>
            </a:r>
            <a:endParaRPr lang="en-US" sz="2400" dirty="0"/>
          </a:p>
        </p:txBody>
      </p:sp>
      <p:sp>
        <p:nvSpPr>
          <p:cNvPr id="10" name="Text 6"/>
          <p:cNvSpPr txBox="1"/>
          <p:nvPr/>
        </p:nvSpPr>
        <p:spPr>
          <a:xfrm>
            <a:off x="6492240" y="2377440"/>
            <a:ext cx="5150815" cy="1280160"/>
          </a:xfrm>
          <a:prstGeom prst="rect">
            <a:avLst/>
          </a:prstGeom>
          <a:noFill/>
          <a:ln/>
        </p:spPr>
        <p:txBody>
          <a:bodyPr wrap="square" lIns="0" tIns="0" rIns="0" bIns="0" rtlCol="0" anchor="t"/>
          <a:lstStyle/>
          <a:p>
            <a:pPr marL="342900" indent="-342900">
              <a:spcAft>
                <a:spcPts val="400"/>
              </a:spcAft>
              <a:buSzPct val="100000"/>
              <a:buChar char="•"/>
            </a:pPr>
            <a:r>
              <a:rPr lang="en-US" sz="2200" dirty="0">
                <a:solidFill>
                  <a:srgbClr val="1B2333"/>
                </a:solidFill>
                <a:latin typeface="BIZ UDゴシック" pitchFamily="34" charset="0"/>
                <a:ea typeface="BIZ UDゴシック" pitchFamily="49" charset="-128"/>
                <a:cs typeface="BIZ UDゴシック" pitchFamily="34" charset="-120"/>
              </a:rPr>
              <a:t>手指衛生のスキップ</a:t>
            </a:r>
            <a:endParaRPr lang="en-US" sz="2200" dirty="0"/>
          </a:p>
          <a:p>
            <a:pPr marL="342900" indent="-342900">
              <a:spcAft>
                <a:spcPts val="400"/>
              </a:spcAft>
              <a:buSzPct val="100000"/>
              <a:buChar char="•"/>
            </a:pPr>
            <a:r>
              <a:rPr lang="en-US" sz="2200" dirty="0">
                <a:solidFill>
                  <a:srgbClr val="1B2333"/>
                </a:solidFill>
                <a:latin typeface="BIZ UDゴシック" pitchFamily="34" charset="0"/>
                <a:ea typeface="BIZ UDゴシック" pitchFamily="49" charset="-128"/>
                <a:cs typeface="BIZ UDゴシック" pitchFamily="34" charset="-120"/>
              </a:rPr>
              <a:t>防護具を外すときの汚染</a:t>
            </a:r>
            <a:endParaRPr lang="en-US" sz="2200" dirty="0"/>
          </a:p>
          <a:p>
            <a:pPr marL="342900" indent="-342900">
              <a:spcAft>
                <a:spcPts val="400"/>
              </a:spcAft>
              <a:buSzPct val="100000"/>
              <a:buChar char="•"/>
            </a:pPr>
            <a:r>
              <a:rPr lang="en-US" sz="2200" dirty="0">
                <a:solidFill>
                  <a:srgbClr val="1B2333"/>
                </a:solidFill>
                <a:latin typeface="BIZ UDゴシック" pitchFamily="34" charset="0"/>
                <a:ea typeface="BIZ UDゴシック" pitchFamily="49" charset="-128"/>
                <a:cs typeface="BIZ UDゴシック" pitchFamily="34" charset="-120"/>
              </a:rPr>
              <a:t>不要な抗菌薬の処方</a:t>
            </a:r>
            <a:endParaRPr lang="en-US" sz="2200" dirty="0"/>
          </a:p>
        </p:txBody>
      </p:sp>
      <p:sp>
        <p:nvSpPr>
          <p:cNvPr id="11" name="Text 7"/>
          <p:cNvSpPr txBox="1"/>
          <p:nvPr/>
        </p:nvSpPr>
        <p:spPr>
          <a:xfrm>
            <a:off x="6492240" y="3840480"/>
            <a:ext cx="5150815" cy="457200"/>
          </a:xfrm>
          <a:prstGeom prst="rect">
            <a:avLst/>
          </a:prstGeom>
          <a:noFill/>
          <a:ln/>
        </p:spPr>
        <p:txBody>
          <a:bodyPr wrap="square" lIns="0" tIns="0" rIns="0" bIns="0" rtlCol="0" anchor="t"/>
          <a:lstStyle/>
          <a:p>
            <a:pPr marL="0" indent="0">
              <a:buNone/>
            </a:pPr>
            <a:r>
              <a:rPr lang="en-US" sz="2400" b="1" dirty="0">
                <a:solidFill>
                  <a:srgbClr val="D1480E"/>
                </a:solidFill>
                <a:latin typeface="BIZ UDゴシック" pitchFamily="34" charset="0"/>
                <a:ea typeface="BIZ UDゴシック" pitchFamily="49" charset="-128"/>
                <a:cs typeface="BIZ UDゴシック" pitchFamily="34" charset="-120"/>
              </a:rPr>
              <a:t>水面の下＝見えない「原因」</a:t>
            </a:r>
            <a:endParaRPr lang="en-US" sz="2400" dirty="0"/>
          </a:p>
        </p:txBody>
      </p:sp>
      <p:sp>
        <p:nvSpPr>
          <p:cNvPr id="12" name="Shape 8"/>
          <p:cNvSpPr/>
          <p:nvPr/>
        </p:nvSpPr>
        <p:spPr>
          <a:xfrm>
            <a:off x="6492240" y="4389120"/>
            <a:ext cx="1381760" cy="457200"/>
          </a:xfrm>
          <a:prstGeom prst="roundRect">
            <a:avLst>
              <a:gd name="adj" fmla="val 50000"/>
            </a:avLst>
          </a:prstGeom>
          <a:solidFill>
            <a:srgbClr val="FCEBE3"/>
          </a:solidFill>
          <a:ln w="12700">
            <a:solidFill>
              <a:srgbClr val="FCEBE3"/>
            </a:solidFill>
            <a:prstDash val="solid"/>
          </a:ln>
        </p:spPr>
      </p:sp>
      <p:sp>
        <p:nvSpPr>
          <p:cNvPr id="13" name="Text 9"/>
          <p:cNvSpPr txBox="1"/>
          <p:nvPr/>
        </p:nvSpPr>
        <p:spPr>
          <a:xfrm>
            <a:off x="6492240" y="4389120"/>
            <a:ext cx="1381760" cy="457200"/>
          </a:xfrm>
          <a:prstGeom prst="rect">
            <a:avLst/>
          </a:prstGeom>
          <a:noFill/>
          <a:ln/>
        </p:spPr>
        <p:txBody>
          <a:bodyPr wrap="square" lIns="0" tIns="0" rIns="0" bIns="0" rtlCol="0" anchor="ctr"/>
          <a:lstStyle/>
          <a:p>
            <a:pPr marL="0" indent="0" algn="ctr">
              <a:buNone/>
            </a:pPr>
            <a:r>
              <a:rPr lang="en-US" sz="2000" b="1" dirty="0">
                <a:solidFill>
                  <a:srgbClr val="D1480E"/>
                </a:solidFill>
                <a:latin typeface="BIZ UDゴシック" pitchFamily="34" charset="0"/>
                <a:ea typeface="BIZ UDゴシック" pitchFamily="49" charset="-128"/>
                <a:cs typeface="BIZ UDゴシック" pitchFamily="34" charset="-120"/>
              </a:rPr>
              <a:t>思い込み</a:t>
            </a:r>
            <a:endParaRPr lang="en-US" sz="2000" dirty="0"/>
          </a:p>
        </p:txBody>
      </p:sp>
      <p:sp>
        <p:nvSpPr>
          <p:cNvPr id="14" name="Shape 10"/>
          <p:cNvSpPr/>
          <p:nvPr/>
        </p:nvSpPr>
        <p:spPr>
          <a:xfrm>
            <a:off x="8011160" y="4389120"/>
            <a:ext cx="2397760" cy="457200"/>
          </a:xfrm>
          <a:prstGeom prst="roundRect">
            <a:avLst>
              <a:gd name="adj" fmla="val 50000"/>
            </a:avLst>
          </a:prstGeom>
          <a:solidFill>
            <a:srgbClr val="FCEBE3"/>
          </a:solidFill>
          <a:ln w="12700">
            <a:solidFill>
              <a:srgbClr val="FCEBE3"/>
            </a:solidFill>
            <a:prstDash val="solid"/>
          </a:ln>
        </p:spPr>
      </p:sp>
      <p:sp>
        <p:nvSpPr>
          <p:cNvPr id="15" name="Text 11"/>
          <p:cNvSpPr txBox="1"/>
          <p:nvPr/>
        </p:nvSpPr>
        <p:spPr>
          <a:xfrm>
            <a:off x="8011160" y="4389120"/>
            <a:ext cx="2397760" cy="457200"/>
          </a:xfrm>
          <a:prstGeom prst="rect">
            <a:avLst/>
          </a:prstGeom>
          <a:noFill/>
          <a:ln/>
        </p:spPr>
        <p:txBody>
          <a:bodyPr wrap="square" lIns="0" tIns="0" rIns="0" bIns="0" rtlCol="0" anchor="ctr"/>
          <a:lstStyle/>
          <a:p>
            <a:pPr marL="0" indent="0" algn="ctr">
              <a:buNone/>
            </a:pPr>
            <a:r>
              <a:rPr lang="en-US" sz="2000" b="1" dirty="0">
                <a:solidFill>
                  <a:srgbClr val="D1480E"/>
                </a:solidFill>
                <a:latin typeface="BIZ UDゴシック" pitchFamily="34" charset="0"/>
                <a:ea typeface="BIZ UDゴシック" pitchFamily="49" charset="-128"/>
                <a:cs typeface="BIZ UDゴシック" pitchFamily="34" charset="-120"/>
              </a:rPr>
              <a:t>見られている効果</a:t>
            </a:r>
            <a:endParaRPr lang="en-US" sz="2000" dirty="0"/>
          </a:p>
        </p:txBody>
      </p:sp>
      <p:sp>
        <p:nvSpPr>
          <p:cNvPr id="16" name="Shape 12"/>
          <p:cNvSpPr/>
          <p:nvPr/>
        </p:nvSpPr>
        <p:spPr>
          <a:xfrm>
            <a:off x="10546080" y="4389120"/>
            <a:ext cx="873760" cy="457200"/>
          </a:xfrm>
          <a:prstGeom prst="roundRect">
            <a:avLst>
              <a:gd name="adj" fmla="val 50000"/>
            </a:avLst>
          </a:prstGeom>
          <a:solidFill>
            <a:srgbClr val="FCEBE3"/>
          </a:solidFill>
          <a:ln w="12700">
            <a:solidFill>
              <a:srgbClr val="FCEBE3"/>
            </a:solidFill>
            <a:prstDash val="solid"/>
          </a:ln>
        </p:spPr>
      </p:sp>
      <p:sp>
        <p:nvSpPr>
          <p:cNvPr id="17" name="Text 13"/>
          <p:cNvSpPr txBox="1"/>
          <p:nvPr/>
        </p:nvSpPr>
        <p:spPr>
          <a:xfrm>
            <a:off x="10546080" y="4389120"/>
            <a:ext cx="873760" cy="457200"/>
          </a:xfrm>
          <a:prstGeom prst="rect">
            <a:avLst/>
          </a:prstGeom>
          <a:noFill/>
          <a:ln/>
        </p:spPr>
        <p:txBody>
          <a:bodyPr wrap="square" lIns="0" tIns="0" rIns="0" bIns="0" rtlCol="0" anchor="ctr"/>
          <a:lstStyle/>
          <a:p>
            <a:pPr marL="0" indent="0" algn="ctr">
              <a:buNone/>
            </a:pPr>
            <a:r>
              <a:rPr lang="en-US" sz="2000" b="1" dirty="0">
                <a:solidFill>
                  <a:srgbClr val="D1480E"/>
                </a:solidFill>
                <a:latin typeface="BIZ UDゴシック" pitchFamily="34" charset="0"/>
                <a:ea typeface="BIZ UDゴシック" pitchFamily="49" charset="-128"/>
                <a:cs typeface="BIZ UDゴシック" pitchFamily="34" charset="-120"/>
              </a:rPr>
              <a:t>疲れ</a:t>
            </a:r>
            <a:endParaRPr lang="en-US" sz="2000" dirty="0"/>
          </a:p>
        </p:txBody>
      </p:sp>
      <p:sp>
        <p:nvSpPr>
          <p:cNvPr id="18" name="Shape 14"/>
          <p:cNvSpPr/>
          <p:nvPr/>
        </p:nvSpPr>
        <p:spPr>
          <a:xfrm>
            <a:off x="6492240" y="4956048"/>
            <a:ext cx="1635760" cy="457200"/>
          </a:xfrm>
          <a:prstGeom prst="roundRect">
            <a:avLst>
              <a:gd name="adj" fmla="val 50000"/>
            </a:avLst>
          </a:prstGeom>
          <a:solidFill>
            <a:srgbClr val="FCEBE3"/>
          </a:solidFill>
          <a:ln w="12700">
            <a:solidFill>
              <a:srgbClr val="FCEBE3"/>
            </a:solidFill>
            <a:prstDash val="solid"/>
          </a:ln>
        </p:spPr>
      </p:sp>
      <p:sp>
        <p:nvSpPr>
          <p:cNvPr id="19" name="Text 15"/>
          <p:cNvSpPr txBox="1"/>
          <p:nvPr/>
        </p:nvSpPr>
        <p:spPr>
          <a:xfrm>
            <a:off x="6492240" y="4956048"/>
            <a:ext cx="1635760" cy="457200"/>
          </a:xfrm>
          <a:prstGeom prst="rect">
            <a:avLst/>
          </a:prstGeom>
          <a:noFill/>
          <a:ln/>
        </p:spPr>
        <p:txBody>
          <a:bodyPr wrap="square" lIns="0" tIns="0" rIns="0" bIns="0" rtlCol="0" anchor="ctr"/>
          <a:lstStyle/>
          <a:p>
            <a:pPr marL="0" indent="0" algn="ctr">
              <a:buNone/>
            </a:pPr>
            <a:r>
              <a:rPr lang="en-US" sz="2000" b="1" dirty="0">
                <a:solidFill>
                  <a:srgbClr val="D1480E"/>
                </a:solidFill>
                <a:latin typeface="BIZ UDゴシック" pitchFamily="34" charset="0"/>
                <a:ea typeface="BIZ UDゴシック" pitchFamily="49" charset="-128"/>
                <a:cs typeface="BIZ UDゴシック" pitchFamily="34" charset="-120"/>
              </a:rPr>
              <a:t>周囲の空気</a:t>
            </a:r>
            <a:endParaRPr lang="en-US" sz="2000" dirty="0"/>
          </a:p>
        </p:txBody>
      </p:sp>
      <p:sp>
        <p:nvSpPr>
          <p:cNvPr id="20" name="Shape 16"/>
          <p:cNvSpPr/>
          <p:nvPr/>
        </p:nvSpPr>
        <p:spPr>
          <a:xfrm>
            <a:off x="8265160" y="4956048"/>
            <a:ext cx="1635760" cy="457200"/>
          </a:xfrm>
          <a:prstGeom prst="roundRect">
            <a:avLst>
              <a:gd name="adj" fmla="val 50000"/>
            </a:avLst>
          </a:prstGeom>
          <a:solidFill>
            <a:srgbClr val="FCEBE3"/>
          </a:solidFill>
          <a:ln w="12700">
            <a:solidFill>
              <a:srgbClr val="FCEBE3"/>
            </a:solidFill>
            <a:prstDash val="solid"/>
          </a:ln>
        </p:spPr>
      </p:sp>
      <p:sp>
        <p:nvSpPr>
          <p:cNvPr id="21" name="Text 17"/>
          <p:cNvSpPr txBox="1"/>
          <p:nvPr/>
        </p:nvSpPr>
        <p:spPr>
          <a:xfrm>
            <a:off x="8265160" y="4956048"/>
            <a:ext cx="1635760" cy="457200"/>
          </a:xfrm>
          <a:prstGeom prst="rect">
            <a:avLst/>
          </a:prstGeom>
          <a:noFill/>
          <a:ln/>
        </p:spPr>
        <p:txBody>
          <a:bodyPr wrap="square" lIns="0" tIns="0" rIns="0" bIns="0" rtlCol="0" anchor="ctr"/>
          <a:lstStyle/>
          <a:p>
            <a:pPr marL="0" indent="0" algn="ctr">
              <a:buNone/>
            </a:pPr>
            <a:r>
              <a:rPr lang="en-US" sz="2000" b="1" dirty="0">
                <a:solidFill>
                  <a:srgbClr val="D1480E"/>
                </a:solidFill>
                <a:latin typeface="BIZ UDゴシック" pitchFamily="34" charset="0"/>
                <a:ea typeface="BIZ UDゴシック" pitchFamily="49" charset="-128"/>
                <a:cs typeface="BIZ UDゴシック" pitchFamily="34" charset="-120"/>
              </a:rPr>
              <a:t>環境と動線</a:t>
            </a:r>
            <a:endParaRPr lang="en-US" sz="2000" dirty="0"/>
          </a:p>
        </p:txBody>
      </p:sp>
      <p:sp>
        <p:nvSpPr>
          <p:cNvPr id="22" name="Text 18"/>
          <p:cNvSpPr txBox="1"/>
          <p:nvPr/>
        </p:nvSpPr>
        <p:spPr>
          <a:xfrm>
            <a:off x="6492240" y="5669280"/>
            <a:ext cx="5150815" cy="457200"/>
          </a:xfrm>
          <a:prstGeom prst="rect">
            <a:avLst/>
          </a:prstGeom>
          <a:noFill/>
          <a:ln/>
        </p:spPr>
        <p:txBody>
          <a:bodyPr wrap="square" lIns="0" tIns="0" rIns="0" bIns="0" rtlCol="0" anchor="t"/>
          <a:lstStyle/>
          <a:p>
            <a:pPr marL="0" indent="0">
              <a:buNone/>
            </a:pPr>
            <a:r>
              <a:rPr lang="en-US" sz="2200" b="1" dirty="0">
                <a:solidFill>
                  <a:srgbClr val="0B7A70"/>
                </a:solidFill>
                <a:latin typeface="BIZ UDゴシック" pitchFamily="34" charset="0"/>
                <a:ea typeface="BIZ UDゴシック" pitchFamily="49" charset="-128"/>
                <a:cs typeface="BIZ UDゴシック" pitchFamily="34" charset="-120"/>
              </a:rPr>
              <a:t>→ 今日は、この水面下を可視化します</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473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473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はじめに</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行動科学は、行動を見るための「顕微鏡」</a:t>
            </a:r>
            <a:endParaRPr lang="en-US" sz="3200" dirty="0"/>
          </a:p>
        </p:txBody>
      </p:sp>
      <p:sp>
        <p:nvSpPr>
          <p:cNvPr id="6" name="Shape 3"/>
          <p:cNvSpPr/>
          <p:nvPr/>
        </p:nvSpPr>
        <p:spPr>
          <a:xfrm>
            <a:off x="548640" y="2148840"/>
            <a:ext cx="1371600" cy="1371600"/>
          </a:xfrm>
          <a:prstGeom prst="ellipse">
            <a:avLst/>
          </a:prstGeom>
          <a:solidFill>
            <a:srgbClr val="0B7A70"/>
          </a:solidFill>
          <a:ln w="12700">
            <a:solidFill>
              <a:srgbClr val="0B7A70"/>
            </a:solidFill>
            <a:prstDash val="solid"/>
          </a:ln>
        </p:spPr>
      </p:sp>
      <p:sp>
        <p:nvSpPr>
          <p:cNvPr id="7" name="Text 4"/>
          <p:cNvSpPr txBox="1"/>
          <p:nvPr/>
        </p:nvSpPr>
        <p:spPr>
          <a:xfrm>
            <a:off x="548640" y="2148840"/>
            <a:ext cx="1371600" cy="1371600"/>
          </a:xfrm>
          <a:prstGeom prst="rect">
            <a:avLst/>
          </a:prstGeom>
          <a:noFill/>
          <a:ln/>
        </p:spPr>
        <p:txBody>
          <a:bodyPr wrap="square" lIns="0" tIns="0" rIns="0" bIns="0" rtlCol="0" anchor="ctr"/>
          <a:lstStyle/>
          <a:p>
            <a:pPr marL="0" indent="0" algn="ctr">
              <a:buNone/>
            </a:pPr>
            <a:r>
              <a:rPr lang="en-US" sz="2400" b="1" dirty="0">
                <a:solidFill>
                  <a:srgbClr val="FFFFFF"/>
                </a:solidFill>
                <a:latin typeface="BIZ UDゴシック" pitchFamily="34" charset="0"/>
                <a:ea typeface="BIZ UDゴシック" pitchFamily="49" charset="-128"/>
                <a:cs typeface="BIZ UDゴシック" pitchFamily="34" charset="-120"/>
              </a:rPr>
              <a:t>微生物</a:t>
            </a:r>
            <a:endParaRPr lang="en-US" sz="2400" dirty="0"/>
          </a:p>
        </p:txBody>
      </p:sp>
      <p:sp>
        <p:nvSpPr>
          <p:cNvPr id="8" name="Shape 5"/>
          <p:cNvSpPr/>
          <p:nvPr/>
        </p:nvSpPr>
        <p:spPr>
          <a:xfrm>
            <a:off x="2194560" y="2240280"/>
            <a:ext cx="4114800" cy="1188720"/>
          </a:xfrm>
          <a:prstGeom prst="roundRect">
            <a:avLst>
              <a:gd name="adj" fmla="val 9231"/>
            </a:avLst>
          </a:prstGeom>
          <a:solidFill>
            <a:srgbClr val="EEF2F7"/>
          </a:solidFill>
          <a:ln w="12700">
            <a:solidFill>
              <a:srgbClr val="EEF2F7"/>
            </a:solidFill>
            <a:prstDash val="solid"/>
          </a:ln>
        </p:spPr>
      </p:sp>
      <p:sp>
        <p:nvSpPr>
          <p:cNvPr id="9" name="Text 6"/>
          <p:cNvSpPr txBox="1"/>
          <p:nvPr/>
        </p:nvSpPr>
        <p:spPr>
          <a:xfrm>
            <a:off x="2331720" y="2240280"/>
            <a:ext cx="3840480" cy="1188720"/>
          </a:xfrm>
          <a:prstGeom prst="rect">
            <a:avLst/>
          </a:prstGeom>
          <a:noFill/>
          <a:ln/>
        </p:spPr>
        <p:txBody>
          <a:bodyPr wrap="square" lIns="0" tIns="0" rIns="0" bIns="0" rtlCol="0" anchor="ctr"/>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顕微鏡・培養で見る</a:t>
            </a:r>
            <a:endParaRPr lang="en-US" sz="2400" dirty="0"/>
          </a:p>
        </p:txBody>
      </p:sp>
      <p:sp>
        <p:nvSpPr>
          <p:cNvPr id="10" name="Shape 7"/>
          <p:cNvSpPr/>
          <p:nvPr/>
        </p:nvSpPr>
        <p:spPr>
          <a:xfrm>
            <a:off x="6400800" y="2834640"/>
            <a:ext cx="548640" cy="914"/>
          </a:xfrm>
          <a:prstGeom prst="line">
            <a:avLst/>
          </a:prstGeom>
          <a:noFill/>
          <a:ln w="50800">
            <a:solidFill>
              <a:srgbClr val="8A96A8"/>
            </a:solidFill>
            <a:prstDash val="solid"/>
            <a:tailEnd type="triangle"/>
          </a:ln>
        </p:spPr>
      </p:sp>
      <p:sp>
        <p:nvSpPr>
          <p:cNvPr id="11" name="Shape 8"/>
          <p:cNvSpPr/>
          <p:nvPr/>
        </p:nvSpPr>
        <p:spPr>
          <a:xfrm>
            <a:off x="7086600" y="2240280"/>
            <a:ext cx="4553712" cy="1188720"/>
          </a:xfrm>
          <a:prstGeom prst="roundRect">
            <a:avLst>
              <a:gd name="adj" fmla="val 9231"/>
            </a:avLst>
          </a:prstGeom>
          <a:solidFill>
            <a:srgbClr val="EEF2F7"/>
          </a:solidFill>
          <a:ln w="12700">
            <a:solidFill>
              <a:srgbClr val="EEF2F7"/>
            </a:solidFill>
            <a:prstDash val="solid"/>
          </a:ln>
        </p:spPr>
      </p:sp>
      <p:sp>
        <p:nvSpPr>
          <p:cNvPr id="12" name="Text 9"/>
          <p:cNvSpPr txBox="1"/>
          <p:nvPr/>
        </p:nvSpPr>
        <p:spPr>
          <a:xfrm>
            <a:off x="7223760" y="2240280"/>
            <a:ext cx="4279392" cy="1188720"/>
          </a:xfrm>
          <a:prstGeom prst="rect">
            <a:avLst/>
          </a:prstGeom>
          <a:noFill/>
          <a:ln/>
        </p:spPr>
        <p:txBody>
          <a:bodyPr wrap="square" lIns="0" tIns="0" rIns="0" bIns="0" rtlCol="0" anchor="ctr"/>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消毒・抗菌薬で対処する</a:t>
            </a:r>
            <a:endParaRPr lang="en-US" sz="2400" dirty="0"/>
          </a:p>
        </p:txBody>
      </p:sp>
      <p:sp>
        <p:nvSpPr>
          <p:cNvPr id="13" name="Shape 10"/>
          <p:cNvSpPr/>
          <p:nvPr/>
        </p:nvSpPr>
        <p:spPr>
          <a:xfrm>
            <a:off x="548640" y="4023360"/>
            <a:ext cx="1371600" cy="1371600"/>
          </a:xfrm>
          <a:prstGeom prst="ellipse">
            <a:avLst/>
          </a:prstGeom>
          <a:solidFill>
            <a:srgbClr val="D1480E"/>
          </a:solidFill>
          <a:ln w="12700">
            <a:solidFill>
              <a:srgbClr val="D1480E"/>
            </a:solidFill>
            <a:prstDash val="solid"/>
          </a:ln>
        </p:spPr>
      </p:sp>
      <p:sp>
        <p:nvSpPr>
          <p:cNvPr id="14" name="Text 11"/>
          <p:cNvSpPr txBox="1"/>
          <p:nvPr/>
        </p:nvSpPr>
        <p:spPr>
          <a:xfrm>
            <a:off x="548640" y="4023360"/>
            <a:ext cx="1371600" cy="1371600"/>
          </a:xfrm>
          <a:prstGeom prst="rect">
            <a:avLst/>
          </a:prstGeom>
          <a:noFill/>
          <a:ln/>
        </p:spPr>
        <p:txBody>
          <a:bodyPr wrap="square" lIns="0" tIns="0" rIns="0" bIns="0" rtlCol="0" anchor="ctr"/>
          <a:lstStyle/>
          <a:p>
            <a:pPr marL="0" indent="0" algn="ctr">
              <a:buNone/>
            </a:pPr>
            <a:r>
              <a:rPr lang="en-US" sz="2400" b="1" dirty="0">
                <a:solidFill>
                  <a:srgbClr val="FFFFFF"/>
                </a:solidFill>
                <a:latin typeface="BIZ UDゴシック" pitchFamily="34" charset="0"/>
                <a:ea typeface="BIZ UDゴシック" pitchFamily="49" charset="-128"/>
                <a:cs typeface="BIZ UDゴシック" pitchFamily="34" charset="-120"/>
              </a:rPr>
              <a:t>行動</a:t>
            </a:r>
            <a:endParaRPr lang="en-US" sz="2400" dirty="0"/>
          </a:p>
        </p:txBody>
      </p:sp>
      <p:sp>
        <p:nvSpPr>
          <p:cNvPr id="15" name="Shape 12"/>
          <p:cNvSpPr/>
          <p:nvPr/>
        </p:nvSpPr>
        <p:spPr>
          <a:xfrm>
            <a:off x="2194560" y="4114800"/>
            <a:ext cx="4114800" cy="1188720"/>
          </a:xfrm>
          <a:prstGeom prst="roundRect">
            <a:avLst>
              <a:gd name="adj" fmla="val 9231"/>
            </a:avLst>
          </a:prstGeom>
          <a:solidFill>
            <a:srgbClr val="E3F7F2"/>
          </a:solidFill>
          <a:ln w="12700">
            <a:solidFill>
              <a:srgbClr val="E3F7F2"/>
            </a:solidFill>
            <a:prstDash val="solid"/>
          </a:ln>
        </p:spPr>
      </p:sp>
      <p:sp>
        <p:nvSpPr>
          <p:cNvPr id="16" name="Text 13"/>
          <p:cNvSpPr txBox="1"/>
          <p:nvPr/>
        </p:nvSpPr>
        <p:spPr>
          <a:xfrm>
            <a:off x="2331720" y="4114800"/>
            <a:ext cx="3840480" cy="1188720"/>
          </a:xfrm>
          <a:prstGeom prst="rect">
            <a:avLst/>
          </a:prstGeom>
          <a:noFill/>
          <a:ln/>
        </p:spPr>
        <p:txBody>
          <a:bodyPr wrap="square" lIns="0" tIns="0" rIns="0" bIns="0" rtlCol="0" anchor="ctr"/>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理論とデータで原因を見る</a:t>
            </a:r>
            <a:endParaRPr lang="en-US" sz="2400" dirty="0"/>
          </a:p>
        </p:txBody>
      </p:sp>
      <p:sp>
        <p:nvSpPr>
          <p:cNvPr id="17" name="Shape 14"/>
          <p:cNvSpPr/>
          <p:nvPr/>
        </p:nvSpPr>
        <p:spPr>
          <a:xfrm>
            <a:off x="6400800" y="4709160"/>
            <a:ext cx="548640" cy="914"/>
          </a:xfrm>
          <a:prstGeom prst="line">
            <a:avLst/>
          </a:prstGeom>
          <a:noFill/>
          <a:ln w="50800">
            <a:solidFill>
              <a:srgbClr val="8A96A8"/>
            </a:solidFill>
            <a:prstDash val="solid"/>
            <a:tailEnd type="triangle"/>
          </a:ln>
        </p:spPr>
      </p:sp>
      <p:sp>
        <p:nvSpPr>
          <p:cNvPr id="18" name="Shape 15"/>
          <p:cNvSpPr/>
          <p:nvPr/>
        </p:nvSpPr>
        <p:spPr>
          <a:xfrm>
            <a:off x="7086600" y="4114800"/>
            <a:ext cx="4553712" cy="1188720"/>
          </a:xfrm>
          <a:prstGeom prst="roundRect">
            <a:avLst>
              <a:gd name="adj" fmla="val 9231"/>
            </a:avLst>
          </a:prstGeom>
          <a:solidFill>
            <a:srgbClr val="E3F7F2"/>
          </a:solidFill>
          <a:ln w="12700">
            <a:solidFill>
              <a:srgbClr val="E3F7F2"/>
            </a:solidFill>
            <a:prstDash val="solid"/>
          </a:ln>
        </p:spPr>
      </p:sp>
      <p:sp>
        <p:nvSpPr>
          <p:cNvPr id="19" name="Text 16"/>
          <p:cNvSpPr txBox="1"/>
          <p:nvPr/>
        </p:nvSpPr>
        <p:spPr>
          <a:xfrm>
            <a:off x="7223760" y="4114800"/>
            <a:ext cx="4279392" cy="1188720"/>
          </a:xfrm>
          <a:prstGeom prst="rect">
            <a:avLst/>
          </a:prstGeom>
          <a:noFill/>
          <a:ln/>
        </p:spPr>
        <p:txBody>
          <a:bodyPr wrap="square" lIns="0" tIns="0" rIns="0" bIns="0" rtlCol="0" anchor="ctr"/>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仕組みと環境を設計して対処</a:t>
            </a:r>
            <a:endParaRPr lang="en-US" sz="2400" dirty="0"/>
          </a:p>
        </p:txBody>
      </p:sp>
      <p:sp>
        <p:nvSpPr>
          <p:cNvPr id="20" name="Text 17"/>
          <p:cNvSpPr txBox="1"/>
          <p:nvPr/>
        </p:nvSpPr>
        <p:spPr>
          <a:xfrm>
            <a:off x="548640" y="5532120"/>
            <a:ext cx="11094415" cy="502920"/>
          </a:xfrm>
          <a:prstGeom prst="rect">
            <a:avLst/>
          </a:prstGeom>
          <a:noFill/>
          <a:ln/>
        </p:spPr>
        <p:txBody>
          <a:bodyPr wrap="square" lIns="0" tIns="0" rIns="0" bIns="0" rtlCol="0" anchor="t"/>
          <a:lstStyle/>
          <a:p>
            <a:pPr marL="0" indent="0" algn="ctr">
              <a:buNone/>
            </a:pPr>
            <a:r>
              <a:rPr lang="en-US" sz="2200" dirty="0">
                <a:solidFill>
                  <a:srgbClr val="4F5B6B"/>
                </a:solidFill>
                <a:latin typeface="BIZ UDゴシック" pitchFamily="34" charset="0"/>
                <a:ea typeface="BIZ UDゴシック" pitchFamily="49" charset="-128"/>
                <a:cs typeface="BIZ UDゴシック" pitchFamily="34" charset="-120"/>
              </a:rPr>
              <a:t>見えないものを「見る」→ だから「対処」できる</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473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473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はじめに</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今日のゴール：明日、ひとつ「仕掛ける」</a:t>
            </a:r>
            <a:endParaRPr lang="en-US" sz="3200" dirty="0"/>
          </a:p>
        </p:txBody>
      </p:sp>
      <p:sp>
        <p:nvSpPr>
          <p:cNvPr id="6" name="Shape 3"/>
          <p:cNvSpPr/>
          <p:nvPr/>
        </p:nvSpPr>
        <p:spPr>
          <a:xfrm>
            <a:off x="548640" y="2057400"/>
            <a:ext cx="3291840" cy="3383280"/>
          </a:xfrm>
          <a:prstGeom prst="roundRect">
            <a:avLst>
              <a:gd name="adj" fmla="val 3333"/>
            </a:avLst>
          </a:prstGeom>
          <a:solidFill>
            <a:srgbClr val="EEF2F7"/>
          </a:solidFill>
          <a:ln w="12700">
            <a:solidFill>
              <a:srgbClr val="EEF2F7"/>
            </a:solidFill>
            <a:prstDash val="solid"/>
          </a:ln>
        </p:spPr>
      </p:sp>
      <p:sp>
        <p:nvSpPr>
          <p:cNvPr id="7" name="Shape 4"/>
          <p:cNvSpPr/>
          <p:nvPr/>
        </p:nvSpPr>
        <p:spPr>
          <a:xfrm>
            <a:off x="1691640" y="2331720"/>
            <a:ext cx="1005840" cy="1005840"/>
          </a:xfrm>
          <a:prstGeom prst="ellipse">
            <a:avLst/>
          </a:prstGeom>
          <a:solidFill>
            <a:srgbClr val="131B35"/>
          </a:solidFill>
          <a:ln w="12700">
            <a:solidFill>
              <a:srgbClr val="131B35"/>
            </a:solidFill>
            <a:prstDash val="solid"/>
          </a:ln>
        </p:spPr>
      </p:sp>
      <p:sp>
        <p:nvSpPr>
          <p:cNvPr id="8" name="Text 5"/>
          <p:cNvSpPr txBox="1"/>
          <p:nvPr/>
        </p:nvSpPr>
        <p:spPr>
          <a:xfrm>
            <a:off x="1691640" y="2331720"/>
            <a:ext cx="1005840" cy="1005840"/>
          </a:xfrm>
          <a:prstGeom prst="rect">
            <a:avLst/>
          </a:prstGeom>
          <a:noFill/>
          <a:ln/>
        </p:spPr>
        <p:txBody>
          <a:bodyPr wrap="square" lIns="0" tIns="0" rIns="0" bIns="0" rtlCol="0" anchor="ctr"/>
          <a:lstStyle/>
          <a:p>
            <a:pPr marL="0" indent="0" algn="ctr">
              <a:buNone/>
            </a:pPr>
            <a:r>
              <a:rPr lang="en-US" sz="3600" b="1" dirty="0">
                <a:solidFill>
                  <a:srgbClr val="3FE8C2"/>
                </a:solidFill>
                <a:latin typeface="BIZ UDゴシック" pitchFamily="34" charset="0"/>
                <a:ea typeface="BIZ UDゴシック" pitchFamily="49" charset="-128"/>
                <a:cs typeface="BIZ UDゴシック" pitchFamily="34" charset="-120"/>
              </a:rPr>
              <a:t>1</a:t>
            </a:r>
            <a:endParaRPr lang="en-US" sz="3600" dirty="0"/>
          </a:p>
        </p:txBody>
      </p:sp>
      <p:sp>
        <p:nvSpPr>
          <p:cNvPr id="9" name="Text 6"/>
          <p:cNvSpPr txBox="1"/>
          <p:nvPr/>
        </p:nvSpPr>
        <p:spPr>
          <a:xfrm>
            <a:off x="548640" y="3520440"/>
            <a:ext cx="3291840" cy="594360"/>
          </a:xfrm>
          <a:prstGeom prst="rect">
            <a:avLst/>
          </a:prstGeom>
          <a:noFill/>
          <a:ln/>
        </p:spPr>
        <p:txBody>
          <a:bodyPr wrap="square" lIns="0" tIns="0" rIns="0" bIns="0" rtlCol="0" anchor="t"/>
          <a:lstStyle/>
          <a:p>
            <a:pPr marL="0" indent="0" algn="ctr">
              <a:buNone/>
            </a:pPr>
            <a:r>
              <a:rPr lang="en-US" sz="3000" b="1" dirty="0">
                <a:solidFill>
                  <a:srgbClr val="131B35"/>
                </a:solidFill>
                <a:latin typeface="BIZ UDゴシック" pitchFamily="34" charset="0"/>
                <a:ea typeface="BIZ UDゴシック" pitchFamily="49" charset="-128"/>
                <a:cs typeface="BIZ UDゴシック" pitchFamily="34" charset="-120"/>
              </a:rPr>
              <a:t>知る</a:t>
            </a:r>
            <a:endParaRPr lang="en-US" sz="3000" dirty="0"/>
          </a:p>
        </p:txBody>
      </p:sp>
      <p:sp>
        <p:nvSpPr>
          <p:cNvPr id="10" name="Text 7"/>
          <p:cNvSpPr txBox="1"/>
          <p:nvPr/>
        </p:nvSpPr>
        <p:spPr>
          <a:xfrm>
            <a:off x="777240" y="4206240"/>
            <a:ext cx="2834640" cy="109728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5つの</a:t>
            </a:r>
            <a:endParaRPr lang="en-US" sz="2200" dirty="0"/>
          </a:p>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「見えない敵」を知る</a:t>
            </a:r>
            <a:endParaRPr lang="en-US" sz="2200" dirty="0"/>
          </a:p>
        </p:txBody>
      </p:sp>
      <p:sp>
        <p:nvSpPr>
          <p:cNvPr id="11" name="Shape 8"/>
          <p:cNvSpPr/>
          <p:nvPr/>
        </p:nvSpPr>
        <p:spPr>
          <a:xfrm>
            <a:off x="3980612" y="3566160"/>
            <a:ext cx="329184" cy="548640"/>
          </a:xfrm>
          <a:prstGeom prst="chevron">
            <a:avLst/>
          </a:prstGeom>
          <a:solidFill>
            <a:srgbClr val="8A96A8"/>
          </a:solidFill>
          <a:ln w="12700">
            <a:solidFill>
              <a:srgbClr val="8A96A8"/>
            </a:solidFill>
            <a:prstDash val="solid"/>
          </a:ln>
        </p:spPr>
      </p:sp>
      <p:sp>
        <p:nvSpPr>
          <p:cNvPr id="12" name="Shape 9"/>
          <p:cNvSpPr/>
          <p:nvPr/>
        </p:nvSpPr>
        <p:spPr>
          <a:xfrm>
            <a:off x="4449928" y="2057400"/>
            <a:ext cx="3291840" cy="3383280"/>
          </a:xfrm>
          <a:prstGeom prst="roundRect">
            <a:avLst>
              <a:gd name="adj" fmla="val 3333"/>
            </a:avLst>
          </a:prstGeom>
          <a:solidFill>
            <a:srgbClr val="EEF2F7"/>
          </a:solidFill>
          <a:ln w="12700">
            <a:solidFill>
              <a:srgbClr val="EEF2F7"/>
            </a:solidFill>
            <a:prstDash val="solid"/>
          </a:ln>
        </p:spPr>
      </p:sp>
      <p:sp>
        <p:nvSpPr>
          <p:cNvPr id="13" name="Shape 10"/>
          <p:cNvSpPr/>
          <p:nvPr/>
        </p:nvSpPr>
        <p:spPr>
          <a:xfrm>
            <a:off x="5592928" y="2331720"/>
            <a:ext cx="1005840" cy="1005840"/>
          </a:xfrm>
          <a:prstGeom prst="ellipse">
            <a:avLst/>
          </a:prstGeom>
          <a:solidFill>
            <a:srgbClr val="131B35"/>
          </a:solidFill>
          <a:ln w="12700">
            <a:solidFill>
              <a:srgbClr val="131B35"/>
            </a:solidFill>
            <a:prstDash val="solid"/>
          </a:ln>
        </p:spPr>
      </p:sp>
      <p:sp>
        <p:nvSpPr>
          <p:cNvPr id="14" name="Text 11"/>
          <p:cNvSpPr txBox="1"/>
          <p:nvPr/>
        </p:nvSpPr>
        <p:spPr>
          <a:xfrm>
            <a:off x="5592928" y="2331720"/>
            <a:ext cx="1005840" cy="1005840"/>
          </a:xfrm>
          <a:prstGeom prst="rect">
            <a:avLst/>
          </a:prstGeom>
          <a:noFill/>
          <a:ln/>
        </p:spPr>
        <p:txBody>
          <a:bodyPr wrap="square" lIns="0" tIns="0" rIns="0" bIns="0" rtlCol="0" anchor="ctr"/>
          <a:lstStyle/>
          <a:p>
            <a:pPr marL="0" indent="0" algn="ctr">
              <a:buNone/>
            </a:pPr>
            <a:r>
              <a:rPr lang="en-US" sz="3600" b="1" dirty="0">
                <a:solidFill>
                  <a:srgbClr val="3FE8C2"/>
                </a:solidFill>
                <a:latin typeface="BIZ UDゴシック" pitchFamily="34" charset="0"/>
                <a:ea typeface="BIZ UDゴシック" pitchFamily="49" charset="-128"/>
                <a:cs typeface="BIZ UDゴシック" pitchFamily="34" charset="-120"/>
              </a:rPr>
              <a:t>2</a:t>
            </a:r>
            <a:endParaRPr lang="en-US" sz="3600" dirty="0"/>
          </a:p>
        </p:txBody>
      </p:sp>
      <p:sp>
        <p:nvSpPr>
          <p:cNvPr id="15" name="Text 12"/>
          <p:cNvSpPr txBox="1"/>
          <p:nvPr/>
        </p:nvSpPr>
        <p:spPr>
          <a:xfrm>
            <a:off x="4449928" y="3520440"/>
            <a:ext cx="3291840" cy="594360"/>
          </a:xfrm>
          <a:prstGeom prst="rect">
            <a:avLst/>
          </a:prstGeom>
          <a:noFill/>
          <a:ln/>
        </p:spPr>
        <p:txBody>
          <a:bodyPr wrap="square" lIns="0" tIns="0" rIns="0" bIns="0" rtlCol="0" anchor="t"/>
          <a:lstStyle/>
          <a:p>
            <a:pPr marL="0" indent="0" algn="ctr">
              <a:buNone/>
            </a:pPr>
            <a:r>
              <a:rPr lang="en-US" sz="3000" b="1" dirty="0">
                <a:solidFill>
                  <a:srgbClr val="131B35"/>
                </a:solidFill>
                <a:latin typeface="BIZ UDゴシック" pitchFamily="34" charset="0"/>
                <a:ea typeface="BIZ UDゴシック" pitchFamily="49" charset="-128"/>
                <a:cs typeface="BIZ UDゴシック" pitchFamily="34" charset="-120"/>
              </a:rPr>
              <a:t>見る</a:t>
            </a:r>
            <a:endParaRPr lang="en-US" sz="3000" dirty="0"/>
          </a:p>
        </p:txBody>
      </p:sp>
      <p:sp>
        <p:nvSpPr>
          <p:cNvPr id="16" name="Text 13"/>
          <p:cNvSpPr txBox="1"/>
          <p:nvPr/>
        </p:nvSpPr>
        <p:spPr>
          <a:xfrm>
            <a:off x="4678528" y="4206240"/>
            <a:ext cx="2834640" cy="109728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COM-Bで</a:t>
            </a:r>
            <a:endParaRPr lang="en-US" sz="2200" dirty="0"/>
          </a:p>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原因を診断する</a:t>
            </a:r>
            <a:endParaRPr lang="en-US" sz="2200" dirty="0"/>
          </a:p>
        </p:txBody>
      </p:sp>
      <p:sp>
        <p:nvSpPr>
          <p:cNvPr id="17" name="Shape 14"/>
          <p:cNvSpPr/>
          <p:nvPr/>
        </p:nvSpPr>
        <p:spPr>
          <a:xfrm>
            <a:off x="7881899" y="3566160"/>
            <a:ext cx="329184" cy="548640"/>
          </a:xfrm>
          <a:prstGeom prst="chevron">
            <a:avLst/>
          </a:prstGeom>
          <a:solidFill>
            <a:srgbClr val="8A96A8"/>
          </a:solidFill>
          <a:ln w="12700">
            <a:solidFill>
              <a:srgbClr val="8A96A8"/>
            </a:solidFill>
            <a:prstDash val="solid"/>
          </a:ln>
        </p:spPr>
      </p:sp>
      <p:sp>
        <p:nvSpPr>
          <p:cNvPr id="18" name="Shape 15"/>
          <p:cNvSpPr/>
          <p:nvPr/>
        </p:nvSpPr>
        <p:spPr>
          <a:xfrm>
            <a:off x="8351215" y="2057400"/>
            <a:ext cx="3291840" cy="3383280"/>
          </a:xfrm>
          <a:prstGeom prst="roundRect">
            <a:avLst>
              <a:gd name="adj" fmla="val 3333"/>
            </a:avLst>
          </a:prstGeom>
          <a:solidFill>
            <a:srgbClr val="EEF2F7"/>
          </a:solidFill>
          <a:ln w="12700">
            <a:solidFill>
              <a:srgbClr val="EEF2F7"/>
            </a:solidFill>
            <a:prstDash val="solid"/>
          </a:ln>
        </p:spPr>
      </p:sp>
      <p:sp>
        <p:nvSpPr>
          <p:cNvPr id="19" name="Shape 16"/>
          <p:cNvSpPr/>
          <p:nvPr/>
        </p:nvSpPr>
        <p:spPr>
          <a:xfrm>
            <a:off x="9494215" y="2331720"/>
            <a:ext cx="1005840" cy="1005840"/>
          </a:xfrm>
          <a:prstGeom prst="ellipse">
            <a:avLst/>
          </a:prstGeom>
          <a:solidFill>
            <a:srgbClr val="131B35"/>
          </a:solidFill>
          <a:ln w="12700">
            <a:solidFill>
              <a:srgbClr val="131B35"/>
            </a:solidFill>
            <a:prstDash val="solid"/>
          </a:ln>
        </p:spPr>
      </p:sp>
      <p:sp>
        <p:nvSpPr>
          <p:cNvPr id="20" name="Text 17"/>
          <p:cNvSpPr txBox="1"/>
          <p:nvPr/>
        </p:nvSpPr>
        <p:spPr>
          <a:xfrm>
            <a:off x="9494215" y="2331720"/>
            <a:ext cx="1005840" cy="1005840"/>
          </a:xfrm>
          <a:prstGeom prst="rect">
            <a:avLst/>
          </a:prstGeom>
          <a:noFill/>
          <a:ln/>
        </p:spPr>
        <p:txBody>
          <a:bodyPr wrap="square" lIns="0" tIns="0" rIns="0" bIns="0" rtlCol="0" anchor="ctr"/>
          <a:lstStyle/>
          <a:p>
            <a:pPr marL="0" indent="0" algn="ctr">
              <a:buNone/>
            </a:pPr>
            <a:r>
              <a:rPr lang="en-US" sz="3600" b="1" dirty="0">
                <a:solidFill>
                  <a:srgbClr val="3FE8C2"/>
                </a:solidFill>
                <a:latin typeface="BIZ UDゴシック" pitchFamily="34" charset="0"/>
                <a:ea typeface="BIZ UDゴシック" pitchFamily="49" charset="-128"/>
                <a:cs typeface="BIZ UDゴシック" pitchFamily="34" charset="-120"/>
              </a:rPr>
              <a:t>3</a:t>
            </a:r>
            <a:endParaRPr lang="en-US" sz="3600" dirty="0"/>
          </a:p>
        </p:txBody>
      </p:sp>
      <p:sp>
        <p:nvSpPr>
          <p:cNvPr id="21" name="Text 18"/>
          <p:cNvSpPr txBox="1"/>
          <p:nvPr/>
        </p:nvSpPr>
        <p:spPr>
          <a:xfrm>
            <a:off x="8351215" y="3520440"/>
            <a:ext cx="3291840" cy="594360"/>
          </a:xfrm>
          <a:prstGeom prst="rect">
            <a:avLst/>
          </a:prstGeom>
          <a:noFill/>
          <a:ln/>
        </p:spPr>
        <p:txBody>
          <a:bodyPr wrap="square" lIns="0" tIns="0" rIns="0" bIns="0" rtlCol="0" anchor="t"/>
          <a:lstStyle/>
          <a:p>
            <a:pPr marL="0" indent="0" algn="ctr">
              <a:buNone/>
            </a:pPr>
            <a:r>
              <a:rPr lang="en-US" sz="3000" b="1" dirty="0">
                <a:solidFill>
                  <a:srgbClr val="131B35"/>
                </a:solidFill>
                <a:latin typeface="BIZ UDゴシック" pitchFamily="34" charset="0"/>
                <a:ea typeface="BIZ UDゴシック" pitchFamily="49" charset="-128"/>
                <a:cs typeface="BIZ UDゴシック" pitchFamily="34" charset="-120"/>
              </a:rPr>
              <a:t>動く</a:t>
            </a:r>
            <a:endParaRPr lang="en-US" sz="3000" dirty="0"/>
          </a:p>
        </p:txBody>
      </p:sp>
      <p:sp>
        <p:nvSpPr>
          <p:cNvPr id="22" name="Text 19"/>
          <p:cNvSpPr txBox="1"/>
          <p:nvPr/>
        </p:nvSpPr>
        <p:spPr>
          <a:xfrm>
            <a:off x="8579815" y="4206240"/>
            <a:ext cx="2834640" cy="109728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明日から</a:t>
            </a:r>
            <a:endParaRPr lang="en-US" sz="2200" dirty="0"/>
          </a:p>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小さく仕掛ける</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18120" y="1143000"/>
            <a:ext cx="3840480" cy="3840480"/>
          </a:xfrm>
          <a:prstGeom prst="rect">
            <a:avLst/>
          </a:prstGeom>
        </p:spPr>
      </p:pic>
      <p:pic>
        <p:nvPicPr>
          <p:cNvPr id="4" name="Image 1" descr="preencoded.png"/>
          <p:cNvPicPr>
            <a:picLocks noChangeAspect="1"/>
          </p:cNvPicPr>
          <p:nvPr/>
        </p:nvPicPr>
        <p:blipFill>
          <a:blip r:embed="rId4"/>
          <a:stretch>
            <a:fillRect/>
          </a:stretch>
        </p:blipFill>
        <p:spPr>
          <a:xfrm>
            <a:off x="9006840" y="2331720"/>
            <a:ext cx="1463040" cy="1463040"/>
          </a:xfrm>
          <a:prstGeom prst="rect">
            <a:avLst/>
          </a:prstGeom>
        </p:spPr>
      </p:pic>
      <p:sp>
        <p:nvSpPr>
          <p:cNvPr id="5" name="Text 0"/>
          <p:cNvSpPr txBox="1"/>
          <p:nvPr/>
        </p:nvSpPr>
        <p:spPr>
          <a:xfrm>
            <a:off x="822960" y="1920240"/>
            <a:ext cx="6766560" cy="457200"/>
          </a:xfrm>
          <a:prstGeom prst="rect">
            <a:avLst/>
          </a:prstGeom>
          <a:noFill/>
          <a:ln/>
        </p:spPr>
        <p:txBody>
          <a:bodyPr wrap="square" lIns="0" tIns="0" rIns="0" bIns="0" rtlCol="0" anchor="t"/>
          <a:lstStyle/>
          <a:p>
            <a:pPr marL="0" indent="0">
              <a:buNone/>
            </a:pPr>
            <a:r>
              <a:rPr lang="en-US" sz="2400" b="1" dirty="0">
                <a:latin typeface="BIZ UDゴシック" pitchFamily="34" charset="0"/>
                <a:ea typeface="BIZ UDゴシック" pitchFamily="49" charset="-128"/>
                <a:cs typeface="BIZ UDゴシック" pitchFamily="34" charset="-120"/>
              </a:rPr>
              <a:t>第1部</a:t>
            </a:r>
            <a:endParaRPr lang="en-US" sz="2400" dirty="0"/>
          </a:p>
        </p:txBody>
      </p:sp>
      <p:sp>
        <p:nvSpPr>
          <p:cNvPr id="6" name="Text 1"/>
          <p:cNvSpPr txBox="1"/>
          <p:nvPr/>
        </p:nvSpPr>
        <p:spPr>
          <a:xfrm>
            <a:off x="822960" y="2468880"/>
            <a:ext cx="6766560" cy="1408176"/>
          </a:xfrm>
          <a:prstGeom prst="rect">
            <a:avLst/>
          </a:prstGeom>
          <a:noFill/>
          <a:ln/>
        </p:spPr>
        <p:txBody>
          <a:bodyPr wrap="square" lIns="0" tIns="0" rIns="0" bIns="0" rtlCol="0" anchor="t"/>
          <a:lstStyle/>
          <a:p>
            <a:pPr marL="0" indent="0">
              <a:buNone/>
            </a:pPr>
            <a:r>
              <a:rPr lang="en-US" sz="4000" b="1" dirty="0">
                <a:latin typeface="BIZ UDゴシック" pitchFamily="34" charset="0"/>
                <a:ea typeface="BIZ UDゴシック" pitchFamily="49" charset="-128"/>
                <a:cs typeface="BIZ UDゴシック" pitchFamily="34" charset="-120"/>
              </a:rPr>
              <a:t>感染対策の成否は</a:t>
            </a:r>
            <a:endParaRPr lang="en-US" sz="4000" dirty="0"/>
          </a:p>
          <a:p>
            <a:pPr marL="0" indent="0">
              <a:buNone/>
            </a:pPr>
            <a:r>
              <a:rPr lang="en-US" sz="4000" b="1" dirty="0">
                <a:latin typeface="BIZ UDゴシック" pitchFamily="34" charset="0"/>
                <a:ea typeface="BIZ UDゴシック" pitchFamily="49" charset="-128"/>
                <a:cs typeface="BIZ UDゴシック" pitchFamily="34" charset="-120"/>
              </a:rPr>
              <a:t>「行動」で決まる</a:t>
            </a:r>
            <a:endParaRPr lang="en-US" sz="4000" dirty="0"/>
          </a:p>
        </p:txBody>
      </p:sp>
      <p:sp>
        <p:nvSpPr>
          <p:cNvPr id="7" name="Text 2"/>
          <p:cNvSpPr txBox="1"/>
          <p:nvPr/>
        </p:nvSpPr>
        <p:spPr>
          <a:xfrm>
            <a:off x="822960" y="4059936"/>
            <a:ext cx="6766560" cy="548640"/>
          </a:xfrm>
          <a:prstGeom prst="rect">
            <a:avLst/>
          </a:prstGeom>
          <a:noFill/>
          <a:ln/>
        </p:spPr>
        <p:txBody>
          <a:bodyPr wrap="square" lIns="0" tIns="0" rIns="0" bIns="0" rtlCol="0" anchor="t"/>
          <a:lstStyle/>
          <a:p>
            <a:pPr marL="0" indent="0">
              <a:buNone/>
            </a:pPr>
            <a:r>
              <a:rPr lang="en-US" sz="2400" dirty="0">
                <a:latin typeface="BIZ UDゴシック" pitchFamily="34" charset="0"/>
                <a:ea typeface="BIZ UDゴシック" pitchFamily="49" charset="-128"/>
                <a:cs typeface="BIZ UDゴシック" pitchFamily="34" charset="-120"/>
              </a:rPr>
              <a:t>なぜ「行動」の問題なのか</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FA0C0"/>
                </a:solidFill>
                <a:latin typeface="BIZ UDゴシック"/>
                <a:ea typeface="BIZ UDゴシック"/>
                <a:cs typeface="BIZ UDゴシック"/>
              </a:defRPr>
            </a:lvl1pPr>
          </a:lstStyle>
          <a:p>
            <a:pPr algn="r"/>
            <a:fld id="{F7021451-1387-4CA6-816F-3879F97B5CBC}" type="slidenum">
              <a:rPr lang="en-US" b="0">
                <a:solidFill>
                  <a:schemeClr val="tx1"/>
                </a:solidFill>
              </a:rPr>
              <a:t>7</a:t>
            </a:fld>
            <a:endParaRPr 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092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092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第1部</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手指衛生の遵守率は、世界でおよそ40%</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出典：Erasmus V, et al. Infect Control Hosp Epidemiol 2010</a:t>
            </a:r>
            <a:endParaRPr lang="en-US" sz="2000" dirty="0"/>
          </a:p>
        </p:txBody>
      </p:sp>
      <p:sp>
        <p:nvSpPr>
          <p:cNvPr id="7" name="Shape 4"/>
          <p:cNvSpPr/>
          <p:nvPr/>
        </p:nvSpPr>
        <p:spPr>
          <a:xfrm>
            <a:off x="868680" y="1965960"/>
            <a:ext cx="3383280" cy="3383280"/>
          </a:xfrm>
          <a:prstGeom prst="ellipse">
            <a:avLst/>
          </a:prstGeom>
          <a:solidFill>
            <a:srgbClr val="E3F7F2"/>
          </a:solidFill>
          <a:ln w="76200">
            <a:solidFill>
              <a:srgbClr val="0B7A70"/>
            </a:solidFill>
            <a:prstDash val="solid"/>
          </a:ln>
        </p:spPr>
      </p:sp>
      <p:sp>
        <p:nvSpPr>
          <p:cNvPr id="8" name="Text 5"/>
          <p:cNvSpPr txBox="1"/>
          <p:nvPr/>
        </p:nvSpPr>
        <p:spPr>
          <a:xfrm>
            <a:off x="868680" y="2788920"/>
            <a:ext cx="3383280" cy="1097280"/>
          </a:xfrm>
          <a:prstGeom prst="rect">
            <a:avLst/>
          </a:prstGeom>
          <a:noFill/>
          <a:ln/>
        </p:spPr>
        <p:txBody>
          <a:bodyPr wrap="square" lIns="0" tIns="0" rIns="0" bIns="0" rtlCol="0" anchor="ctr"/>
          <a:lstStyle/>
          <a:p>
            <a:pPr marL="0" indent="0" algn="ctr">
              <a:buNone/>
            </a:pPr>
            <a:r>
              <a:rPr lang="en-US" sz="8000" b="1" dirty="0">
                <a:solidFill>
                  <a:srgbClr val="D1480E"/>
                </a:solidFill>
                <a:latin typeface="BIZ UDゴシック" pitchFamily="34" charset="0"/>
                <a:ea typeface="BIZ UDゴシック" pitchFamily="49" charset="-128"/>
                <a:cs typeface="BIZ UDゴシック" pitchFamily="34" charset="-120"/>
              </a:rPr>
              <a:t>40%</a:t>
            </a:r>
            <a:endParaRPr lang="en-US" sz="8000" dirty="0"/>
          </a:p>
        </p:txBody>
      </p:sp>
      <p:sp>
        <p:nvSpPr>
          <p:cNvPr id="9" name="Text 6"/>
          <p:cNvSpPr txBox="1"/>
          <p:nvPr/>
        </p:nvSpPr>
        <p:spPr>
          <a:xfrm>
            <a:off x="868680" y="3931920"/>
            <a:ext cx="3383280" cy="457200"/>
          </a:xfrm>
          <a:prstGeom prst="rect">
            <a:avLst/>
          </a:prstGeom>
          <a:noFill/>
          <a:ln/>
        </p:spPr>
        <p:txBody>
          <a:bodyPr wrap="square" lIns="0" tIns="0" rIns="0" bIns="0" rtlCol="0" anchor="t"/>
          <a:lstStyle/>
          <a:p>
            <a:pPr marL="0" indent="0" algn="ctr">
              <a:buNone/>
            </a:pPr>
            <a:r>
              <a:rPr lang="en-US" sz="2200" b="1" dirty="0">
                <a:solidFill>
                  <a:srgbClr val="131B35"/>
                </a:solidFill>
                <a:latin typeface="BIZ UDゴシック" pitchFamily="34" charset="0"/>
                <a:ea typeface="BIZ UDゴシック" pitchFamily="49" charset="-128"/>
                <a:cs typeface="BIZ UDゴシック" pitchFamily="34" charset="-120"/>
              </a:rPr>
              <a:t>遵守率の中央値</a:t>
            </a:r>
            <a:endParaRPr lang="en-US" sz="2200" dirty="0"/>
          </a:p>
        </p:txBody>
      </p:sp>
      <p:sp>
        <p:nvSpPr>
          <p:cNvPr id="10" name="Text 7"/>
          <p:cNvSpPr txBox="1"/>
          <p:nvPr/>
        </p:nvSpPr>
        <p:spPr>
          <a:xfrm>
            <a:off x="548640" y="5486400"/>
            <a:ext cx="4023360" cy="411480"/>
          </a:xfrm>
          <a:prstGeom prst="rect">
            <a:avLst/>
          </a:prstGeom>
          <a:noFill/>
          <a:ln/>
        </p:spPr>
        <p:txBody>
          <a:bodyPr wrap="square" lIns="0" tIns="0" rIns="0" bIns="0" rtlCol="0" anchor="t"/>
          <a:lstStyle/>
          <a:p>
            <a:pPr marL="0" indent="0" algn="ctr">
              <a:buNone/>
            </a:pPr>
            <a:r>
              <a:rPr lang="en-US" sz="2000" dirty="0">
                <a:solidFill>
                  <a:srgbClr val="4F5B6B"/>
                </a:solidFill>
                <a:latin typeface="BIZ UDゴシック" pitchFamily="34" charset="0"/>
                <a:ea typeface="BIZ UDゴシック" pitchFamily="49" charset="-128"/>
                <a:cs typeface="BIZ UDゴシック" pitchFamily="34" charset="-120"/>
              </a:rPr>
              <a:t>96研究の系統的レビュー</a:t>
            </a:r>
            <a:endParaRPr lang="en-US" sz="2000" dirty="0"/>
          </a:p>
        </p:txBody>
      </p:sp>
      <p:sp>
        <p:nvSpPr>
          <p:cNvPr id="11" name="Shape 8"/>
          <p:cNvSpPr/>
          <p:nvPr/>
        </p:nvSpPr>
        <p:spPr>
          <a:xfrm>
            <a:off x="4937760" y="1965960"/>
            <a:ext cx="6705295" cy="1143000"/>
          </a:xfrm>
          <a:prstGeom prst="roundRect">
            <a:avLst>
              <a:gd name="adj" fmla="val 9600"/>
            </a:avLst>
          </a:prstGeom>
          <a:solidFill>
            <a:srgbClr val="EEF2F7"/>
          </a:solidFill>
          <a:ln w="12700">
            <a:solidFill>
              <a:srgbClr val="EEF2F7"/>
            </a:solidFill>
            <a:prstDash val="solid"/>
          </a:ln>
        </p:spPr>
      </p:sp>
      <p:sp>
        <p:nvSpPr>
          <p:cNvPr id="12" name="Text 9"/>
          <p:cNvSpPr txBox="1"/>
          <p:nvPr/>
        </p:nvSpPr>
        <p:spPr>
          <a:xfrm>
            <a:off x="5166360" y="1965960"/>
            <a:ext cx="1737360" cy="1143000"/>
          </a:xfrm>
          <a:prstGeom prst="rect">
            <a:avLst/>
          </a:prstGeom>
          <a:noFill/>
          <a:ln/>
        </p:spPr>
        <p:txBody>
          <a:bodyPr wrap="square" lIns="0" tIns="0" rIns="0" bIns="0" rtlCol="0" anchor="ctr"/>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職種</a:t>
            </a:r>
            <a:endParaRPr lang="en-US" sz="2200" dirty="0"/>
          </a:p>
        </p:txBody>
      </p:sp>
      <p:sp>
        <p:nvSpPr>
          <p:cNvPr id="13" name="Text 10"/>
          <p:cNvSpPr txBox="1"/>
          <p:nvPr/>
        </p:nvSpPr>
        <p:spPr>
          <a:xfrm>
            <a:off x="6995160" y="2075688"/>
            <a:ext cx="22860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医師</a:t>
            </a:r>
            <a:endParaRPr lang="en-US" sz="2000" dirty="0"/>
          </a:p>
        </p:txBody>
      </p:sp>
      <p:sp>
        <p:nvSpPr>
          <p:cNvPr id="14" name="Text 11"/>
          <p:cNvSpPr txBox="1"/>
          <p:nvPr/>
        </p:nvSpPr>
        <p:spPr>
          <a:xfrm>
            <a:off x="6995160" y="2441448"/>
            <a:ext cx="2286000" cy="566928"/>
          </a:xfrm>
          <a:prstGeom prst="rect">
            <a:avLst/>
          </a:prstGeom>
          <a:noFill/>
          <a:ln/>
        </p:spPr>
        <p:txBody>
          <a:bodyPr wrap="square" lIns="0" tIns="0" rIns="0" bIns="0" rtlCol="0" anchor="t"/>
          <a:lstStyle/>
          <a:p>
            <a:pPr marL="0" indent="0">
              <a:buNone/>
            </a:pPr>
            <a:r>
              <a:rPr lang="en-US" sz="3200" b="1" dirty="0">
                <a:solidFill>
                  <a:srgbClr val="1B2333"/>
                </a:solidFill>
                <a:latin typeface="BIZ UDゴシック" pitchFamily="34" charset="0"/>
                <a:ea typeface="BIZ UDゴシック" pitchFamily="49" charset="-128"/>
                <a:cs typeface="BIZ UDゴシック" pitchFamily="34" charset="-120"/>
              </a:rPr>
              <a:t>32%</a:t>
            </a:r>
            <a:endParaRPr lang="en-US" sz="3200" dirty="0"/>
          </a:p>
        </p:txBody>
      </p:sp>
      <p:sp>
        <p:nvSpPr>
          <p:cNvPr id="15" name="Text 12"/>
          <p:cNvSpPr txBox="1"/>
          <p:nvPr/>
        </p:nvSpPr>
        <p:spPr>
          <a:xfrm>
            <a:off x="9326880" y="2075688"/>
            <a:ext cx="22860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看護師</a:t>
            </a:r>
            <a:endParaRPr lang="en-US" sz="2000" dirty="0"/>
          </a:p>
        </p:txBody>
      </p:sp>
      <p:sp>
        <p:nvSpPr>
          <p:cNvPr id="16" name="Text 13"/>
          <p:cNvSpPr txBox="1"/>
          <p:nvPr/>
        </p:nvSpPr>
        <p:spPr>
          <a:xfrm>
            <a:off x="9326880" y="2441448"/>
            <a:ext cx="2286000" cy="566928"/>
          </a:xfrm>
          <a:prstGeom prst="rect">
            <a:avLst/>
          </a:prstGeom>
          <a:noFill/>
          <a:ln/>
        </p:spPr>
        <p:txBody>
          <a:bodyPr wrap="square" lIns="0" tIns="0" rIns="0" bIns="0" rtlCol="0" anchor="t"/>
          <a:lstStyle/>
          <a:p>
            <a:pPr marL="0" indent="0">
              <a:buNone/>
            </a:pPr>
            <a:r>
              <a:rPr lang="en-US" sz="3200" b="1" dirty="0">
                <a:solidFill>
                  <a:srgbClr val="1B2333"/>
                </a:solidFill>
                <a:latin typeface="BIZ UDゴシック" pitchFamily="34" charset="0"/>
                <a:ea typeface="BIZ UDゴシック" pitchFamily="49" charset="-128"/>
                <a:cs typeface="BIZ UDゴシック" pitchFamily="34" charset="-120"/>
              </a:rPr>
              <a:t>48%</a:t>
            </a:r>
            <a:endParaRPr lang="en-US" sz="3200" dirty="0"/>
          </a:p>
        </p:txBody>
      </p:sp>
      <p:sp>
        <p:nvSpPr>
          <p:cNvPr id="17" name="Shape 14"/>
          <p:cNvSpPr/>
          <p:nvPr/>
        </p:nvSpPr>
        <p:spPr>
          <a:xfrm>
            <a:off x="4937760" y="3291840"/>
            <a:ext cx="6705295" cy="1143000"/>
          </a:xfrm>
          <a:prstGeom prst="roundRect">
            <a:avLst>
              <a:gd name="adj" fmla="val 9600"/>
            </a:avLst>
          </a:prstGeom>
          <a:solidFill>
            <a:srgbClr val="EEF2F7"/>
          </a:solidFill>
          <a:ln w="12700">
            <a:solidFill>
              <a:srgbClr val="EEF2F7"/>
            </a:solidFill>
            <a:prstDash val="solid"/>
          </a:ln>
        </p:spPr>
      </p:sp>
      <p:sp>
        <p:nvSpPr>
          <p:cNvPr id="18" name="Text 15"/>
          <p:cNvSpPr txBox="1"/>
          <p:nvPr/>
        </p:nvSpPr>
        <p:spPr>
          <a:xfrm>
            <a:off x="5166360" y="3291840"/>
            <a:ext cx="1737360" cy="1143000"/>
          </a:xfrm>
          <a:prstGeom prst="rect">
            <a:avLst/>
          </a:prstGeom>
          <a:noFill/>
          <a:ln/>
        </p:spPr>
        <p:txBody>
          <a:bodyPr wrap="square" lIns="0" tIns="0" rIns="0" bIns="0" rtlCol="0" anchor="ctr"/>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タイミング</a:t>
            </a:r>
            <a:endParaRPr lang="en-US" sz="2200" dirty="0"/>
          </a:p>
        </p:txBody>
      </p:sp>
      <p:sp>
        <p:nvSpPr>
          <p:cNvPr id="19" name="Text 16"/>
          <p:cNvSpPr txBox="1"/>
          <p:nvPr/>
        </p:nvSpPr>
        <p:spPr>
          <a:xfrm>
            <a:off x="6995160" y="3401568"/>
            <a:ext cx="22860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患者に触れる前</a:t>
            </a:r>
            <a:endParaRPr lang="en-US" sz="2000" dirty="0"/>
          </a:p>
        </p:txBody>
      </p:sp>
      <p:sp>
        <p:nvSpPr>
          <p:cNvPr id="20" name="Text 17"/>
          <p:cNvSpPr txBox="1"/>
          <p:nvPr/>
        </p:nvSpPr>
        <p:spPr>
          <a:xfrm>
            <a:off x="6995160" y="3767328"/>
            <a:ext cx="2286000" cy="566928"/>
          </a:xfrm>
          <a:prstGeom prst="rect">
            <a:avLst/>
          </a:prstGeom>
          <a:noFill/>
          <a:ln/>
        </p:spPr>
        <p:txBody>
          <a:bodyPr wrap="square" lIns="0" tIns="0" rIns="0" bIns="0" rtlCol="0" anchor="t"/>
          <a:lstStyle/>
          <a:p>
            <a:pPr marL="0" indent="0">
              <a:buNone/>
            </a:pPr>
            <a:r>
              <a:rPr lang="en-US" sz="3200" b="1" dirty="0">
                <a:solidFill>
                  <a:srgbClr val="D1480E"/>
                </a:solidFill>
                <a:latin typeface="BIZ UDゴシック" pitchFamily="34" charset="0"/>
                <a:ea typeface="BIZ UDゴシック" pitchFamily="49" charset="-128"/>
                <a:cs typeface="BIZ UDゴシック" pitchFamily="34" charset="-120"/>
              </a:rPr>
              <a:t>21%</a:t>
            </a:r>
            <a:endParaRPr lang="en-US" sz="3200" dirty="0"/>
          </a:p>
        </p:txBody>
      </p:sp>
      <p:sp>
        <p:nvSpPr>
          <p:cNvPr id="21" name="Text 18"/>
          <p:cNvSpPr txBox="1"/>
          <p:nvPr/>
        </p:nvSpPr>
        <p:spPr>
          <a:xfrm>
            <a:off x="9326880" y="3401568"/>
            <a:ext cx="22860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触れた後</a:t>
            </a:r>
            <a:endParaRPr lang="en-US" sz="2000" dirty="0"/>
          </a:p>
        </p:txBody>
      </p:sp>
      <p:sp>
        <p:nvSpPr>
          <p:cNvPr id="22" name="Text 19"/>
          <p:cNvSpPr txBox="1"/>
          <p:nvPr/>
        </p:nvSpPr>
        <p:spPr>
          <a:xfrm>
            <a:off x="9326880" y="3767328"/>
            <a:ext cx="2286000" cy="566928"/>
          </a:xfrm>
          <a:prstGeom prst="rect">
            <a:avLst/>
          </a:prstGeom>
          <a:noFill/>
          <a:ln/>
        </p:spPr>
        <p:txBody>
          <a:bodyPr wrap="square" lIns="0" tIns="0" rIns="0" bIns="0" rtlCol="0" anchor="t"/>
          <a:lstStyle/>
          <a:p>
            <a:pPr marL="0" indent="0">
              <a:buNone/>
            </a:pPr>
            <a:r>
              <a:rPr lang="en-US" sz="3200" b="1" dirty="0">
                <a:solidFill>
                  <a:srgbClr val="1B2333"/>
                </a:solidFill>
                <a:latin typeface="BIZ UDゴシック" pitchFamily="34" charset="0"/>
                <a:ea typeface="BIZ UDゴシック" pitchFamily="49" charset="-128"/>
                <a:cs typeface="BIZ UDゴシック" pitchFamily="34" charset="-120"/>
              </a:rPr>
              <a:t>47%</a:t>
            </a:r>
            <a:endParaRPr lang="en-US" sz="3200" dirty="0"/>
          </a:p>
        </p:txBody>
      </p:sp>
      <p:sp>
        <p:nvSpPr>
          <p:cNvPr id="23" name="Shape 20"/>
          <p:cNvSpPr/>
          <p:nvPr/>
        </p:nvSpPr>
        <p:spPr>
          <a:xfrm>
            <a:off x="4937760" y="4617720"/>
            <a:ext cx="6705295" cy="1143000"/>
          </a:xfrm>
          <a:prstGeom prst="roundRect">
            <a:avLst>
              <a:gd name="adj" fmla="val 9600"/>
            </a:avLst>
          </a:prstGeom>
          <a:solidFill>
            <a:srgbClr val="EEF2F7"/>
          </a:solidFill>
          <a:ln w="12700">
            <a:solidFill>
              <a:srgbClr val="EEF2F7"/>
            </a:solidFill>
            <a:prstDash val="solid"/>
          </a:ln>
        </p:spPr>
      </p:sp>
      <p:sp>
        <p:nvSpPr>
          <p:cNvPr id="24" name="Text 21"/>
          <p:cNvSpPr txBox="1"/>
          <p:nvPr/>
        </p:nvSpPr>
        <p:spPr>
          <a:xfrm>
            <a:off x="5166360" y="4617720"/>
            <a:ext cx="1737360" cy="1143000"/>
          </a:xfrm>
          <a:prstGeom prst="rect">
            <a:avLst/>
          </a:prstGeom>
          <a:noFill/>
          <a:ln/>
        </p:spPr>
        <p:txBody>
          <a:bodyPr wrap="square" lIns="0" tIns="0" rIns="0" bIns="0" rtlCol="0" anchor="ctr"/>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場所</a:t>
            </a:r>
            <a:endParaRPr lang="en-US" sz="2200" dirty="0"/>
          </a:p>
        </p:txBody>
      </p:sp>
      <p:sp>
        <p:nvSpPr>
          <p:cNvPr id="25" name="Text 22"/>
          <p:cNvSpPr txBox="1"/>
          <p:nvPr/>
        </p:nvSpPr>
        <p:spPr>
          <a:xfrm>
            <a:off x="6995160" y="4727448"/>
            <a:ext cx="22860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ICU</a:t>
            </a:r>
            <a:endParaRPr lang="en-US" sz="2000" dirty="0"/>
          </a:p>
        </p:txBody>
      </p:sp>
      <p:sp>
        <p:nvSpPr>
          <p:cNvPr id="26" name="Text 23"/>
          <p:cNvSpPr txBox="1"/>
          <p:nvPr/>
        </p:nvSpPr>
        <p:spPr>
          <a:xfrm>
            <a:off x="6995160" y="5093208"/>
            <a:ext cx="2286000" cy="566928"/>
          </a:xfrm>
          <a:prstGeom prst="rect">
            <a:avLst/>
          </a:prstGeom>
          <a:noFill/>
          <a:ln/>
        </p:spPr>
        <p:txBody>
          <a:bodyPr wrap="square" lIns="0" tIns="0" rIns="0" bIns="0" rtlCol="0" anchor="t"/>
          <a:lstStyle/>
          <a:p>
            <a:pPr marL="0" indent="0">
              <a:buNone/>
            </a:pPr>
            <a:r>
              <a:rPr lang="en-US" sz="3200" b="1" dirty="0">
                <a:solidFill>
                  <a:srgbClr val="1B2333"/>
                </a:solidFill>
                <a:latin typeface="BIZ UDゴシック" pitchFamily="34" charset="0"/>
                <a:ea typeface="BIZ UDゴシック" pitchFamily="49" charset="-128"/>
                <a:cs typeface="BIZ UDゴシック" pitchFamily="34" charset="-120"/>
              </a:rPr>
              <a:t>30〜40%</a:t>
            </a:r>
            <a:endParaRPr lang="en-US" sz="3200" dirty="0"/>
          </a:p>
        </p:txBody>
      </p:sp>
      <p:sp>
        <p:nvSpPr>
          <p:cNvPr id="27" name="Text 24"/>
          <p:cNvSpPr txBox="1"/>
          <p:nvPr/>
        </p:nvSpPr>
        <p:spPr>
          <a:xfrm>
            <a:off x="9326880" y="4727448"/>
            <a:ext cx="22860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その他</a:t>
            </a:r>
            <a:endParaRPr lang="en-US" sz="2000" dirty="0"/>
          </a:p>
        </p:txBody>
      </p:sp>
      <p:sp>
        <p:nvSpPr>
          <p:cNvPr id="28" name="Text 25"/>
          <p:cNvSpPr txBox="1"/>
          <p:nvPr/>
        </p:nvSpPr>
        <p:spPr>
          <a:xfrm>
            <a:off x="9326880" y="5093208"/>
            <a:ext cx="2286000" cy="566928"/>
          </a:xfrm>
          <a:prstGeom prst="rect">
            <a:avLst/>
          </a:prstGeom>
          <a:noFill/>
          <a:ln/>
        </p:spPr>
        <p:txBody>
          <a:bodyPr wrap="square" lIns="0" tIns="0" rIns="0" bIns="0" rtlCol="0" anchor="t"/>
          <a:lstStyle/>
          <a:p>
            <a:pPr marL="0" indent="0">
              <a:buNone/>
            </a:pPr>
            <a:r>
              <a:rPr lang="en-US" sz="3200" b="1" dirty="0">
                <a:solidFill>
                  <a:srgbClr val="1B2333"/>
                </a:solidFill>
                <a:latin typeface="BIZ UDゴシック" pitchFamily="34" charset="0"/>
                <a:ea typeface="BIZ UDゴシック" pitchFamily="49" charset="-128"/>
                <a:cs typeface="BIZ UDゴシック" pitchFamily="34" charset="-120"/>
              </a:rPr>
              <a:t>50〜60%</a:t>
            </a:r>
            <a:endParaRPr lang="en-US" sz="3200" dirty="0"/>
          </a:p>
        </p:txBody>
      </p:sp>
      <p:sp>
        <p:nvSpPr>
          <p:cNvPr id="6"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092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092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第1部</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行動が変われば、感染は減る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出典：Pittet D, et al. Lancet 2000</a:t>
            </a:r>
            <a:endParaRPr lang="en-US" sz="2000" dirty="0"/>
          </a:p>
        </p:txBody>
      </p:sp>
      <p:sp>
        <p:nvSpPr>
          <p:cNvPr id="7" name="Shape 4"/>
          <p:cNvSpPr/>
          <p:nvPr/>
        </p:nvSpPr>
        <p:spPr>
          <a:xfrm>
            <a:off x="548640" y="2011680"/>
            <a:ext cx="3474720" cy="2743200"/>
          </a:xfrm>
          <a:prstGeom prst="roundRect">
            <a:avLst>
              <a:gd name="adj" fmla="val 4000"/>
            </a:avLst>
          </a:prstGeom>
          <a:solidFill>
            <a:srgbClr val="EEF2F7"/>
          </a:solidFill>
          <a:ln w="12700">
            <a:solidFill>
              <a:srgbClr val="EEF2F7"/>
            </a:solidFill>
            <a:prstDash val="solid"/>
          </a:ln>
        </p:spPr>
      </p:sp>
      <p:sp>
        <p:nvSpPr>
          <p:cNvPr id="8" name="Text 5"/>
          <p:cNvSpPr txBox="1"/>
          <p:nvPr/>
        </p:nvSpPr>
        <p:spPr>
          <a:xfrm>
            <a:off x="548640" y="2286000"/>
            <a:ext cx="347472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手指衛生の遵守率</a:t>
            </a:r>
            <a:endParaRPr lang="en-US" sz="2400" dirty="0"/>
          </a:p>
        </p:txBody>
      </p:sp>
      <p:sp>
        <p:nvSpPr>
          <p:cNvPr id="9" name="Text 6"/>
          <p:cNvSpPr txBox="1"/>
          <p:nvPr/>
        </p:nvSpPr>
        <p:spPr>
          <a:xfrm>
            <a:off x="548640" y="2971800"/>
            <a:ext cx="3474720" cy="822960"/>
          </a:xfrm>
          <a:prstGeom prst="rect">
            <a:avLst/>
          </a:prstGeom>
          <a:noFill/>
          <a:ln/>
        </p:spPr>
        <p:txBody>
          <a:bodyPr wrap="square" lIns="0" tIns="0" rIns="0" bIns="0" rtlCol="0" anchor="ctr"/>
          <a:lstStyle/>
          <a:p>
            <a:pPr marL="0" indent="0" algn="ctr">
              <a:buNone/>
            </a:pPr>
            <a:r>
              <a:rPr lang="en-US" sz="3600" b="1" dirty="0">
                <a:solidFill>
                  <a:srgbClr val="0B7A70"/>
                </a:solidFill>
                <a:latin typeface="BIZ UDゴシック" pitchFamily="34" charset="0"/>
                <a:ea typeface="BIZ UDゴシック" pitchFamily="49" charset="-128"/>
                <a:cs typeface="BIZ UDゴシック" pitchFamily="34" charset="-120"/>
              </a:rPr>
              <a:t>48%→66%</a:t>
            </a:r>
            <a:endParaRPr lang="en-US" sz="3600" dirty="0"/>
          </a:p>
        </p:txBody>
      </p:sp>
      <p:sp>
        <p:nvSpPr>
          <p:cNvPr id="10" name="Shape 7"/>
          <p:cNvSpPr/>
          <p:nvPr/>
        </p:nvSpPr>
        <p:spPr>
          <a:xfrm>
            <a:off x="4358488" y="2011680"/>
            <a:ext cx="3474720" cy="2743200"/>
          </a:xfrm>
          <a:prstGeom prst="roundRect">
            <a:avLst>
              <a:gd name="adj" fmla="val 4000"/>
            </a:avLst>
          </a:prstGeom>
          <a:solidFill>
            <a:srgbClr val="EEF2F7"/>
          </a:solidFill>
          <a:ln w="12700">
            <a:solidFill>
              <a:srgbClr val="EEF2F7"/>
            </a:solidFill>
            <a:prstDash val="solid"/>
          </a:ln>
        </p:spPr>
      </p:sp>
      <p:sp>
        <p:nvSpPr>
          <p:cNvPr id="11" name="Text 8"/>
          <p:cNvSpPr txBox="1"/>
          <p:nvPr/>
        </p:nvSpPr>
        <p:spPr>
          <a:xfrm>
            <a:off x="4358488" y="2286000"/>
            <a:ext cx="347472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院内感染の有病率</a:t>
            </a:r>
            <a:endParaRPr lang="en-US" sz="2400" dirty="0"/>
          </a:p>
        </p:txBody>
      </p:sp>
      <p:sp>
        <p:nvSpPr>
          <p:cNvPr id="12" name="Text 9"/>
          <p:cNvSpPr txBox="1"/>
          <p:nvPr/>
        </p:nvSpPr>
        <p:spPr>
          <a:xfrm>
            <a:off x="4358488" y="2971800"/>
            <a:ext cx="3474720" cy="822960"/>
          </a:xfrm>
          <a:prstGeom prst="rect">
            <a:avLst/>
          </a:prstGeom>
          <a:noFill/>
          <a:ln/>
        </p:spPr>
        <p:txBody>
          <a:bodyPr wrap="square" lIns="0" tIns="0" rIns="0" bIns="0" rtlCol="0" anchor="ctr"/>
          <a:lstStyle/>
          <a:p>
            <a:pPr marL="0" indent="0" algn="ctr">
              <a:buNone/>
            </a:pPr>
            <a:r>
              <a:rPr lang="en-US" sz="3600" b="1" dirty="0">
                <a:solidFill>
                  <a:srgbClr val="0B7A70"/>
                </a:solidFill>
                <a:latin typeface="BIZ UDゴシック" pitchFamily="34" charset="0"/>
                <a:ea typeface="BIZ UDゴシック" pitchFamily="49" charset="-128"/>
                <a:cs typeface="BIZ UDゴシック" pitchFamily="34" charset="-120"/>
              </a:rPr>
              <a:t>16.9%→9.9%</a:t>
            </a:r>
            <a:endParaRPr lang="en-US" sz="3600" dirty="0"/>
          </a:p>
        </p:txBody>
      </p:sp>
      <p:sp>
        <p:nvSpPr>
          <p:cNvPr id="13" name="Shape 10"/>
          <p:cNvSpPr/>
          <p:nvPr/>
        </p:nvSpPr>
        <p:spPr>
          <a:xfrm>
            <a:off x="8168335" y="2011680"/>
            <a:ext cx="3474720" cy="2743200"/>
          </a:xfrm>
          <a:prstGeom prst="roundRect">
            <a:avLst>
              <a:gd name="adj" fmla="val 4000"/>
            </a:avLst>
          </a:prstGeom>
          <a:solidFill>
            <a:srgbClr val="EEF2F7"/>
          </a:solidFill>
          <a:ln w="12700">
            <a:solidFill>
              <a:srgbClr val="EEF2F7"/>
            </a:solidFill>
            <a:prstDash val="solid"/>
          </a:ln>
        </p:spPr>
      </p:sp>
      <p:sp>
        <p:nvSpPr>
          <p:cNvPr id="14" name="Text 11"/>
          <p:cNvSpPr txBox="1"/>
          <p:nvPr/>
        </p:nvSpPr>
        <p:spPr>
          <a:xfrm>
            <a:off x="8168335" y="2286000"/>
            <a:ext cx="347472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MRSAの伝播</a:t>
            </a:r>
            <a:endParaRPr lang="en-US" sz="2400" dirty="0"/>
          </a:p>
        </p:txBody>
      </p:sp>
      <p:sp>
        <p:nvSpPr>
          <p:cNvPr id="15" name="Text 12"/>
          <p:cNvSpPr txBox="1"/>
          <p:nvPr/>
        </p:nvSpPr>
        <p:spPr>
          <a:xfrm>
            <a:off x="8168335" y="2971800"/>
            <a:ext cx="3474720" cy="822960"/>
          </a:xfrm>
          <a:prstGeom prst="rect">
            <a:avLst/>
          </a:prstGeom>
          <a:noFill/>
          <a:ln/>
        </p:spPr>
        <p:txBody>
          <a:bodyPr wrap="square" lIns="0" tIns="0" rIns="0" bIns="0" rtlCol="0" anchor="ctr"/>
          <a:lstStyle/>
          <a:p>
            <a:pPr marL="0" indent="0" algn="ctr">
              <a:buNone/>
            </a:pPr>
            <a:r>
              <a:rPr lang="en-US" sz="3600" b="1" dirty="0">
                <a:solidFill>
                  <a:srgbClr val="0B7A70"/>
                </a:solidFill>
                <a:latin typeface="BIZ UDゴシック" pitchFamily="34" charset="0"/>
                <a:ea typeface="BIZ UDゴシック" pitchFamily="49" charset="-128"/>
                <a:cs typeface="BIZ UDゴシック" pitchFamily="34" charset="-120"/>
              </a:rPr>
              <a:t>2.16→0.93</a:t>
            </a:r>
            <a:endParaRPr lang="en-US" sz="3600" dirty="0"/>
          </a:p>
        </p:txBody>
      </p:sp>
      <p:sp>
        <p:nvSpPr>
          <p:cNvPr id="16" name="Text 13"/>
          <p:cNvSpPr txBox="1"/>
          <p:nvPr/>
        </p:nvSpPr>
        <p:spPr>
          <a:xfrm>
            <a:off x="8168335" y="3931920"/>
            <a:ext cx="3474720" cy="411480"/>
          </a:xfrm>
          <a:prstGeom prst="rect">
            <a:avLst/>
          </a:prstGeom>
          <a:noFill/>
          <a:ln/>
        </p:spPr>
        <p:txBody>
          <a:bodyPr wrap="square" lIns="0" tIns="0" rIns="0" bIns="0" rtlCol="0" anchor="t"/>
          <a:lstStyle/>
          <a:p>
            <a:pPr marL="0" indent="0" algn="ctr">
              <a:buNone/>
            </a:pPr>
            <a:r>
              <a:rPr lang="en-US" sz="2000" dirty="0">
                <a:solidFill>
                  <a:srgbClr val="4F5B6B"/>
                </a:solidFill>
                <a:latin typeface="BIZ UDゴシック" pitchFamily="34" charset="0"/>
                <a:ea typeface="BIZ UDゴシック" pitchFamily="49" charset="-128"/>
                <a:cs typeface="BIZ UDゴシック" pitchFamily="34" charset="-120"/>
              </a:rPr>
              <a:t>（件／1万患者日）</a:t>
            </a:r>
            <a:endParaRPr lang="en-US" sz="2000" dirty="0"/>
          </a:p>
        </p:txBody>
      </p:sp>
      <p:sp>
        <p:nvSpPr>
          <p:cNvPr id="17" name="Text 14"/>
          <p:cNvSpPr txBox="1"/>
          <p:nvPr/>
        </p:nvSpPr>
        <p:spPr>
          <a:xfrm>
            <a:off x="548640" y="4983480"/>
            <a:ext cx="11094415" cy="914400"/>
          </a:xfrm>
          <a:prstGeom prst="rect">
            <a:avLst/>
          </a:prstGeom>
          <a:noFill/>
          <a:ln/>
        </p:spPr>
        <p:txBody>
          <a:bodyPr wrap="square" lIns="0" tIns="0" rIns="0" bIns="0" rtlCol="0" anchor="ctr"/>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ベッドサイドのアルコール手指消毒を柱に、病院全体で取り組んだ結果</a:t>
            </a:r>
            <a:endParaRPr lang="en-US" sz="2200" dirty="0"/>
          </a:p>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（ジュネーブ大学病院）</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092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092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第1部</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「やる気」を大きく変えても、行動の変化は約半分</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出典：Webb TL, Sheeran P. Psychol Bull 2006</a:t>
            </a:r>
            <a:endParaRPr lang="en-US" sz="2000" dirty="0"/>
          </a:p>
        </p:txBody>
      </p:sp>
      <p:sp>
        <p:nvSpPr>
          <p:cNvPr id="7" name="Text 4"/>
          <p:cNvSpPr txBox="1"/>
          <p:nvPr/>
        </p:nvSpPr>
        <p:spPr>
          <a:xfrm>
            <a:off x="548640" y="1783080"/>
            <a:ext cx="6675120" cy="36576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効果量（d）　※47の実験研究のメタ分析</a:t>
            </a:r>
            <a:endParaRPr lang="en-US" sz="2000" dirty="0"/>
          </a:p>
        </p:txBody>
      </p:sp>
      <p:graphicFrame>
        <p:nvGraphicFramePr>
          <p:cNvPr id="8" name="Chart 0"/>
          <p:cNvGraphicFramePr/>
          <p:nvPr/>
        </p:nvGraphicFramePr>
        <p:xfrm>
          <a:off x="548640" y="2148840"/>
          <a:ext cx="63093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7223760" y="2011680"/>
            <a:ext cx="4419295" cy="3840480"/>
          </a:xfrm>
          <a:prstGeom prst="roundRect">
            <a:avLst>
              <a:gd name="adj" fmla="val 2857"/>
            </a:avLst>
          </a:prstGeom>
          <a:solidFill>
            <a:srgbClr val="E3F7F2"/>
          </a:solidFill>
          <a:ln w="12700">
            <a:solidFill>
              <a:srgbClr val="E3F7F2"/>
            </a:solidFill>
            <a:prstDash val="solid"/>
          </a:ln>
        </p:spPr>
      </p:sp>
      <p:sp>
        <p:nvSpPr>
          <p:cNvPr id="10" name="Text 6"/>
          <p:cNvSpPr txBox="1"/>
          <p:nvPr/>
        </p:nvSpPr>
        <p:spPr>
          <a:xfrm>
            <a:off x="7479792" y="2240280"/>
            <a:ext cx="3907231" cy="3383280"/>
          </a:xfrm>
          <a:prstGeom prst="rect">
            <a:avLst/>
          </a:prstGeom>
          <a:noFill/>
          <a:ln/>
        </p:spPr>
        <p:txBody>
          <a:bodyPr wrap="square" lIns="0" tIns="0" rIns="0" bIns="0" rtlCol="0" anchor="ctr"/>
          <a:lstStyle/>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知識・意図・態度に</a:t>
            </a:r>
            <a:endParaRPr lang="en-US" sz="2400" dirty="0"/>
          </a:p>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働きかけるだけでは、</a:t>
            </a:r>
            <a:endParaRPr lang="en-US" sz="2400" dirty="0"/>
          </a:p>
          <a:p>
            <a:pPr marL="0" indent="0">
              <a:spcAft>
                <a:spcPts val="2400"/>
              </a:spcAft>
              <a:buNone/>
            </a:pPr>
            <a:r>
              <a:rPr lang="en-US" sz="2400" b="1" dirty="0">
                <a:solidFill>
                  <a:srgbClr val="131B35"/>
                </a:solidFill>
                <a:latin typeface="BIZ UDゴシック" pitchFamily="34" charset="0"/>
                <a:ea typeface="BIZ UDゴシック" pitchFamily="49" charset="-128"/>
                <a:cs typeface="BIZ UDゴシック" pitchFamily="34" charset="-120"/>
              </a:rPr>
              <a:t>行動は変わりきらない</a:t>
            </a:r>
            <a:endParaRPr lang="en-US" sz="2400" dirty="0"/>
          </a:p>
          <a:p>
            <a:pPr marL="0" indent="0">
              <a:buNone/>
            </a:pPr>
            <a:r>
              <a:rPr lang="en-US" sz="2400" b="1" dirty="0">
                <a:solidFill>
                  <a:srgbClr val="0B7A70"/>
                </a:solidFill>
                <a:latin typeface="BIZ UDゴシック" pitchFamily="34" charset="0"/>
                <a:ea typeface="BIZ UDゴシック" pitchFamily="49" charset="-128"/>
                <a:cs typeface="BIZ UDゴシック" pitchFamily="34" charset="-120"/>
              </a:rPr>
              <a:t>→ 行動そのものと、</a:t>
            </a:r>
            <a:endParaRPr lang="en-US" sz="2400" dirty="0"/>
          </a:p>
          <a:p>
            <a:pPr marL="0" indent="0">
              <a:buNone/>
            </a:pPr>
            <a:r>
              <a:rPr lang="en-US" sz="2400" b="1" dirty="0">
                <a:solidFill>
                  <a:srgbClr val="0B7A70"/>
                </a:solidFill>
                <a:latin typeface="BIZ UDゴシック" pitchFamily="34" charset="0"/>
                <a:ea typeface="BIZ UDゴシック" pitchFamily="49" charset="-128"/>
                <a:cs typeface="BIZ UDゴシック" pitchFamily="34" charset="-120"/>
              </a:rPr>
              <a:t>それを取り巻く環境に</a:t>
            </a:r>
            <a:endParaRPr lang="en-US" sz="2400" dirty="0"/>
          </a:p>
          <a:p>
            <a:pPr marL="0" indent="0">
              <a:spcAft>
                <a:spcPts val="2400"/>
              </a:spcAft>
              <a:buNone/>
            </a:pPr>
            <a:r>
              <a:rPr lang="en-US" sz="2400" b="1" dirty="0">
                <a:solidFill>
                  <a:srgbClr val="0B7A70"/>
                </a:solidFill>
                <a:latin typeface="BIZ UDゴシック" pitchFamily="34" charset="0"/>
                <a:ea typeface="BIZ UDゴシック" pitchFamily="49" charset="-128"/>
                <a:cs typeface="BIZ UDゴシック" pitchFamily="34" charset="-120"/>
              </a:rPr>
              <a:t>目を向ける</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092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092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第1部</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問題は「人」ではなく、行動を取り巻く「見えない力」</a:t>
            </a:r>
            <a:endParaRPr lang="en-US" sz="3200" dirty="0"/>
          </a:p>
        </p:txBody>
      </p:sp>
      <p:sp>
        <p:nvSpPr>
          <p:cNvPr id="6" name="Shape 3"/>
          <p:cNvSpPr/>
          <p:nvPr/>
        </p:nvSpPr>
        <p:spPr>
          <a:xfrm>
            <a:off x="548640" y="1965960"/>
            <a:ext cx="4937760" cy="3977640"/>
          </a:xfrm>
          <a:prstGeom prst="roundRect">
            <a:avLst>
              <a:gd name="adj" fmla="val 2759"/>
            </a:avLst>
          </a:prstGeom>
          <a:solidFill>
            <a:srgbClr val="FCEBE3"/>
          </a:solidFill>
          <a:ln w="12700">
            <a:solidFill>
              <a:srgbClr val="FCEBE3"/>
            </a:solidFill>
            <a:prstDash val="solid"/>
          </a:ln>
        </p:spPr>
      </p:sp>
      <p:sp>
        <p:nvSpPr>
          <p:cNvPr id="7" name="Shape 4"/>
          <p:cNvSpPr/>
          <p:nvPr/>
        </p:nvSpPr>
        <p:spPr>
          <a:xfrm>
            <a:off x="822960" y="2194560"/>
            <a:ext cx="685800" cy="685800"/>
          </a:xfrm>
          <a:prstGeom prst="ellipse">
            <a:avLst/>
          </a:prstGeom>
          <a:solidFill>
            <a:srgbClr val="D1480E"/>
          </a:solidFill>
          <a:ln w="12700">
            <a:solidFill>
              <a:srgbClr val="D1480E"/>
            </a:solidFill>
            <a:prstDash val="solid"/>
          </a:ln>
        </p:spPr>
      </p:sp>
      <p:pic>
        <p:nvPicPr>
          <p:cNvPr id="8" name="Image 0" descr="preencoded.png"/>
          <p:cNvPicPr>
            <a:picLocks noChangeAspect="1"/>
          </p:cNvPicPr>
          <p:nvPr/>
        </p:nvPicPr>
        <p:blipFill>
          <a:blip r:embed="rId3"/>
          <a:stretch>
            <a:fillRect/>
          </a:stretch>
        </p:blipFill>
        <p:spPr>
          <a:xfrm>
            <a:off x="987552" y="2359152"/>
            <a:ext cx="356616" cy="356616"/>
          </a:xfrm>
          <a:prstGeom prst="rect">
            <a:avLst/>
          </a:prstGeom>
        </p:spPr>
      </p:pic>
      <p:sp>
        <p:nvSpPr>
          <p:cNvPr id="9" name="Text 5"/>
          <p:cNvSpPr txBox="1"/>
          <p:nvPr/>
        </p:nvSpPr>
        <p:spPr>
          <a:xfrm>
            <a:off x="1691640" y="2194560"/>
            <a:ext cx="3566160" cy="685800"/>
          </a:xfrm>
          <a:prstGeom prst="rect">
            <a:avLst/>
          </a:prstGeom>
          <a:noFill/>
          <a:ln/>
        </p:spPr>
        <p:txBody>
          <a:bodyPr wrap="square" lIns="0" tIns="0" rIns="0" bIns="0" rtlCol="0" anchor="ctr"/>
          <a:lstStyle/>
          <a:p>
            <a:pPr marL="0" indent="0">
              <a:buNone/>
            </a:pPr>
            <a:r>
              <a:rPr lang="en-US" sz="2600" b="1" dirty="0">
                <a:solidFill>
                  <a:srgbClr val="D1480E"/>
                </a:solidFill>
                <a:latin typeface="BIZ UDゴシック" pitchFamily="34" charset="0"/>
                <a:ea typeface="BIZ UDゴシック" pitchFamily="49" charset="-128"/>
                <a:cs typeface="BIZ UDゴシック" pitchFamily="34" charset="-120"/>
              </a:rPr>
              <a:t>これまでの見方</a:t>
            </a:r>
            <a:endParaRPr lang="en-US" sz="2600" dirty="0"/>
          </a:p>
        </p:txBody>
      </p:sp>
      <p:sp>
        <p:nvSpPr>
          <p:cNvPr id="10" name="Text 6"/>
          <p:cNvSpPr txBox="1"/>
          <p:nvPr/>
        </p:nvSpPr>
        <p:spPr>
          <a:xfrm>
            <a:off x="914400" y="3154680"/>
            <a:ext cx="4389120" cy="25603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意識が低い</a:t>
            </a:r>
            <a:endParaRPr lang="en-US" sz="2400" dirty="0"/>
          </a:p>
          <a:p>
            <a:pPr marL="342900" indent="-342900">
              <a:spcAft>
                <a:spcPts val="8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やる気がない</a:t>
            </a:r>
            <a:endParaRPr lang="en-US" sz="2400" dirty="0"/>
          </a:p>
          <a:p>
            <a:pPr marL="342900" indent="-342900">
              <a:spcAft>
                <a:spcPts val="8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何度言っても守らない</a:t>
            </a:r>
            <a:endParaRPr lang="en-US" sz="2400" dirty="0"/>
          </a:p>
        </p:txBody>
      </p:sp>
      <p:sp>
        <p:nvSpPr>
          <p:cNvPr id="11" name="Shape 7"/>
          <p:cNvSpPr/>
          <p:nvPr/>
        </p:nvSpPr>
        <p:spPr>
          <a:xfrm>
            <a:off x="6702552" y="1965960"/>
            <a:ext cx="4937760" cy="3977640"/>
          </a:xfrm>
          <a:prstGeom prst="roundRect">
            <a:avLst>
              <a:gd name="adj" fmla="val 2759"/>
            </a:avLst>
          </a:prstGeom>
          <a:solidFill>
            <a:srgbClr val="E3F7F2"/>
          </a:solidFill>
          <a:ln w="12700">
            <a:solidFill>
              <a:srgbClr val="E3F7F2"/>
            </a:solidFill>
            <a:prstDash val="solid"/>
          </a:ln>
        </p:spPr>
      </p:sp>
      <p:sp>
        <p:nvSpPr>
          <p:cNvPr id="12" name="Shape 8"/>
          <p:cNvSpPr/>
          <p:nvPr/>
        </p:nvSpPr>
        <p:spPr>
          <a:xfrm>
            <a:off x="6976872" y="2194560"/>
            <a:ext cx="685800" cy="685800"/>
          </a:xfrm>
          <a:prstGeom prst="ellipse">
            <a:avLst/>
          </a:prstGeom>
          <a:solidFill>
            <a:srgbClr val="0B7A70"/>
          </a:solidFill>
          <a:ln w="12700">
            <a:solidFill>
              <a:srgbClr val="0B7A70"/>
            </a:solidFill>
            <a:prstDash val="solid"/>
          </a:ln>
        </p:spPr>
      </p:sp>
      <p:pic>
        <p:nvPicPr>
          <p:cNvPr id="13" name="Image 1" descr="preencoded.png"/>
          <p:cNvPicPr>
            <a:picLocks noChangeAspect="1"/>
          </p:cNvPicPr>
          <p:nvPr/>
        </p:nvPicPr>
        <p:blipFill>
          <a:blip r:embed="rId4"/>
          <a:stretch>
            <a:fillRect/>
          </a:stretch>
        </p:blipFill>
        <p:spPr>
          <a:xfrm>
            <a:off x="7141464" y="2359152"/>
            <a:ext cx="356616" cy="356616"/>
          </a:xfrm>
          <a:prstGeom prst="rect">
            <a:avLst/>
          </a:prstGeom>
        </p:spPr>
      </p:pic>
      <p:sp>
        <p:nvSpPr>
          <p:cNvPr id="14" name="Text 9"/>
          <p:cNvSpPr txBox="1"/>
          <p:nvPr/>
        </p:nvSpPr>
        <p:spPr>
          <a:xfrm>
            <a:off x="7845552" y="2194560"/>
            <a:ext cx="3566160" cy="685800"/>
          </a:xfrm>
          <a:prstGeom prst="rect">
            <a:avLst/>
          </a:prstGeom>
          <a:noFill/>
          <a:ln/>
        </p:spPr>
        <p:txBody>
          <a:bodyPr wrap="square" lIns="0" tIns="0" rIns="0" bIns="0" rtlCol="0" anchor="ctr"/>
          <a:lstStyle/>
          <a:p>
            <a:pPr marL="0" indent="0">
              <a:buNone/>
            </a:pPr>
            <a:r>
              <a:rPr lang="en-US" sz="2600" b="1" dirty="0">
                <a:solidFill>
                  <a:srgbClr val="0B7A70"/>
                </a:solidFill>
                <a:latin typeface="BIZ UDゴシック" pitchFamily="34" charset="0"/>
                <a:ea typeface="BIZ UDゴシック" pitchFamily="49" charset="-128"/>
                <a:cs typeface="BIZ UDゴシック" pitchFamily="34" charset="-120"/>
              </a:rPr>
              <a:t>行動科学の見方</a:t>
            </a:r>
            <a:endParaRPr lang="en-US" sz="2600" dirty="0"/>
          </a:p>
        </p:txBody>
      </p:sp>
      <p:sp>
        <p:nvSpPr>
          <p:cNvPr id="15" name="Text 10"/>
          <p:cNvSpPr txBox="1"/>
          <p:nvPr/>
        </p:nvSpPr>
        <p:spPr>
          <a:xfrm>
            <a:off x="7068312" y="3154680"/>
            <a:ext cx="4389120" cy="25603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思い込みが働いている</a:t>
            </a:r>
            <a:endParaRPr lang="en-US" sz="2400" dirty="0"/>
          </a:p>
          <a:p>
            <a:pPr marL="342900" indent="-342900">
              <a:spcAft>
                <a:spcPts val="8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疲れで判断がすり減る</a:t>
            </a:r>
            <a:endParaRPr lang="en-US" sz="2400" dirty="0"/>
          </a:p>
          <a:p>
            <a:pPr marL="342900" indent="-342900">
              <a:spcAft>
                <a:spcPts val="8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周りの空気に流される</a:t>
            </a:r>
            <a:endParaRPr lang="en-US" sz="2400" dirty="0"/>
          </a:p>
          <a:p>
            <a:pPr marL="342900" indent="-342900">
              <a:spcAft>
                <a:spcPts val="8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動線が行動を邪魔する</a:t>
            </a:r>
            <a:endParaRPr lang="en-US" sz="2400" dirty="0"/>
          </a:p>
        </p:txBody>
      </p:sp>
      <p:sp>
        <p:nvSpPr>
          <p:cNvPr id="16" name="Shape 11"/>
          <p:cNvSpPr/>
          <p:nvPr/>
        </p:nvSpPr>
        <p:spPr>
          <a:xfrm>
            <a:off x="5870448" y="3611880"/>
            <a:ext cx="457200" cy="731520"/>
          </a:xfrm>
          <a:prstGeom prst="chevron">
            <a:avLst/>
          </a:prstGeom>
          <a:solidFill>
            <a:srgbClr val="8A96A8"/>
          </a:solidFill>
          <a:ln w="12700">
            <a:solidFill>
              <a:srgbClr val="8A96A8"/>
            </a:solidFill>
            <a:prstDash val="solid"/>
          </a:ln>
        </p:spPr>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3" name="Text 0"/>
          <p:cNvSpPr txBox="1"/>
          <p:nvPr/>
        </p:nvSpPr>
        <p:spPr>
          <a:xfrm>
            <a:off x="822960" y="822960"/>
            <a:ext cx="5486400" cy="457200"/>
          </a:xfrm>
          <a:prstGeom prst="rect">
            <a:avLst/>
          </a:prstGeom>
          <a:noFill/>
          <a:ln/>
        </p:spPr>
        <p:txBody>
          <a:bodyPr wrap="square" lIns="0" tIns="0" rIns="0" bIns="0" rtlCol="0" anchor="t"/>
          <a:lstStyle/>
          <a:p>
            <a:pPr marL="0" indent="0">
              <a:buNone/>
            </a:pPr>
            <a:r>
              <a:rPr lang="en-US" sz="2400" b="1" dirty="0">
                <a:latin typeface="BIZ UDゴシック" pitchFamily="34" charset="0"/>
                <a:ea typeface="BIZ UDゴシック" pitchFamily="49" charset="-128"/>
                <a:cs typeface="BIZ UDゴシック" pitchFamily="34" charset="-120"/>
              </a:rPr>
              <a:t>第2部</a:t>
            </a:r>
            <a:endParaRPr lang="en-US" sz="2400" dirty="0"/>
          </a:p>
        </p:txBody>
      </p:sp>
      <p:sp>
        <p:nvSpPr>
          <p:cNvPr id="4" name="Text 1"/>
          <p:cNvSpPr txBox="1"/>
          <p:nvPr/>
        </p:nvSpPr>
        <p:spPr>
          <a:xfrm>
            <a:off x="822960" y="1325880"/>
            <a:ext cx="10515600" cy="822960"/>
          </a:xfrm>
          <a:prstGeom prst="rect">
            <a:avLst/>
          </a:prstGeom>
          <a:noFill/>
          <a:ln/>
        </p:spPr>
        <p:txBody>
          <a:bodyPr wrap="square" lIns="0" tIns="0" rIns="0" bIns="0" rtlCol="0" anchor="t"/>
          <a:lstStyle/>
          <a:p>
            <a:pPr marL="0" indent="0">
              <a:buNone/>
            </a:pPr>
            <a:r>
              <a:rPr lang="en-US" sz="4000" b="1" dirty="0">
                <a:latin typeface="BIZ UDゴシック" pitchFamily="34" charset="0"/>
                <a:ea typeface="BIZ UDゴシック" pitchFamily="49" charset="-128"/>
                <a:cs typeface="BIZ UDゴシック" pitchFamily="34" charset="-120"/>
              </a:rPr>
              <a:t>5つの「見えない敵」</a:t>
            </a:r>
            <a:endParaRPr lang="en-US" sz="4000" dirty="0"/>
          </a:p>
        </p:txBody>
      </p:sp>
      <p:sp>
        <p:nvSpPr>
          <p:cNvPr id="5" name="Shape 2"/>
          <p:cNvSpPr/>
          <p:nvPr/>
        </p:nvSpPr>
        <p:spPr>
          <a:xfrm>
            <a:off x="880842" y="2697480"/>
            <a:ext cx="1554480" cy="1554480"/>
          </a:xfrm>
          <a:prstGeom prst="ellipse">
            <a:avLst/>
          </a:prstGeom>
          <a:solidFill>
            <a:srgbClr val="1E2A4F"/>
          </a:solidFill>
          <a:ln w="38100">
            <a:solidFill>
              <a:srgbClr val="3FE8C2"/>
            </a:solidFill>
            <a:prstDash val="solid"/>
          </a:ln>
        </p:spPr>
      </p:sp>
      <p:pic>
        <p:nvPicPr>
          <p:cNvPr id="6" name="Image 0" descr="preencoded.png"/>
          <p:cNvPicPr>
            <a:picLocks noChangeAspect="1"/>
          </p:cNvPicPr>
          <p:nvPr/>
        </p:nvPicPr>
        <p:blipFill>
          <a:blip r:embed="rId3"/>
          <a:stretch>
            <a:fillRect/>
          </a:stretch>
        </p:blipFill>
        <p:spPr>
          <a:xfrm>
            <a:off x="1300551" y="3117190"/>
            <a:ext cx="715061" cy="715061"/>
          </a:xfrm>
          <a:prstGeom prst="rect">
            <a:avLst/>
          </a:prstGeom>
        </p:spPr>
      </p:pic>
      <p:sp>
        <p:nvSpPr>
          <p:cNvPr id="7" name="Text 3"/>
          <p:cNvSpPr txBox="1"/>
          <p:nvPr/>
        </p:nvSpPr>
        <p:spPr>
          <a:xfrm>
            <a:off x="548640" y="4434840"/>
            <a:ext cx="2218883" cy="457200"/>
          </a:xfrm>
          <a:prstGeom prst="rect">
            <a:avLst/>
          </a:prstGeom>
          <a:noFill/>
          <a:ln/>
        </p:spPr>
        <p:txBody>
          <a:bodyPr wrap="square" lIns="0" tIns="0" rIns="0" bIns="0" rtlCol="0" anchor="t"/>
          <a:lstStyle/>
          <a:p>
            <a:pPr marL="0" indent="0" algn="ctr">
              <a:buNone/>
            </a:pPr>
            <a:r>
              <a:rPr lang="en-US" sz="2200" b="1" dirty="0">
                <a:latin typeface="BIZ UDゴシック" pitchFamily="34" charset="0"/>
                <a:ea typeface="BIZ UDゴシック" pitchFamily="49" charset="-128"/>
                <a:cs typeface="BIZ UDゴシック" pitchFamily="34" charset="-120"/>
              </a:rPr>
              <a:t>敵①</a:t>
            </a:r>
            <a:endParaRPr lang="en-US" sz="2200" dirty="0"/>
          </a:p>
        </p:txBody>
      </p:sp>
      <p:sp>
        <p:nvSpPr>
          <p:cNvPr id="8" name="Text 4"/>
          <p:cNvSpPr txBox="1"/>
          <p:nvPr/>
        </p:nvSpPr>
        <p:spPr>
          <a:xfrm>
            <a:off x="640080" y="4892040"/>
            <a:ext cx="2036003" cy="914400"/>
          </a:xfrm>
          <a:prstGeom prst="rect">
            <a:avLst/>
          </a:prstGeom>
          <a:noFill/>
          <a:ln/>
        </p:spPr>
        <p:txBody>
          <a:bodyPr wrap="square" lIns="0" tIns="0" rIns="0" bIns="0" rtlCol="0" anchor="t"/>
          <a:lstStyle/>
          <a:p>
            <a:pPr marL="0" indent="0" algn="ctr">
              <a:buNone/>
            </a:pPr>
            <a:r>
              <a:rPr lang="en-US" sz="2400" b="1" dirty="0">
                <a:latin typeface="BIZ UDゴシック" pitchFamily="34" charset="0"/>
                <a:ea typeface="BIZ UDゴシック" pitchFamily="49" charset="-128"/>
                <a:cs typeface="BIZ UDゴシック" pitchFamily="34" charset="-120"/>
              </a:rPr>
              <a:t>思い込み</a:t>
            </a:r>
            <a:endParaRPr lang="en-US" sz="2400" dirty="0"/>
          </a:p>
        </p:txBody>
      </p:sp>
      <p:sp>
        <p:nvSpPr>
          <p:cNvPr id="9" name="Shape 5"/>
          <p:cNvSpPr/>
          <p:nvPr/>
        </p:nvSpPr>
        <p:spPr>
          <a:xfrm>
            <a:off x="3099725" y="2697480"/>
            <a:ext cx="1554480" cy="1554480"/>
          </a:xfrm>
          <a:prstGeom prst="ellipse">
            <a:avLst/>
          </a:prstGeom>
          <a:solidFill>
            <a:srgbClr val="1E2A4F"/>
          </a:solidFill>
          <a:ln w="38100">
            <a:solidFill>
              <a:srgbClr val="3FE8C2"/>
            </a:solidFill>
            <a:prstDash val="solid"/>
          </a:ln>
        </p:spPr>
      </p:sp>
      <p:pic>
        <p:nvPicPr>
          <p:cNvPr id="10" name="Image 1" descr="preencoded.png"/>
          <p:cNvPicPr>
            <a:picLocks noChangeAspect="1"/>
          </p:cNvPicPr>
          <p:nvPr/>
        </p:nvPicPr>
        <p:blipFill>
          <a:blip r:embed="rId4"/>
          <a:stretch>
            <a:fillRect/>
          </a:stretch>
        </p:blipFill>
        <p:spPr>
          <a:xfrm>
            <a:off x="3519434" y="3117190"/>
            <a:ext cx="715061" cy="715061"/>
          </a:xfrm>
          <a:prstGeom prst="rect">
            <a:avLst/>
          </a:prstGeom>
        </p:spPr>
      </p:pic>
      <p:sp>
        <p:nvSpPr>
          <p:cNvPr id="11" name="Text 6"/>
          <p:cNvSpPr txBox="1"/>
          <p:nvPr/>
        </p:nvSpPr>
        <p:spPr>
          <a:xfrm>
            <a:off x="2767523" y="4434840"/>
            <a:ext cx="2218883" cy="457200"/>
          </a:xfrm>
          <a:prstGeom prst="rect">
            <a:avLst/>
          </a:prstGeom>
          <a:noFill/>
          <a:ln/>
        </p:spPr>
        <p:txBody>
          <a:bodyPr wrap="square" lIns="0" tIns="0" rIns="0" bIns="0" rtlCol="0" anchor="t"/>
          <a:lstStyle/>
          <a:p>
            <a:pPr marL="0" indent="0" algn="ctr">
              <a:buNone/>
            </a:pPr>
            <a:r>
              <a:rPr lang="en-US" sz="2200" b="1" dirty="0">
                <a:latin typeface="BIZ UDゴシック" pitchFamily="34" charset="0"/>
                <a:ea typeface="BIZ UDゴシック" pitchFamily="49" charset="-128"/>
                <a:cs typeface="BIZ UDゴシック" pitchFamily="34" charset="-120"/>
              </a:rPr>
              <a:t>敵②</a:t>
            </a:r>
            <a:endParaRPr lang="en-US" sz="2200" dirty="0"/>
          </a:p>
        </p:txBody>
      </p:sp>
      <p:sp>
        <p:nvSpPr>
          <p:cNvPr id="12" name="Text 7"/>
          <p:cNvSpPr txBox="1"/>
          <p:nvPr/>
        </p:nvSpPr>
        <p:spPr>
          <a:xfrm>
            <a:off x="2858963" y="4892040"/>
            <a:ext cx="2036003" cy="457200"/>
          </a:xfrm>
          <a:prstGeom prst="rect">
            <a:avLst/>
          </a:prstGeom>
          <a:noFill/>
          <a:ln/>
        </p:spPr>
        <p:txBody>
          <a:bodyPr wrap="square" lIns="0" tIns="0" rIns="0" bIns="0" rtlCol="0" anchor="t"/>
          <a:lstStyle/>
          <a:p>
            <a:pPr marL="0" indent="0" algn="ctr">
              <a:buNone/>
            </a:pPr>
            <a:r>
              <a:rPr lang="en-US" sz="2400" b="1" dirty="0" err="1">
                <a:latin typeface="BIZ UDゴシック" pitchFamily="34" charset="0"/>
                <a:ea typeface="BIZ UDゴシック" pitchFamily="49" charset="-128"/>
                <a:cs typeface="BIZ UDゴシック" pitchFamily="34" charset="-120"/>
              </a:rPr>
              <a:t>ホーソン効果</a:t>
            </a:r>
            <a:endParaRPr lang="en-US" sz="2400" dirty="0"/>
          </a:p>
        </p:txBody>
      </p:sp>
      <p:sp>
        <p:nvSpPr>
          <p:cNvPr id="13" name="Shape 8"/>
          <p:cNvSpPr/>
          <p:nvPr/>
        </p:nvSpPr>
        <p:spPr>
          <a:xfrm>
            <a:off x="5318608" y="2697480"/>
            <a:ext cx="1554480" cy="1554480"/>
          </a:xfrm>
          <a:prstGeom prst="ellipse">
            <a:avLst/>
          </a:prstGeom>
          <a:solidFill>
            <a:srgbClr val="1E2A4F"/>
          </a:solidFill>
          <a:ln w="38100">
            <a:solidFill>
              <a:srgbClr val="3FE8C2"/>
            </a:solidFill>
            <a:prstDash val="solid"/>
          </a:ln>
        </p:spPr>
      </p:sp>
      <p:pic>
        <p:nvPicPr>
          <p:cNvPr id="14" name="Image 2" descr="preencoded.png"/>
          <p:cNvPicPr>
            <a:picLocks noChangeAspect="1"/>
          </p:cNvPicPr>
          <p:nvPr/>
        </p:nvPicPr>
        <p:blipFill>
          <a:blip r:embed="rId5"/>
          <a:stretch>
            <a:fillRect/>
          </a:stretch>
        </p:blipFill>
        <p:spPr>
          <a:xfrm>
            <a:off x="5738317" y="3117190"/>
            <a:ext cx="715061" cy="715061"/>
          </a:xfrm>
          <a:prstGeom prst="rect">
            <a:avLst/>
          </a:prstGeom>
        </p:spPr>
      </p:pic>
      <p:sp>
        <p:nvSpPr>
          <p:cNvPr id="15" name="Text 9"/>
          <p:cNvSpPr txBox="1"/>
          <p:nvPr/>
        </p:nvSpPr>
        <p:spPr>
          <a:xfrm>
            <a:off x="4986406" y="4434840"/>
            <a:ext cx="2218883" cy="457200"/>
          </a:xfrm>
          <a:prstGeom prst="rect">
            <a:avLst/>
          </a:prstGeom>
          <a:noFill/>
          <a:ln/>
        </p:spPr>
        <p:txBody>
          <a:bodyPr wrap="square" lIns="0" tIns="0" rIns="0" bIns="0" rtlCol="0" anchor="t"/>
          <a:lstStyle/>
          <a:p>
            <a:pPr marL="0" indent="0" algn="ctr">
              <a:buNone/>
            </a:pPr>
            <a:r>
              <a:rPr lang="en-US" sz="2200" b="1" dirty="0">
                <a:latin typeface="BIZ UDゴシック" pitchFamily="34" charset="0"/>
                <a:ea typeface="BIZ UDゴシック" pitchFamily="49" charset="-128"/>
                <a:cs typeface="BIZ UDゴシック" pitchFamily="34" charset="-120"/>
              </a:rPr>
              <a:t>敵③</a:t>
            </a:r>
            <a:endParaRPr lang="en-US" sz="2200" dirty="0"/>
          </a:p>
        </p:txBody>
      </p:sp>
      <p:sp>
        <p:nvSpPr>
          <p:cNvPr id="16" name="Text 10"/>
          <p:cNvSpPr txBox="1"/>
          <p:nvPr/>
        </p:nvSpPr>
        <p:spPr>
          <a:xfrm>
            <a:off x="5077846" y="4892040"/>
            <a:ext cx="2036003" cy="914400"/>
          </a:xfrm>
          <a:prstGeom prst="rect">
            <a:avLst/>
          </a:prstGeom>
          <a:noFill/>
          <a:ln/>
        </p:spPr>
        <p:txBody>
          <a:bodyPr wrap="square" lIns="0" tIns="0" rIns="0" bIns="0" rtlCol="0" anchor="t"/>
          <a:lstStyle/>
          <a:p>
            <a:pPr marL="0" indent="0" algn="ctr">
              <a:buNone/>
            </a:pPr>
            <a:r>
              <a:rPr lang="en-US" sz="2400" b="1" dirty="0">
                <a:latin typeface="BIZ UDゴシック" pitchFamily="34" charset="0"/>
                <a:ea typeface="BIZ UDゴシック" pitchFamily="49" charset="-128"/>
                <a:cs typeface="BIZ UDゴシック" pitchFamily="34" charset="-120"/>
              </a:rPr>
              <a:t>疲れ</a:t>
            </a:r>
            <a:endParaRPr lang="en-US" sz="2400" dirty="0"/>
          </a:p>
        </p:txBody>
      </p:sp>
      <p:sp>
        <p:nvSpPr>
          <p:cNvPr id="17" name="Shape 11"/>
          <p:cNvSpPr/>
          <p:nvPr/>
        </p:nvSpPr>
        <p:spPr>
          <a:xfrm>
            <a:off x="7537491" y="2697480"/>
            <a:ext cx="1554480" cy="1554480"/>
          </a:xfrm>
          <a:prstGeom prst="ellipse">
            <a:avLst/>
          </a:prstGeom>
          <a:solidFill>
            <a:srgbClr val="1E2A4F"/>
          </a:solidFill>
          <a:ln w="38100">
            <a:solidFill>
              <a:srgbClr val="3FE8C2"/>
            </a:solidFill>
            <a:prstDash val="solid"/>
          </a:ln>
        </p:spPr>
      </p:sp>
      <p:pic>
        <p:nvPicPr>
          <p:cNvPr id="18" name="Image 3" descr="preencoded.png"/>
          <p:cNvPicPr>
            <a:picLocks noChangeAspect="1"/>
          </p:cNvPicPr>
          <p:nvPr/>
        </p:nvPicPr>
        <p:blipFill>
          <a:blip r:embed="rId6"/>
          <a:stretch>
            <a:fillRect/>
          </a:stretch>
        </p:blipFill>
        <p:spPr>
          <a:xfrm>
            <a:off x="7957200" y="3117190"/>
            <a:ext cx="715061" cy="715061"/>
          </a:xfrm>
          <a:prstGeom prst="rect">
            <a:avLst/>
          </a:prstGeom>
        </p:spPr>
      </p:pic>
      <p:sp>
        <p:nvSpPr>
          <p:cNvPr id="19" name="Text 12"/>
          <p:cNvSpPr txBox="1"/>
          <p:nvPr/>
        </p:nvSpPr>
        <p:spPr>
          <a:xfrm>
            <a:off x="7205289" y="4434840"/>
            <a:ext cx="2218883" cy="457200"/>
          </a:xfrm>
          <a:prstGeom prst="rect">
            <a:avLst/>
          </a:prstGeom>
          <a:noFill/>
          <a:ln/>
        </p:spPr>
        <p:txBody>
          <a:bodyPr wrap="square" lIns="0" tIns="0" rIns="0" bIns="0" rtlCol="0" anchor="t"/>
          <a:lstStyle/>
          <a:p>
            <a:pPr marL="0" indent="0" algn="ctr">
              <a:buNone/>
            </a:pPr>
            <a:r>
              <a:rPr lang="en-US" sz="2200" b="1" dirty="0">
                <a:latin typeface="BIZ UDゴシック" pitchFamily="34" charset="0"/>
                <a:ea typeface="BIZ UDゴシック" pitchFamily="49" charset="-128"/>
                <a:cs typeface="BIZ UDゴシック" pitchFamily="34" charset="-120"/>
              </a:rPr>
              <a:t>敵④</a:t>
            </a:r>
            <a:endParaRPr lang="en-US" sz="2200" dirty="0"/>
          </a:p>
        </p:txBody>
      </p:sp>
      <p:sp>
        <p:nvSpPr>
          <p:cNvPr id="20" name="Text 13"/>
          <p:cNvSpPr txBox="1"/>
          <p:nvPr/>
        </p:nvSpPr>
        <p:spPr>
          <a:xfrm>
            <a:off x="7296729" y="4892040"/>
            <a:ext cx="2036003" cy="914400"/>
          </a:xfrm>
          <a:prstGeom prst="rect">
            <a:avLst/>
          </a:prstGeom>
          <a:noFill/>
          <a:ln/>
        </p:spPr>
        <p:txBody>
          <a:bodyPr wrap="square" lIns="0" tIns="0" rIns="0" bIns="0" rtlCol="0" anchor="t"/>
          <a:lstStyle/>
          <a:p>
            <a:pPr marL="0" indent="0" algn="ctr">
              <a:buNone/>
            </a:pPr>
            <a:r>
              <a:rPr lang="en-US" sz="2400" b="1" dirty="0">
                <a:latin typeface="BIZ UDゴシック" pitchFamily="34" charset="0"/>
                <a:ea typeface="BIZ UDゴシック" pitchFamily="49" charset="-128"/>
                <a:cs typeface="BIZ UDゴシック" pitchFamily="34" charset="-120"/>
              </a:rPr>
              <a:t>周囲の空気</a:t>
            </a:r>
            <a:endParaRPr lang="en-US" sz="2400" dirty="0"/>
          </a:p>
        </p:txBody>
      </p:sp>
      <p:sp>
        <p:nvSpPr>
          <p:cNvPr id="21" name="Shape 14"/>
          <p:cNvSpPr/>
          <p:nvPr/>
        </p:nvSpPr>
        <p:spPr>
          <a:xfrm>
            <a:off x="9756374" y="2697480"/>
            <a:ext cx="1554480" cy="1554480"/>
          </a:xfrm>
          <a:prstGeom prst="ellipse">
            <a:avLst/>
          </a:prstGeom>
          <a:solidFill>
            <a:srgbClr val="1E2A4F"/>
          </a:solidFill>
          <a:ln w="38100">
            <a:solidFill>
              <a:srgbClr val="3FE8C2"/>
            </a:solidFill>
            <a:prstDash val="solid"/>
          </a:ln>
        </p:spPr>
      </p:sp>
      <p:pic>
        <p:nvPicPr>
          <p:cNvPr id="22" name="Image 4" descr="preencoded.png"/>
          <p:cNvPicPr>
            <a:picLocks noChangeAspect="1"/>
          </p:cNvPicPr>
          <p:nvPr/>
        </p:nvPicPr>
        <p:blipFill>
          <a:blip r:embed="rId7"/>
          <a:stretch>
            <a:fillRect/>
          </a:stretch>
        </p:blipFill>
        <p:spPr>
          <a:xfrm>
            <a:off x="10176083" y="3117190"/>
            <a:ext cx="715061" cy="715061"/>
          </a:xfrm>
          <a:prstGeom prst="rect">
            <a:avLst/>
          </a:prstGeom>
        </p:spPr>
      </p:pic>
      <p:sp>
        <p:nvSpPr>
          <p:cNvPr id="23" name="Text 15"/>
          <p:cNvSpPr txBox="1"/>
          <p:nvPr/>
        </p:nvSpPr>
        <p:spPr>
          <a:xfrm>
            <a:off x="9424172" y="4434840"/>
            <a:ext cx="2218883" cy="457200"/>
          </a:xfrm>
          <a:prstGeom prst="rect">
            <a:avLst/>
          </a:prstGeom>
          <a:noFill/>
          <a:ln/>
        </p:spPr>
        <p:txBody>
          <a:bodyPr wrap="square" lIns="0" tIns="0" rIns="0" bIns="0" rtlCol="0" anchor="t"/>
          <a:lstStyle/>
          <a:p>
            <a:pPr marL="0" indent="0" algn="ctr">
              <a:buNone/>
            </a:pPr>
            <a:r>
              <a:rPr lang="en-US" sz="2200" b="1" dirty="0">
                <a:latin typeface="BIZ UDゴシック" pitchFamily="34" charset="0"/>
                <a:ea typeface="BIZ UDゴシック" pitchFamily="49" charset="-128"/>
                <a:cs typeface="BIZ UDゴシック" pitchFamily="34" charset="-120"/>
              </a:rPr>
              <a:t>敵⑤</a:t>
            </a:r>
            <a:endParaRPr lang="en-US" sz="2200" dirty="0"/>
          </a:p>
        </p:txBody>
      </p:sp>
      <p:sp>
        <p:nvSpPr>
          <p:cNvPr id="24" name="Text 16"/>
          <p:cNvSpPr txBox="1"/>
          <p:nvPr/>
        </p:nvSpPr>
        <p:spPr>
          <a:xfrm>
            <a:off x="9515612" y="4892040"/>
            <a:ext cx="2036003" cy="914400"/>
          </a:xfrm>
          <a:prstGeom prst="rect">
            <a:avLst/>
          </a:prstGeom>
          <a:noFill/>
          <a:ln/>
        </p:spPr>
        <p:txBody>
          <a:bodyPr wrap="square" lIns="0" tIns="0" rIns="0" bIns="0" rtlCol="0" anchor="t"/>
          <a:lstStyle/>
          <a:p>
            <a:pPr marL="0" indent="0" algn="ctr">
              <a:buNone/>
            </a:pPr>
            <a:r>
              <a:rPr lang="en-US" sz="2400" b="1" dirty="0">
                <a:latin typeface="BIZ UDゴシック" pitchFamily="34" charset="0"/>
                <a:ea typeface="BIZ UDゴシック" pitchFamily="49" charset="-128"/>
                <a:cs typeface="BIZ UDゴシック" pitchFamily="34" charset="-120"/>
              </a:rPr>
              <a:t>環境と動線</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FA0C0"/>
                </a:solidFill>
                <a:latin typeface="BIZ UDゴシック"/>
                <a:ea typeface="BIZ UDゴシック"/>
                <a:cs typeface="BIZ UDゴシック"/>
              </a:defRPr>
            </a:lvl1pPr>
          </a:lstStyle>
          <a:p>
            <a:pPr algn="r"/>
            <a:fld id="{F7021451-1387-4CA6-816F-3879F97B5CBC}" type="slidenum">
              <a:rPr lang="en-US" b="0">
                <a:solidFill>
                  <a:schemeClr val="tx1"/>
                </a:solidFill>
              </a:rPr>
              <a:t>12</a:t>
            </a:fld>
            <a:endParaRPr lang="en-US">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124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3124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見えない敵① 思い込み</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「できている」という自己評価は、実際の行動を映さない</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出典：Jenner EA, et al. J Hosp Infect 2006</a:t>
            </a:r>
            <a:endParaRPr lang="en-US" sz="2000" dirty="0"/>
          </a:p>
        </p:txBody>
      </p:sp>
      <p:sp>
        <p:nvSpPr>
          <p:cNvPr id="7" name="Shape 4"/>
          <p:cNvSpPr/>
          <p:nvPr/>
        </p:nvSpPr>
        <p:spPr>
          <a:xfrm>
            <a:off x="548640" y="1965960"/>
            <a:ext cx="4480560" cy="2148840"/>
          </a:xfrm>
          <a:prstGeom prst="roundRect">
            <a:avLst>
              <a:gd name="adj" fmla="val 5106"/>
            </a:avLst>
          </a:prstGeom>
          <a:solidFill>
            <a:srgbClr val="EEF2F7"/>
          </a:solidFill>
          <a:ln w="12700">
            <a:solidFill>
              <a:srgbClr val="EEF2F7"/>
            </a:solidFill>
            <a:prstDash val="solid"/>
          </a:ln>
        </p:spPr>
      </p:sp>
      <p:sp>
        <p:nvSpPr>
          <p:cNvPr id="8" name="Shape 5"/>
          <p:cNvSpPr/>
          <p:nvPr/>
        </p:nvSpPr>
        <p:spPr>
          <a:xfrm>
            <a:off x="2377440" y="2148840"/>
            <a:ext cx="822960" cy="822960"/>
          </a:xfrm>
          <a:prstGeom prst="ellipse">
            <a:avLst/>
          </a:prstGeom>
          <a:solidFill>
            <a:srgbClr val="131B35"/>
          </a:solidFill>
          <a:ln w="12700">
            <a:solidFill>
              <a:srgbClr val="131B35"/>
            </a:solidFill>
            <a:prstDash val="solid"/>
          </a:ln>
        </p:spPr>
      </p:sp>
      <p:pic>
        <p:nvPicPr>
          <p:cNvPr id="9" name="Image 0" descr="preencoded.png"/>
          <p:cNvPicPr>
            <a:picLocks noChangeAspect="1"/>
          </p:cNvPicPr>
          <p:nvPr/>
        </p:nvPicPr>
        <p:blipFill>
          <a:blip r:embed="rId3"/>
          <a:stretch>
            <a:fillRect/>
          </a:stretch>
        </p:blipFill>
        <p:spPr>
          <a:xfrm>
            <a:off x="2574950" y="2346350"/>
            <a:ext cx="427939" cy="427939"/>
          </a:xfrm>
          <a:prstGeom prst="rect">
            <a:avLst/>
          </a:prstGeom>
        </p:spPr>
      </p:pic>
      <p:sp>
        <p:nvSpPr>
          <p:cNvPr id="10" name="Text 6"/>
          <p:cNvSpPr txBox="1"/>
          <p:nvPr/>
        </p:nvSpPr>
        <p:spPr>
          <a:xfrm>
            <a:off x="548640" y="3063240"/>
            <a:ext cx="448056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本人の意図・自己申告</a:t>
            </a:r>
            <a:endParaRPr lang="en-US" sz="2400" dirty="0"/>
          </a:p>
        </p:txBody>
      </p:sp>
      <p:sp>
        <p:nvSpPr>
          <p:cNvPr id="11" name="Text 7"/>
          <p:cNvSpPr txBox="1"/>
          <p:nvPr/>
        </p:nvSpPr>
        <p:spPr>
          <a:xfrm>
            <a:off x="548640" y="3520440"/>
            <a:ext cx="4480560" cy="411480"/>
          </a:xfrm>
          <a:prstGeom prst="rect">
            <a:avLst/>
          </a:prstGeom>
          <a:noFill/>
          <a:ln/>
        </p:spPr>
        <p:txBody>
          <a:bodyPr wrap="square" lIns="0" tIns="0" rIns="0" bIns="0" rtlCol="0" anchor="t"/>
          <a:lstStyle/>
          <a:p>
            <a:pPr marL="0" indent="0" algn="ctr">
              <a:buNone/>
            </a:pPr>
            <a:r>
              <a:rPr lang="en-US" sz="2200" dirty="0">
                <a:solidFill>
                  <a:srgbClr val="4F5B6B"/>
                </a:solidFill>
                <a:latin typeface="BIZ UDゴシック" pitchFamily="34" charset="0"/>
                <a:ea typeface="BIZ UDゴシック" pitchFamily="49" charset="-128"/>
                <a:cs typeface="BIZ UDゴシック" pitchFamily="34" charset="-120"/>
              </a:rPr>
              <a:t>「やっている」</a:t>
            </a:r>
            <a:endParaRPr lang="en-US" sz="2200" dirty="0"/>
          </a:p>
        </p:txBody>
      </p:sp>
      <p:sp>
        <p:nvSpPr>
          <p:cNvPr id="12" name="Shape 8"/>
          <p:cNvSpPr/>
          <p:nvPr/>
        </p:nvSpPr>
        <p:spPr>
          <a:xfrm>
            <a:off x="7162495" y="1965960"/>
            <a:ext cx="4480560" cy="2148840"/>
          </a:xfrm>
          <a:prstGeom prst="roundRect">
            <a:avLst>
              <a:gd name="adj" fmla="val 5106"/>
            </a:avLst>
          </a:prstGeom>
          <a:solidFill>
            <a:srgbClr val="EEF2F7"/>
          </a:solidFill>
          <a:ln w="12700">
            <a:solidFill>
              <a:srgbClr val="EEF2F7"/>
            </a:solidFill>
            <a:prstDash val="solid"/>
          </a:ln>
        </p:spPr>
      </p:sp>
      <p:sp>
        <p:nvSpPr>
          <p:cNvPr id="13" name="Shape 9"/>
          <p:cNvSpPr/>
          <p:nvPr/>
        </p:nvSpPr>
        <p:spPr>
          <a:xfrm>
            <a:off x="8991295" y="2148840"/>
            <a:ext cx="822960" cy="822960"/>
          </a:xfrm>
          <a:prstGeom prst="ellipse">
            <a:avLst/>
          </a:prstGeom>
          <a:solidFill>
            <a:srgbClr val="D1480E"/>
          </a:solidFill>
          <a:ln w="12700">
            <a:solidFill>
              <a:srgbClr val="D1480E"/>
            </a:solidFill>
            <a:prstDash val="solid"/>
          </a:ln>
        </p:spPr>
      </p:sp>
      <p:pic>
        <p:nvPicPr>
          <p:cNvPr id="14" name="Image 1" descr="preencoded.png"/>
          <p:cNvPicPr>
            <a:picLocks noChangeAspect="1"/>
          </p:cNvPicPr>
          <p:nvPr/>
        </p:nvPicPr>
        <p:blipFill>
          <a:blip r:embed="rId4"/>
          <a:stretch>
            <a:fillRect/>
          </a:stretch>
        </p:blipFill>
        <p:spPr>
          <a:xfrm>
            <a:off x="9188806" y="2346350"/>
            <a:ext cx="427939" cy="427939"/>
          </a:xfrm>
          <a:prstGeom prst="rect">
            <a:avLst/>
          </a:prstGeom>
        </p:spPr>
      </p:pic>
      <p:sp>
        <p:nvSpPr>
          <p:cNvPr id="15" name="Text 10"/>
          <p:cNvSpPr txBox="1"/>
          <p:nvPr/>
        </p:nvSpPr>
        <p:spPr>
          <a:xfrm>
            <a:off x="7162495" y="3063240"/>
            <a:ext cx="448056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実際に観察された行動</a:t>
            </a:r>
            <a:endParaRPr lang="en-US" sz="2400" dirty="0"/>
          </a:p>
        </p:txBody>
      </p:sp>
      <p:sp>
        <p:nvSpPr>
          <p:cNvPr id="16" name="Text 11"/>
          <p:cNvSpPr txBox="1"/>
          <p:nvPr/>
        </p:nvSpPr>
        <p:spPr>
          <a:xfrm>
            <a:off x="7162495" y="3520440"/>
            <a:ext cx="4480560" cy="411480"/>
          </a:xfrm>
          <a:prstGeom prst="rect">
            <a:avLst/>
          </a:prstGeom>
          <a:noFill/>
          <a:ln/>
        </p:spPr>
        <p:txBody>
          <a:bodyPr wrap="square" lIns="0" tIns="0" rIns="0" bIns="0" rtlCol="0" anchor="t"/>
          <a:lstStyle/>
          <a:p>
            <a:pPr marL="0" indent="0" algn="ctr">
              <a:buNone/>
            </a:pPr>
            <a:r>
              <a:rPr lang="en-US" sz="2200" dirty="0">
                <a:solidFill>
                  <a:srgbClr val="4F5B6B"/>
                </a:solidFill>
                <a:latin typeface="BIZ UDゴシック" pitchFamily="34" charset="0"/>
                <a:ea typeface="BIZ UDゴシック" pitchFamily="49" charset="-128"/>
                <a:cs typeface="BIZ UDゴシック" pitchFamily="34" charset="-120"/>
              </a:rPr>
              <a:t>遵守率は非常に低い</a:t>
            </a:r>
            <a:endParaRPr lang="en-US" sz="2200" dirty="0"/>
          </a:p>
        </p:txBody>
      </p:sp>
      <p:pic>
        <p:nvPicPr>
          <p:cNvPr id="17" name="Image 2" descr="preencoded.png"/>
          <p:cNvPicPr>
            <a:picLocks noChangeAspect="1"/>
          </p:cNvPicPr>
          <p:nvPr/>
        </p:nvPicPr>
        <p:blipFill>
          <a:blip r:embed="rId5"/>
          <a:stretch>
            <a:fillRect/>
          </a:stretch>
        </p:blipFill>
        <p:spPr>
          <a:xfrm>
            <a:off x="5592928" y="2514600"/>
            <a:ext cx="1005840" cy="1005840"/>
          </a:xfrm>
          <a:prstGeom prst="rect">
            <a:avLst/>
          </a:prstGeom>
        </p:spPr>
      </p:pic>
      <p:sp>
        <p:nvSpPr>
          <p:cNvPr id="18" name="Shape 12"/>
          <p:cNvSpPr/>
          <p:nvPr/>
        </p:nvSpPr>
        <p:spPr>
          <a:xfrm>
            <a:off x="548640" y="4343400"/>
            <a:ext cx="11094415" cy="1645920"/>
          </a:xfrm>
          <a:prstGeom prst="roundRect">
            <a:avLst>
              <a:gd name="adj" fmla="val 6667"/>
            </a:avLst>
          </a:prstGeom>
          <a:solidFill>
            <a:srgbClr val="E3F7F2"/>
          </a:solidFill>
          <a:ln w="12700">
            <a:solidFill>
              <a:srgbClr val="E3F7F2"/>
            </a:solidFill>
            <a:prstDash val="solid"/>
          </a:ln>
        </p:spPr>
      </p:sp>
      <p:sp>
        <p:nvSpPr>
          <p:cNvPr id="19" name="Text 13"/>
          <p:cNvSpPr txBox="1"/>
          <p:nvPr/>
        </p:nvSpPr>
        <p:spPr>
          <a:xfrm>
            <a:off x="804672" y="4572000"/>
            <a:ext cx="10582351" cy="1188720"/>
          </a:xfrm>
          <a:prstGeom prst="rect">
            <a:avLst/>
          </a:prstGeom>
          <a:noFill/>
          <a:ln/>
        </p:spPr>
        <p:txBody>
          <a:bodyPr wrap="square" lIns="0" tIns="0" rIns="0" bIns="0" rtlCol="0" anchor="ctr"/>
          <a:lstStyle/>
          <a:p>
            <a:pPr marL="0" indent="0">
              <a:spcAft>
                <a:spcPts val="400"/>
              </a:spcAft>
              <a:buNone/>
            </a:pPr>
            <a:r>
              <a:rPr lang="en-US" sz="2200" b="1" dirty="0">
                <a:solidFill>
                  <a:srgbClr val="131B35"/>
                </a:solidFill>
                <a:latin typeface="BIZ UDゴシック" pitchFamily="34" charset="0"/>
                <a:ea typeface="BIZ UDゴシック" pitchFamily="49" charset="-128"/>
                <a:cs typeface="BIZ UDゴシック" pitchFamily="34" charset="-120"/>
              </a:rPr>
              <a:t>71名・1,284回の手指衛生機会を観察</a:t>
            </a:r>
            <a:endParaRPr lang="en-US" sz="2200" dirty="0"/>
          </a:p>
          <a:p>
            <a:pPr marL="0" indent="0">
              <a:spcAft>
                <a:spcPts val="400"/>
              </a:spcAft>
              <a:buNone/>
            </a:pPr>
            <a:r>
              <a:rPr lang="en-US" sz="2200" dirty="0">
                <a:solidFill>
                  <a:srgbClr val="1B2333"/>
                </a:solidFill>
                <a:latin typeface="BIZ UDゴシック" pitchFamily="34" charset="0"/>
                <a:ea typeface="BIZ UDゴシック" pitchFamily="49" charset="-128"/>
                <a:cs typeface="BIZ UDゴシック" pitchFamily="34" charset="-120"/>
              </a:rPr>
              <a:t>→ 実際の行動は、本人の意図や自己申告と関連しなかった</a:t>
            </a:r>
            <a:endParaRPr lang="en-US" sz="2200" dirty="0"/>
          </a:p>
          <a:p>
            <a:pPr marL="0" indent="0">
              <a:spcAft>
                <a:spcPts val="400"/>
              </a:spcAft>
              <a:buNone/>
            </a:pPr>
            <a:r>
              <a:rPr lang="en-US" sz="2200" b="1" dirty="0">
                <a:solidFill>
                  <a:srgbClr val="0B7A70"/>
                </a:solidFill>
                <a:latin typeface="BIZ UDゴシック" pitchFamily="34" charset="0"/>
                <a:ea typeface="BIZ UDゴシック" pitchFamily="49" charset="-128"/>
                <a:cs typeface="BIZ UDゴシック" pitchFamily="34" charset="-120"/>
              </a:rPr>
              <a:t>→ アンケートや意識調査だけでは、行動は見えない</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124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3124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見えない敵① 思い込み</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「自分は大丈夫」という過信が、メッセージを無力にする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出典：Grant AM, Hofmann DA. Psychol Sci 2011</a:t>
            </a:r>
            <a:endParaRPr lang="en-US" sz="2000" dirty="0"/>
          </a:p>
        </p:txBody>
      </p:sp>
      <p:sp>
        <p:nvSpPr>
          <p:cNvPr id="7" name="Shape 4"/>
          <p:cNvSpPr/>
          <p:nvPr/>
        </p:nvSpPr>
        <p:spPr>
          <a:xfrm>
            <a:off x="548640" y="1965960"/>
            <a:ext cx="5303520" cy="2148840"/>
          </a:xfrm>
          <a:prstGeom prst="roundRect">
            <a:avLst>
              <a:gd name="adj" fmla="val 5106"/>
            </a:avLst>
          </a:prstGeom>
          <a:solidFill>
            <a:srgbClr val="FFFFFF"/>
          </a:solidFill>
          <a:ln w="25400">
            <a:solidFill>
              <a:srgbClr val="8A96A8"/>
            </a:solidFill>
            <a:prstDash val="solid"/>
          </a:ln>
        </p:spPr>
      </p:sp>
      <p:sp>
        <p:nvSpPr>
          <p:cNvPr id="8" name="Text 5"/>
          <p:cNvSpPr txBox="1"/>
          <p:nvPr/>
        </p:nvSpPr>
        <p:spPr>
          <a:xfrm>
            <a:off x="777240" y="2057400"/>
            <a:ext cx="18288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掲示A</a:t>
            </a:r>
            <a:endParaRPr lang="en-US" sz="2000" dirty="0"/>
          </a:p>
        </p:txBody>
      </p:sp>
      <p:sp>
        <p:nvSpPr>
          <p:cNvPr id="9" name="Text 6"/>
          <p:cNvSpPr txBox="1"/>
          <p:nvPr/>
        </p:nvSpPr>
        <p:spPr>
          <a:xfrm>
            <a:off x="731520" y="2468880"/>
            <a:ext cx="4937760" cy="1463040"/>
          </a:xfrm>
          <a:prstGeom prst="rect">
            <a:avLst/>
          </a:prstGeom>
          <a:noFill/>
          <a:ln/>
        </p:spPr>
        <p:txBody>
          <a:bodyPr wrap="square" lIns="0" tIns="0" rIns="0" bIns="0" rtlCol="0" anchor="ctr"/>
          <a:lstStyle/>
          <a:p>
            <a:pPr marL="0" indent="0" algn="ctr">
              <a:buNone/>
            </a:pPr>
            <a:r>
              <a:rPr lang="en-US" sz="2400" dirty="0">
                <a:solidFill>
                  <a:srgbClr val="1B2333"/>
                </a:solidFill>
                <a:latin typeface="BIZ UDゴシック" pitchFamily="34" charset="0"/>
                <a:ea typeface="BIZ UDゴシック" pitchFamily="49" charset="-128"/>
                <a:cs typeface="BIZ UDゴシック" pitchFamily="34" charset="-120"/>
              </a:rPr>
              <a:t>手指衛生で、</a:t>
            </a:r>
            <a:endParaRPr lang="en-US" sz="2400" dirty="0"/>
          </a:p>
          <a:p>
            <a:pPr marL="0" indent="0" algn="ctr">
              <a:buNone/>
            </a:pPr>
            <a:r>
              <a:rPr lang="en-US" sz="2400" b="1" u="sng" dirty="0">
                <a:solidFill>
                  <a:srgbClr val="D1480E"/>
                </a:solidFill>
                <a:latin typeface="BIZ UDゴシック" pitchFamily="34" charset="0"/>
                <a:ea typeface="BIZ UDゴシック" pitchFamily="49" charset="-128"/>
                <a:cs typeface="BIZ UDゴシック" pitchFamily="34" charset="-120"/>
              </a:rPr>
              <a:t>あなた</a:t>
            </a:r>
            <a:r>
              <a:rPr lang="en-US" sz="2400" dirty="0">
                <a:solidFill>
                  <a:srgbClr val="1B2333"/>
                </a:solidFill>
                <a:latin typeface="BIZ UDゴシック" pitchFamily="34" charset="0"/>
                <a:ea typeface="BIZ UDゴシック" pitchFamily="49" charset="-128"/>
                <a:cs typeface="BIZ UDゴシック" pitchFamily="34" charset="-120"/>
              </a:rPr>
              <a:t>が病気になるのを防げます</a:t>
            </a:r>
            <a:endParaRPr lang="en-US" sz="2400" dirty="0"/>
          </a:p>
        </p:txBody>
      </p:sp>
      <p:sp>
        <p:nvSpPr>
          <p:cNvPr id="10" name="Shape 7"/>
          <p:cNvSpPr/>
          <p:nvPr/>
        </p:nvSpPr>
        <p:spPr>
          <a:xfrm>
            <a:off x="548640" y="4297680"/>
            <a:ext cx="5303520" cy="731520"/>
          </a:xfrm>
          <a:prstGeom prst="roundRect">
            <a:avLst>
              <a:gd name="adj" fmla="val 15000"/>
            </a:avLst>
          </a:prstGeom>
          <a:solidFill>
            <a:srgbClr val="EEF2F7"/>
          </a:solidFill>
          <a:ln w="12700">
            <a:solidFill>
              <a:srgbClr val="EEF2F7"/>
            </a:solidFill>
            <a:prstDash val="solid"/>
          </a:ln>
        </p:spPr>
      </p:sp>
      <p:sp>
        <p:nvSpPr>
          <p:cNvPr id="11" name="Text 8"/>
          <p:cNvSpPr txBox="1"/>
          <p:nvPr/>
        </p:nvSpPr>
        <p:spPr>
          <a:xfrm>
            <a:off x="548640" y="4297680"/>
            <a:ext cx="5303520" cy="731520"/>
          </a:xfrm>
          <a:prstGeom prst="rect">
            <a:avLst/>
          </a:prstGeom>
          <a:noFill/>
          <a:ln/>
        </p:spPr>
        <p:txBody>
          <a:bodyPr wrap="square" lIns="0" tIns="0" rIns="0" bIns="0" rtlCol="0" anchor="ctr"/>
          <a:lstStyle/>
          <a:p>
            <a:pPr marL="0" indent="0" algn="ctr">
              <a:buNone/>
            </a:pPr>
            <a:r>
              <a:rPr lang="en-US" sz="2600" b="1" dirty="0">
                <a:solidFill>
                  <a:srgbClr val="4F5B6B"/>
                </a:solidFill>
                <a:latin typeface="BIZ UDゴシック" pitchFamily="34" charset="0"/>
                <a:ea typeface="BIZ UDゴシック" pitchFamily="49" charset="-128"/>
                <a:cs typeface="BIZ UDゴシック" pitchFamily="34" charset="-120"/>
              </a:rPr>
              <a:t>→ 変化なし</a:t>
            </a:r>
            <a:endParaRPr lang="en-US" sz="2600" dirty="0"/>
          </a:p>
        </p:txBody>
      </p:sp>
      <p:sp>
        <p:nvSpPr>
          <p:cNvPr id="12" name="Shape 9"/>
          <p:cNvSpPr/>
          <p:nvPr/>
        </p:nvSpPr>
        <p:spPr>
          <a:xfrm>
            <a:off x="6339535" y="1965960"/>
            <a:ext cx="5303520" cy="2148840"/>
          </a:xfrm>
          <a:prstGeom prst="roundRect">
            <a:avLst>
              <a:gd name="adj" fmla="val 5106"/>
            </a:avLst>
          </a:prstGeom>
          <a:solidFill>
            <a:srgbClr val="FFFFFF"/>
          </a:solidFill>
          <a:ln w="25400">
            <a:solidFill>
              <a:srgbClr val="8A96A8"/>
            </a:solidFill>
            <a:prstDash val="solid"/>
          </a:ln>
        </p:spPr>
      </p:sp>
      <p:sp>
        <p:nvSpPr>
          <p:cNvPr id="13" name="Text 10"/>
          <p:cNvSpPr txBox="1"/>
          <p:nvPr/>
        </p:nvSpPr>
        <p:spPr>
          <a:xfrm>
            <a:off x="6568135" y="2057400"/>
            <a:ext cx="1828800" cy="384048"/>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掲示B</a:t>
            </a:r>
            <a:endParaRPr lang="en-US" sz="2000" dirty="0"/>
          </a:p>
        </p:txBody>
      </p:sp>
      <p:sp>
        <p:nvSpPr>
          <p:cNvPr id="14" name="Text 11"/>
          <p:cNvSpPr txBox="1"/>
          <p:nvPr/>
        </p:nvSpPr>
        <p:spPr>
          <a:xfrm>
            <a:off x="6522415" y="2468880"/>
            <a:ext cx="4937760" cy="1463040"/>
          </a:xfrm>
          <a:prstGeom prst="rect">
            <a:avLst/>
          </a:prstGeom>
          <a:noFill/>
          <a:ln/>
        </p:spPr>
        <p:txBody>
          <a:bodyPr wrap="square" lIns="0" tIns="0" rIns="0" bIns="0" rtlCol="0" anchor="ctr"/>
          <a:lstStyle/>
          <a:p>
            <a:pPr marL="0" indent="0" algn="ctr">
              <a:buNone/>
            </a:pPr>
            <a:r>
              <a:rPr lang="en-US" sz="2400" dirty="0">
                <a:solidFill>
                  <a:srgbClr val="1B2333"/>
                </a:solidFill>
                <a:latin typeface="BIZ UDゴシック" pitchFamily="34" charset="0"/>
                <a:ea typeface="BIZ UDゴシック" pitchFamily="49" charset="-128"/>
                <a:cs typeface="BIZ UDゴシック" pitchFamily="34" charset="-120"/>
              </a:rPr>
              <a:t>手指衛生で、</a:t>
            </a:r>
            <a:endParaRPr lang="en-US" sz="2400" dirty="0"/>
          </a:p>
          <a:p>
            <a:pPr marL="0" indent="0" algn="ctr">
              <a:buNone/>
            </a:pPr>
            <a:r>
              <a:rPr lang="en-US" sz="2400" b="1" u="sng" dirty="0">
                <a:solidFill>
                  <a:srgbClr val="0B7A70"/>
                </a:solidFill>
                <a:latin typeface="BIZ UDゴシック" pitchFamily="34" charset="0"/>
                <a:ea typeface="BIZ UDゴシック" pitchFamily="49" charset="-128"/>
                <a:cs typeface="BIZ UDゴシック" pitchFamily="34" charset="-120"/>
              </a:rPr>
              <a:t>患者さん</a:t>
            </a:r>
            <a:r>
              <a:rPr lang="en-US" sz="2400" dirty="0">
                <a:solidFill>
                  <a:srgbClr val="1B2333"/>
                </a:solidFill>
                <a:latin typeface="BIZ UDゴシック" pitchFamily="34" charset="0"/>
                <a:ea typeface="BIZ UDゴシック" pitchFamily="49" charset="-128"/>
                <a:cs typeface="BIZ UDゴシック" pitchFamily="34" charset="-120"/>
              </a:rPr>
              <a:t>が病気になるのを防げます</a:t>
            </a:r>
            <a:endParaRPr lang="en-US" sz="2400" dirty="0"/>
          </a:p>
        </p:txBody>
      </p:sp>
      <p:sp>
        <p:nvSpPr>
          <p:cNvPr id="15" name="Shape 12"/>
          <p:cNvSpPr/>
          <p:nvPr/>
        </p:nvSpPr>
        <p:spPr>
          <a:xfrm>
            <a:off x="6339535" y="4297680"/>
            <a:ext cx="5303520" cy="731520"/>
          </a:xfrm>
          <a:prstGeom prst="roundRect">
            <a:avLst>
              <a:gd name="adj" fmla="val 15000"/>
            </a:avLst>
          </a:prstGeom>
          <a:solidFill>
            <a:srgbClr val="E3F7F2"/>
          </a:solidFill>
          <a:ln w="12700">
            <a:solidFill>
              <a:srgbClr val="E3F7F2"/>
            </a:solidFill>
            <a:prstDash val="solid"/>
          </a:ln>
        </p:spPr>
      </p:sp>
      <p:sp>
        <p:nvSpPr>
          <p:cNvPr id="16" name="Text 13"/>
          <p:cNvSpPr txBox="1"/>
          <p:nvPr/>
        </p:nvSpPr>
        <p:spPr>
          <a:xfrm>
            <a:off x="6339535" y="4297680"/>
            <a:ext cx="5303520" cy="731520"/>
          </a:xfrm>
          <a:prstGeom prst="rect">
            <a:avLst/>
          </a:prstGeom>
          <a:noFill/>
          <a:ln/>
        </p:spPr>
        <p:txBody>
          <a:bodyPr wrap="square" lIns="0" tIns="0" rIns="0" bIns="0" rtlCol="0" anchor="ctr"/>
          <a:lstStyle/>
          <a:p>
            <a:pPr marL="0" indent="0" algn="ctr">
              <a:buNone/>
            </a:pPr>
            <a:r>
              <a:rPr lang="en-US" sz="2600" b="1" dirty="0">
                <a:solidFill>
                  <a:srgbClr val="0B7A70"/>
                </a:solidFill>
                <a:latin typeface="BIZ UDゴシック" pitchFamily="34" charset="0"/>
                <a:ea typeface="BIZ UDゴシック" pitchFamily="49" charset="-128"/>
                <a:cs typeface="BIZ UDゴシック" pitchFamily="34" charset="-120"/>
              </a:rPr>
              <a:t>→ 手指衛生が有意に増加</a:t>
            </a:r>
            <a:endParaRPr lang="en-US" sz="2600" dirty="0"/>
          </a:p>
        </p:txBody>
      </p:sp>
      <p:sp>
        <p:nvSpPr>
          <p:cNvPr id="17" name="Text 14"/>
          <p:cNvSpPr txBox="1"/>
          <p:nvPr/>
        </p:nvSpPr>
        <p:spPr>
          <a:xfrm>
            <a:off x="548640" y="5303520"/>
            <a:ext cx="11094415" cy="548640"/>
          </a:xfrm>
          <a:prstGeom prst="rect">
            <a:avLst/>
          </a:prstGeom>
          <a:noFill/>
          <a:ln/>
        </p:spPr>
        <p:txBody>
          <a:bodyPr wrap="square" lIns="0" tIns="0" rIns="0" bIns="0" rtlCol="0" anchor="ctr"/>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違いは主語の1語だけ（病院での2つのフィールド実験）</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4140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4140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見えない敵② 見られている効果</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「見られている」と、手指衛生は約3倍になる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出典：Srigley JA, et al. BMJ Qual Saf 2014</a:t>
            </a:r>
            <a:endParaRPr lang="en-US" sz="2000" dirty="0"/>
          </a:p>
        </p:txBody>
      </p:sp>
      <p:sp>
        <p:nvSpPr>
          <p:cNvPr id="7" name="Text 4"/>
          <p:cNvSpPr txBox="1"/>
          <p:nvPr/>
        </p:nvSpPr>
        <p:spPr>
          <a:xfrm>
            <a:off x="548640" y="1783080"/>
            <a:ext cx="5852160" cy="36576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監査者の見え方別の手指衛生回数（回／台／時）</a:t>
            </a:r>
            <a:endParaRPr lang="en-US" sz="2000" dirty="0"/>
          </a:p>
        </p:txBody>
      </p:sp>
      <p:graphicFrame>
        <p:nvGraphicFramePr>
          <p:cNvPr id="8" name="Chart 0"/>
          <p:cNvGraphicFramePr/>
          <p:nvPr/>
        </p:nvGraphicFramePr>
        <p:xfrm>
          <a:off x="548640" y="2148840"/>
          <a:ext cx="55778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492240" y="2011680"/>
            <a:ext cx="5150815" cy="3931920"/>
          </a:xfrm>
          <a:prstGeom prst="roundRect">
            <a:avLst>
              <a:gd name="adj" fmla="val 2791"/>
            </a:avLst>
          </a:prstGeom>
          <a:solidFill>
            <a:srgbClr val="EEF2F7"/>
          </a:solidFill>
          <a:ln w="12700">
            <a:solidFill>
              <a:srgbClr val="EEF2F7"/>
            </a:solidFill>
            <a:prstDash val="solid"/>
          </a:ln>
        </p:spPr>
      </p:sp>
      <p:sp>
        <p:nvSpPr>
          <p:cNvPr id="10" name="Text 6"/>
          <p:cNvSpPr txBox="1"/>
          <p:nvPr/>
        </p:nvSpPr>
        <p:spPr>
          <a:xfrm>
            <a:off x="6748272" y="2240280"/>
            <a:ext cx="4638751" cy="3474720"/>
          </a:xfrm>
          <a:prstGeom prst="rect">
            <a:avLst/>
          </a:prstGeom>
          <a:noFill/>
          <a:ln/>
        </p:spPr>
        <p:txBody>
          <a:bodyPr wrap="square" lIns="0" tIns="0" rIns="0" bIns="0" rtlCol="0" anchor="t"/>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電子システムで8か月間、</a:t>
            </a:r>
            <a:endParaRPr lang="en-US" sz="2200" dirty="0"/>
          </a:p>
          <a:p>
            <a:pPr marL="0" indent="0">
              <a:spcAft>
                <a:spcPts val="1600"/>
              </a:spcAft>
              <a:buNone/>
            </a:pPr>
            <a:r>
              <a:rPr lang="en-US" sz="2200" b="1" dirty="0">
                <a:solidFill>
                  <a:srgbClr val="131B35"/>
                </a:solidFill>
                <a:latin typeface="BIZ UDゴシック" pitchFamily="34" charset="0"/>
                <a:ea typeface="BIZ UDゴシック" pitchFamily="49" charset="-128"/>
                <a:cs typeface="BIZ UDゴシック" pitchFamily="34" charset="-120"/>
              </a:rPr>
              <a:t>全ての手指衛生を記録</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監査者が見える廊下でだけ急増</a:t>
            </a:r>
            <a:endParaRPr lang="en-US" sz="2200" dirty="0"/>
          </a:p>
          <a:p>
            <a:pPr marL="0" indent="0">
              <a:spcAft>
                <a:spcPts val="1600"/>
              </a:spcAft>
              <a:buNone/>
            </a:pPr>
            <a:r>
              <a:rPr lang="en-US" sz="2200" dirty="0">
                <a:solidFill>
                  <a:srgbClr val="1B2333"/>
                </a:solidFill>
                <a:latin typeface="BIZ UDゴシック" pitchFamily="34" charset="0"/>
                <a:ea typeface="BIZ UDゴシック" pitchFamily="49" charset="-128"/>
                <a:cs typeface="BIZ UDゴシック" pitchFamily="34" charset="-120"/>
              </a:rPr>
              <a:t>病室内では変化なし</a:t>
            </a:r>
            <a:endParaRPr lang="en-US" sz="2200" dirty="0"/>
          </a:p>
          <a:p>
            <a:pPr marL="0" indent="0">
              <a:buNone/>
            </a:pPr>
            <a:r>
              <a:rPr lang="en-US" sz="2200" b="1" dirty="0">
                <a:solidFill>
                  <a:srgbClr val="0B7A70"/>
                </a:solidFill>
                <a:latin typeface="BIZ UDゴシック" pitchFamily="34" charset="0"/>
                <a:ea typeface="BIZ UDゴシック" pitchFamily="49" charset="-128"/>
                <a:cs typeface="BIZ UDゴシック" pitchFamily="34" charset="-120"/>
              </a:rPr>
              <a:t>→ 監査の遵守率は、実際より</a:t>
            </a:r>
            <a:endParaRPr lang="en-US" sz="2200" dirty="0"/>
          </a:p>
          <a:p>
            <a:pPr marL="0" indent="0">
              <a:spcAft>
                <a:spcPts val="1600"/>
              </a:spcAft>
              <a:buNone/>
            </a:pPr>
            <a:r>
              <a:rPr lang="en-US" sz="2200" b="1" dirty="0">
                <a:solidFill>
                  <a:srgbClr val="0B7A70"/>
                </a:solidFill>
                <a:latin typeface="BIZ UDゴシック" pitchFamily="34" charset="0"/>
                <a:ea typeface="BIZ UDゴシック" pitchFamily="49" charset="-128"/>
                <a:cs typeface="BIZ UDゴシック" pitchFamily="34" charset="-120"/>
              </a:rPr>
              <a:t>高く見えている可能性</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4140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4140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見えない敵② 見られている効果</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物差しを組み合わせて、行動の「素顔」を見る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出典：Srigley JA, et al. 2014; Pittet D, et al. Ann Intern Med 2004</a:t>
            </a:r>
            <a:endParaRPr lang="en-US" sz="2000" dirty="0"/>
          </a:p>
        </p:txBody>
      </p:sp>
      <p:sp>
        <p:nvSpPr>
          <p:cNvPr id="7" name="Shape 4"/>
          <p:cNvSpPr/>
          <p:nvPr/>
        </p:nvSpPr>
        <p:spPr>
          <a:xfrm>
            <a:off x="548640" y="1965960"/>
            <a:ext cx="3474720" cy="3246120"/>
          </a:xfrm>
          <a:prstGeom prst="roundRect">
            <a:avLst>
              <a:gd name="adj" fmla="val 3380"/>
            </a:avLst>
          </a:prstGeom>
          <a:solidFill>
            <a:srgbClr val="EEF2F7"/>
          </a:solidFill>
          <a:ln w="12700">
            <a:solidFill>
              <a:srgbClr val="EEF2F7"/>
            </a:solidFill>
            <a:prstDash val="solid"/>
          </a:ln>
        </p:spPr>
      </p:sp>
      <p:sp>
        <p:nvSpPr>
          <p:cNvPr id="8" name="Shape 5"/>
          <p:cNvSpPr/>
          <p:nvPr/>
        </p:nvSpPr>
        <p:spPr>
          <a:xfrm>
            <a:off x="1874520" y="2148840"/>
            <a:ext cx="822960" cy="822960"/>
          </a:xfrm>
          <a:prstGeom prst="ellipse">
            <a:avLst/>
          </a:prstGeom>
          <a:solidFill>
            <a:srgbClr val="131B35"/>
          </a:solidFill>
          <a:ln w="12700">
            <a:solidFill>
              <a:srgbClr val="131B35"/>
            </a:solidFill>
            <a:prstDash val="solid"/>
          </a:ln>
        </p:spPr>
      </p:sp>
      <p:pic>
        <p:nvPicPr>
          <p:cNvPr id="9" name="Image 0" descr="preencoded.png"/>
          <p:cNvPicPr>
            <a:picLocks noChangeAspect="1"/>
          </p:cNvPicPr>
          <p:nvPr/>
        </p:nvPicPr>
        <p:blipFill>
          <a:blip r:embed="rId3"/>
          <a:stretch>
            <a:fillRect/>
          </a:stretch>
        </p:blipFill>
        <p:spPr>
          <a:xfrm>
            <a:off x="2072030" y="2346350"/>
            <a:ext cx="427939" cy="427939"/>
          </a:xfrm>
          <a:prstGeom prst="rect">
            <a:avLst/>
          </a:prstGeom>
        </p:spPr>
      </p:pic>
      <p:sp>
        <p:nvSpPr>
          <p:cNvPr id="10" name="Text 6"/>
          <p:cNvSpPr txBox="1"/>
          <p:nvPr/>
        </p:nvSpPr>
        <p:spPr>
          <a:xfrm>
            <a:off x="548640" y="3063240"/>
            <a:ext cx="347472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直接観察</a:t>
            </a:r>
            <a:endParaRPr lang="en-US" sz="2400" dirty="0"/>
          </a:p>
        </p:txBody>
      </p:sp>
      <p:sp>
        <p:nvSpPr>
          <p:cNvPr id="11" name="Text 7"/>
          <p:cNvSpPr txBox="1"/>
          <p:nvPr/>
        </p:nvSpPr>
        <p:spPr>
          <a:xfrm>
            <a:off x="731520" y="3657600"/>
            <a:ext cx="3108960" cy="1417320"/>
          </a:xfrm>
          <a:prstGeom prst="rect">
            <a:avLst/>
          </a:prstGeom>
          <a:noFill/>
          <a:ln/>
        </p:spPr>
        <p:txBody>
          <a:bodyPr wrap="square" lIns="0" tIns="0" rIns="0" bIns="0" rtlCol="0" anchor="t"/>
          <a:lstStyle/>
          <a:p>
            <a:pPr marL="0" indent="0">
              <a:spcAft>
                <a:spcPts val="600"/>
              </a:spcAft>
              <a:buNone/>
            </a:pPr>
            <a:r>
              <a:rPr lang="en-US" sz="2000" b="1" dirty="0">
                <a:solidFill>
                  <a:srgbClr val="0B7A70"/>
                </a:solidFill>
                <a:latin typeface="BIZ UDゴシック" pitchFamily="34" charset="0"/>
                <a:ea typeface="BIZ UDゴシック" pitchFamily="49" charset="-128"/>
                <a:cs typeface="BIZ UDゴシック" pitchFamily="34" charset="-120"/>
              </a:rPr>
              <a:t>わかる：</a:t>
            </a:r>
            <a:r>
              <a:rPr lang="en-US" sz="2000" dirty="0">
                <a:solidFill>
                  <a:srgbClr val="1B2333"/>
                </a:solidFill>
                <a:latin typeface="BIZ UDゴシック" pitchFamily="34" charset="0"/>
                <a:ea typeface="BIZ UDゴシック" pitchFamily="49" charset="-128"/>
                <a:cs typeface="BIZ UDゴシック" pitchFamily="34" charset="-120"/>
              </a:rPr>
              <a:t>タイミング・手技</a:t>
            </a:r>
            <a:endParaRPr lang="en-US" sz="2000" dirty="0"/>
          </a:p>
          <a:p>
            <a:pPr marL="0" indent="0">
              <a:spcAft>
                <a:spcPts val="600"/>
              </a:spcAft>
              <a:buNone/>
            </a:pPr>
            <a:r>
              <a:rPr lang="en-US" sz="2000" b="1" dirty="0">
                <a:solidFill>
                  <a:srgbClr val="D1480E"/>
                </a:solidFill>
                <a:latin typeface="BIZ UDゴシック" pitchFamily="34" charset="0"/>
                <a:ea typeface="BIZ UDゴシック" pitchFamily="49" charset="-128"/>
                <a:cs typeface="BIZ UDゴシック" pitchFamily="34" charset="-120"/>
              </a:rPr>
              <a:t>弱点：</a:t>
            </a:r>
            <a:r>
              <a:rPr lang="en-US" sz="2000" dirty="0">
                <a:solidFill>
                  <a:srgbClr val="1B2333"/>
                </a:solidFill>
                <a:latin typeface="BIZ UDゴシック" pitchFamily="34" charset="0"/>
                <a:ea typeface="BIZ UDゴシック" pitchFamily="49" charset="-128"/>
                <a:cs typeface="BIZ UDゴシック" pitchFamily="34" charset="-120"/>
              </a:rPr>
              <a:t>見られている効果</a:t>
            </a:r>
            <a:endParaRPr lang="en-US" sz="2000" dirty="0"/>
          </a:p>
        </p:txBody>
      </p:sp>
      <p:sp>
        <p:nvSpPr>
          <p:cNvPr id="12" name="Shape 8"/>
          <p:cNvSpPr/>
          <p:nvPr/>
        </p:nvSpPr>
        <p:spPr>
          <a:xfrm>
            <a:off x="4358488" y="1965960"/>
            <a:ext cx="3474720" cy="3246120"/>
          </a:xfrm>
          <a:prstGeom prst="roundRect">
            <a:avLst>
              <a:gd name="adj" fmla="val 3380"/>
            </a:avLst>
          </a:prstGeom>
          <a:solidFill>
            <a:srgbClr val="EEF2F7"/>
          </a:solidFill>
          <a:ln w="12700">
            <a:solidFill>
              <a:srgbClr val="EEF2F7"/>
            </a:solidFill>
            <a:prstDash val="solid"/>
          </a:ln>
        </p:spPr>
      </p:sp>
      <p:sp>
        <p:nvSpPr>
          <p:cNvPr id="13" name="Shape 9"/>
          <p:cNvSpPr/>
          <p:nvPr/>
        </p:nvSpPr>
        <p:spPr>
          <a:xfrm>
            <a:off x="5684368" y="2148840"/>
            <a:ext cx="822960" cy="822960"/>
          </a:xfrm>
          <a:prstGeom prst="ellipse">
            <a:avLst/>
          </a:prstGeom>
          <a:solidFill>
            <a:srgbClr val="131B35"/>
          </a:solidFill>
          <a:ln w="12700">
            <a:solidFill>
              <a:srgbClr val="131B35"/>
            </a:solidFill>
            <a:prstDash val="solid"/>
          </a:ln>
        </p:spPr>
      </p:sp>
      <p:pic>
        <p:nvPicPr>
          <p:cNvPr id="14" name="Image 1" descr="preencoded.png"/>
          <p:cNvPicPr>
            <a:picLocks noChangeAspect="1"/>
          </p:cNvPicPr>
          <p:nvPr/>
        </p:nvPicPr>
        <p:blipFill>
          <a:blip r:embed="rId4"/>
          <a:stretch>
            <a:fillRect/>
          </a:stretch>
        </p:blipFill>
        <p:spPr>
          <a:xfrm>
            <a:off x="5881878" y="2346350"/>
            <a:ext cx="427939" cy="427939"/>
          </a:xfrm>
          <a:prstGeom prst="rect">
            <a:avLst/>
          </a:prstGeom>
        </p:spPr>
      </p:pic>
      <p:sp>
        <p:nvSpPr>
          <p:cNvPr id="15" name="Text 10"/>
          <p:cNvSpPr txBox="1"/>
          <p:nvPr/>
        </p:nvSpPr>
        <p:spPr>
          <a:xfrm>
            <a:off x="4358488" y="3063240"/>
            <a:ext cx="347472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使用量</a:t>
            </a:r>
            <a:endParaRPr lang="en-US" sz="2400" dirty="0"/>
          </a:p>
        </p:txBody>
      </p:sp>
      <p:sp>
        <p:nvSpPr>
          <p:cNvPr id="16" name="Text 11"/>
          <p:cNvSpPr txBox="1"/>
          <p:nvPr/>
        </p:nvSpPr>
        <p:spPr>
          <a:xfrm>
            <a:off x="4541368" y="3657600"/>
            <a:ext cx="3108960" cy="1417320"/>
          </a:xfrm>
          <a:prstGeom prst="rect">
            <a:avLst/>
          </a:prstGeom>
          <a:noFill/>
          <a:ln/>
        </p:spPr>
        <p:txBody>
          <a:bodyPr wrap="square" lIns="0" tIns="0" rIns="0" bIns="0" rtlCol="0" anchor="t"/>
          <a:lstStyle/>
          <a:p>
            <a:pPr marL="0" indent="0">
              <a:spcAft>
                <a:spcPts val="600"/>
              </a:spcAft>
              <a:buNone/>
            </a:pPr>
            <a:r>
              <a:rPr lang="en-US" sz="2000" b="1" dirty="0">
                <a:solidFill>
                  <a:srgbClr val="0B7A70"/>
                </a:solidFill>
                <a:latin typeface="BIZ UDゴシック" pitchFamily="34" charset="0"/>
                <a:ea typeface="BIZ UDゴシック" pitchFamily="49" charset="-128"/>
                <a:cs typeface="BIZ UDゴシック" pitchFamily="34" charset="-120"/>
              </a:rPr>
              <a:t>わかる：</a:t>
            </a:r>
            <a:r>
              <a:rPr lang="en-US" sz="2000" dirty="0">
                <a:solidFill>
                  <a:srgbClr val="1B2333"/>
                </a:solidFill>
                <a:latin typeface="BIZ UDゴシック" pitchFamily="34" charset="0"/>
                <a:ea typeface="BIZ UDゴシック" pitchFamily="49" charset="-128"/>
                <a:cs typeface="BIZ UDゴシック" pitchFamily="34" charset="-120"/>
              </a:rPr>
              <a:t>全体の傾向</a:t>
            </a:r>
            <a:endParaRPr lang="en-US" sz="2000" dirty="0"/>
          </a:p>
          <a:p>
            <a:pPr marL="0" indent="0">
              <a:spcAft>
                <a:spcPts val="600"/>
              </a:spcAft>
              <a:buNone/>
            </a:pPr>
            <a:r>
              <a:rPr lang="en-US" sz="2000" b="1" dirty="0">
                <a:solidFill>
                  <a:srgbClr val="D1480E"/>
                </a:solidFill>
                <a:latin typeface="BIZ UDゴシック" pitchFamily="34" charset="0"/>
                <a:ea typeface="BIZ UDゴシック" pitchFamily="49" charset="-128"/>
                <a:cs typeface="BIZ UDゴシック" pitchFamily="34" charset="-120"/>
              </a:rPr>
              <a:t>弱点：</a:t>
            </a:r>
            <a:r>
              <a:rPr lang="en-US" sz="2000" dirty="0">
                <a:solidFill>
                  <a:srgbClr val="1B2333"/>
                </a:solidFill>
                <a:latin typeface="BIZ UDゴシック" pitchFamily="34" charset="0"/>
                <a:ea typeface="BIZ UDゴシック" pitchFamily="49" charset="-128"/>
                <a:cs typeface="BIZ UDゴシック" pitchFamily="34" charset="-120"/>
              </a:rPr>
              <a:t>タイミングは不明</a:t>
            </a:r>
            <a:endParaRPr lang="en-US" sz="2000" dirty="0"/>
          </a:p>
        </p:txBody>
      </p:sp>
      <p:sp>
        <p:nvSpPr>
          <p:cNvPr id="17" name="Shape 12"/>
          <p:cNvSpPr/>
          <p:nvPr/>
        </p:nvSpPr>
        <p:spPr>
          <a:xfrm>
            <a:off x="8168335" y="1965960"/>
            <a:ext cx="3474720" cy="3246120"/>
          </a:xfrm>
          <a:prstGeom prst="roundRect">
            <a:avLst>
              <a:gd name="adj" fmla="val 3380"/>
            </a:avLst>
          </a:prstGeom>
          <a:solidFill>
            <a:srgbClr val="EEF2F7"/>
          </a:solidFill>
          <a:ln w="12700">
            <a:solidFill>
              <a:srgbClr val="EEF2F7"/>
            </a:solidFill>
            <a:prstDash val="solid"/>
          </a:ln>
        </p:spPr>
      </p:sp>
      <p:sp>
        <p:nvSpPr>
          <p:cNvPr id="18" name="Shape 13"/>
          <p:cNvSpPr/>
          <p:nvPr/>
        </p:nvSpPr>
        <p:spPr>
          <a:xfrm>
            <a:off x="9494215" y="2148840"/>
            <a:ext cx="822960" cy="822960"/>
          </a:xfrm>
          <a:prstGeom prst="ellipse">
            <a:avLst/>
          </a:prstGeom>
          <a:solidFill>
            <a:srgbClr val="131B35"/>
          </a:solidFill>
          <a:ln w="12700">
            <a:solidFill>
              <a:srgbClr val="131B35"/>
            </a:solidFill>
            <a:prstDash val="solid"/>
          </a:ln>
        </p:spPr>
      </p:sp>
      <p:pic>
        <p:nvPicPr>
          <p:cNvPr id="19" name="Image 2" descr="preencoded.png"/>
          <p:cNvPicPr>
            <a:picLocks noChangeAspect="1"/>
          </p:cNvPicPr>
          <p:nvPr/>
        </p:nvPicPr>
        <p:blipFill>
          <a:blip r:embed="rId5"/>
          <a:stretch>
            <a:fillRect/>
          </a:stretch>
        </p:blipFill>
        <p:spPr>
          <a:xfrm>
            <a:off x="9691726" y="2346350"/>
            <a:ext cx="427939" cy="427939"/>
          </a:xfrm>
          <a:prstGeom prst="rect">
            <a:avLst/>
          </a:prstGeom>
        </p:spPr>
      </p:pic>
      <p:sp>
        <p:nvSpPr>
          <p:cNvPr id="20" name="Text 14"/>
          <p:cNvSpPr txBox="1"/>
          <p:nvPr/>
        </p:nvSpPr>
        <p:spPr>
          <a:xfrm>
            <a:off x="8168335" y="3063240"/>
            <a:ext cx="3474720" cy="457200"/>
          </a:xfrm>
          <a:prstGeom prst="rect">
            <a:avLst/>
          </a:prstGeom>
          <a:noFill/>
          <a:ln/>
        </p:spPr>
        <p:txBody>
          <a:bodyPr wrap="square" lIns="0" tIns="0" rIns="0" bIns="0" rtlCol="0" anchor="t"/>
          <a:lstStyle/>
          <a:p>
            <a:pPr marL="0" indent="0" algn="ctr">
              <a:buNone/>
            </a:pPr>
            <a:r>
              <a:rPr lang="en-US" sz="2400" b="1" dirty="0">
                <a:solidFill>
                  <a:srgbClr val="131B35"/>
                </a:solidFill>
                <a:latin typeface="BIZ UDゴシック" pitchFamily="34" charset="0"/>
                <a:ea typeface="BIZ UDゴシック" pitchFamily="49" charset="-128"/>
                <a:cs typeface="BIZ UDゴシック" pitchFamily="34" charset="-120"/>
              </a:rPr>
              <a:t>電子モニタリング</a:t>
            </a:r>
            <a:endParaRPr lang="en-US" sz="2400" dirty="0"/>
          </a:p>
        </p:txBody>
      </p:sp>
      <p:sp>
        <p:nvSpPr>
          <p:cNvPr id="21" name="Text 15"/>
          <p:cNvSpPr txBox="1"/>
          <p:nvPr/>
        </p:nvSpPr>
        <p:spPr>
          <a:xfrm>
            <a:off x="8351215" y="3657600"/>
            <a:ext cx="3108960" cy="1417320"/>
          </a:xfrm>
          <a:prstGeom prst="rect">
            <a:avLst/>
          </a:prstGeom>
          <a:noFill/>
          <a:ln/>
        </p:spPr>
        <p:txBody>
          <a:bodyPr wrap="square" lIns="0" tIns="0" rIns="0" bIns="0" rtlCol="0" anchor="t"/>
          <a:lstStyle/>
          <a:p>
            <a:pPr marL="0" indent="0">
              <a:spcAft>
                <a:spcPts val="600"/>
              </a:spcAft>
              <a:buNone/>
            </a:pPr>
            <a:r>
              <a:rPr lang="en-US" sz="2000" b="1" dirty="0">
                <a:solidFill>
                  <a:srgbClr val="0B7A70"/>
                </a:solidFill>
                <a:latin typeface="BIZ UDゴシック" pitchFamily="34" charset="0"/>
                <a:ea typeface="BIZ UDゴシック" pitchFamily="49" charset="-128"/>
                <a:cs typeface="BIZ UDゴシック" pitchFamily="34" charset="-120"/>
              </a:rPr>
              <a:t>わかる：</a:t>
            </a:r>
            <a:r>
              <a:rPr lang="en-US" sz="2000" dirty="0">
                <a:solidFill>
                  <a:srgbClr val="1B2333"/>
                </a:solidFill>
                <a:latin typeface="BIZ UDゴシック" pitchFamily="34" charset="0"/>
                <a:ea typeface="BIZ UDゴシック" pitchFamily="49" charset="-128"/>
                <a:cs typeface="BIZ UDゴシック" pitchFamily="34" charset="-120"/>
              </a:rPr>
              <a:t>24時間の実態</a:t>
            </a:r>
            <a:endParaRPr lang="en-US" sz="2000" dirty="0"/>
          </a:p>
          <a:p>
            <a:pPr marL="0" indent="0">
              <a:spcAft>
                <a:spcPts val="600"/>
              </a:spcAft>
              <a:buNone/>
            </a:pPr>
            <a:r>
              <a:rPr lang="en-US" sz="2000" b="1" dirty="0">
                <a:solidFill>
                  <a:srgbClr val="D1480E"/>
                </a:solidFill>
                <a:latin typeface="BIZ UDゴシック" pitchFamily="34" charset="0"/>
                <a:ea typeface="BIZ UDゴシック" pitchFamily="49" charset="-128"/>
                <a:cs typeface="BIZ UDゴシック" pitchFamily="34" charset="-120"/>
              </a:rPr>
              <a:t>弱点：</a:t>
            </a:r>
            <a:r>
              <a:rPr lang="en-US" sz="2000" dirty="0">
                <a:solidFill>
                  <a:srgbClr val="1B2333"/>
                </a:solidFill>
                <a:latin typeface="BIZ UDゴシック" pitchFamily="34" charset="0"/>
                <a:ea typeface="BIZ UDゴシック" pitchFamily="49" charset="-128"/>
                <a:cs typeface="BIZ UDゴシック" pitchFamily="34" charset="-120"/>
              </a:rPr>
              <a:t>導入のコスト</a:t>
            </a:r>
            <a:endParaRPr lang="en-US" sz="2000" dirty="0"/>
          </a:p>
        </p:txBody>
      </p:sp>
      <p:sp>
        <p:nvSpPr>
          <p:cNvPr id="22" name="Text 16"/>
          <p:cNvSpPr txBox="1"/>
          <p:nvPr/>
        </p:nvSpPr>
        <p:spPr>
          <a:xfrm>
            <a:off x="548640" y="5394960"/>
            <a:ext cx="11094415" cy="640080"/>
          </a:xfrm>
          <a:prstGeom prst="rect">
            <a:avLst/>
          </a:prstGeom>
          <a:noFill/>
          <a:ln/>
        </p:spPr>
        <p:txBody>
          <a:bodyPr wrap="square" lIns="0" tIns="0" rIns="0" bIns="0" rtlCol="0" anchor="ctr"/>
          <a:lstStyle/>
          <a:p>
            <a:pPr marL="0" indent="0" algn="ctr">
              <a:buNone/>
            </a:pPr>
            <a:r>
              <a:rPr lang="en-US" sz="2400" b="1" dirty="0">
                <a:solidFill>
                  <a:srgbClr val="0B7A70"/>
                </a:solidFill>
                <a:latin typeface="BIZ UDゴシック" pitchFamily="34" charset="0"/>
                <a:ea typeface="BIZ UDゴシック" pitchFamily="49" charset="-128"/>
                <a:cs typeface="BIZ UDゴシック" pitchFamily="34" charset="-120"/>
              </a:rPr>
              <a:t>1つの数字に頼らず、複数の物差しで「素顔」に近づく</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616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2616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見えない敵③ 疲れ</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手指衛生は、勤務時間とともに「すり減る」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出典：Dai H, et al. J Appl Psychol 2015</a:t>
            </a:r>
            <a:endParaRPr lang="en-US" sz="2000" dirty="0"/>
          </a:p>
        </p:txBody>
      </p:sp>
      <p:sp>
        <p:nvSpPr>
          <p:cNvPr id="7" name="Shape 4"/>
          <p:cNvSpPr/>
          <p:nvPr/>
        </p:nvSpPr>
        <p:spPr>
          <a:xfrm>
            <a:off x="914400" y="1920240"/>
            <a:ext cx="3200400" cy="3200400"/>
          </a:xfrm>
          <a:prstGeom prst="ellipse">
            <a:avLst/>
          </a:prstGeom>
          <a:solidFill>
            <a:srgbClr val="FCEBE3"/>
          </a:solidFill>
          <a:ln w="76200">
            <a:solidFill>
              <a:srgbClr val="D1480E"/>
            </a:solidFill>
            <a:prstDash val="solid"/>
          </a:ln>
        </p:spPr>
      </p:sp>
      <p:sp>
        <p:nvSpPr>
          <p:cNvPr id="8" name="Text 5"/>
          <p:cNvSpPr txBox="1"/>
          <p:nvPr/>
        </p:nvSpPr>
        <p:spPr>
          <a:xfrm>
            <a:off x="914400" y="2514600"/>
            <a:ext cx="3200400" cy="1005840"/>
          </a:xfrm>
          <a:prstGeom prst="rect">
            <a:avLst/>
          </a:prstGeom>
          <a:noFill/>
          <a:ln/>
        </p:spPr>
        <p:txBody>
          <a:bodyPr wrap="square" lIns="0" tIns="0" rIns="0" bIns="0" rtlCol="0" anchor="ctr"/>
          <a:lstStyle/>
          <a:p>
            <a:pPr marL="0" indent="0" algn="ctr">
              <a:buNone/>
            </a:pPr>
            <a:r>
              <a:rPr lang="en-US" sz="7200" b="1" dirty="0">
                <a:solidFill>
                  <a:srgbClr val="D1480E"/>
                </a:solidFill>
                <a:latin typeface="BIZ UDゴシック" pitchFamily="34" charset="0"/>
                <a:ea typeface="BIZ UDゴシック" pitchFamily="49" charset="-128"/>
                <a:cs typeface="BIZ UDゴシック" pitchFamily="34" charset="-120"/>
              </a:rPr>
              <a:t>−8.7</a:t>
            </a:r>
            <a:endParaRPr lang="en-US" sz="7200" dirty="0"/>
          </a:p>
        </p:txBody>
      </p:sp>
      <p:sp>
        <p:nvSpPr>
          <p:cNvPr id="9" name="Text 6"/>
          <p:cNvSpPr txBox="1"/>
          <p:nvPr/>
        </p:nvSpPr>
        <p:spPr>
          <a:xfrm>
            <a:off x="914400" y="3657600"/>
            <a:ext cx="3200400" cy="457200"/>
          </a:xfrm>
          <a:prstGeom prst="rect">
            <a:avLst/>
          </a:prstGeom>
          <a:noFill/>
          <a:ln/>
        </p:spPr>
        <p:txBody>
          <a:bodyPr wrap="square" lIns="0" tIns="0" rIns="0" bIns="0" rtlCol="0" anchor="t"/>
          <a:lstStyle/>
          <a:p>
            <a:pPr marL="0" indent="0" algn="ctr">
              <a:buNone/>
            </a:pPr>
            <a:r>
              <a:rPr lang="en-US" sz="2400" b="1" dirty="0">
                <a:solidFill>
                  <a:srgbClr val="D1480E"/>
                </a:solidFill>
                <a:latin typeface="BIZ UDゴシック" pitchFamily="34" charset="0"/>
                <a:ea typeface="BIZ UDゴシック" pitchFamily="49" charset="-128"/>
                <a:cs typeface="BIZ UDゴシック" pitchFamily="34" charset="-120"/>
              </a:rPr>
              <a:t>ポイント</a:t>
            </a:r>
            <a:endParaRPr lang="en-US" sz="2400" dirty="0"/>
          </a:p>
        </p:txBody>
      </p:sp>
      <p:sp>
        <p:nvSpPr>
          <p:cNvPr id="10" name="Text 7"/>
          <p:cNvSpPr txBox="1"/>
          <p:nvPr/>
        </p:nvSpPr>
        <p:spPr>
          <a:xfrm>
            <a:off x="548640" y="5303520"/>
            <a:ext cx="3931920" cy="457200"/>
          </a:xfrm>
          <a:prstGeom prst="rect">
            <a:avLst/>
          </a:prstGeom>
          <a:noFill/>
          <a:ln/>
        </p:spPr>
        <p:txBody>
          <a:bodyPr wrap="square" lIns="0" tIns="0" rIns="0" bIns="0" rtlCol="0" anchor="t"/>
          <a:lstStyle/>
          <a:p>
            <a:pPr marL="0" indent="0" algn="ctr">
              <a:buNone/>
            </a:pPr>
            <a:r>
              <a:rPr lang="en-US" sz="2000" dirty="0">
                <a:solidFill>
                  <a:srgbClr val="4F5B6B"/>
                </a:solidFill>
                <a:latin typeface="BIZ UDゴシック" pitchFamily="34" charset="0"/>
                <a:ea typeface="BIZ UDゴシック" pitchFamily="49" charset="-128"/>
                <a:cs typeface="BIZ UDゴシック" pitchFamily="34" charset="-120"/>
              </a:rPr>
              <a:t>12時間勤務の最初と最後の差</a:t>
            </a:r>
            <a:endParaRPr lang="en-US" sz="2000" dirty="0"/>
          </a:p>
        </p:txBody>
      </p:sp>
      <p:sp>
        <p:nvSpPr>
          <p:cNvPr id="11" name="Shape 8"/>
          <p:cNvSpPr/>
          <p:nvPr/>
        </p:nvSpPr>
        <p:spPr>
          <a:xfrm>
            <a:off x="4846320" y="2011680"/>
            <a:ext cx="6796735" cy="1097280"/>
          </a:xfrm>
          <a:prstGeom prst="roundRect">
            <a:avLst>
              <a:gd name="adj" fmla="val 10000"/>
            </a:avLst>
          </a:prstGeom>
          <a:solidFill>
            <a:srgbClr val="EEF2F7"/>
          </a:solidFill>
          <a:ln w="12700">
            <a:solidFill>
              <a:srgbClr val="EEF2F7"/>
            </a:solidFill>
            <a:prstDash val="solid"/>
          </a:ln>
        </p:spPr>
      </p:sp>
      <p:sp>
        <p:nvSpPr>
          <p:cNvPr id="12" name="Shape 9"/>
          <p:cNvSpPr/>
          <p:nvPr/>
        </p:nvSpPr>
        <p:spPr>
          <a:xfrm>
            <a:off x="5029200" y="2176272"/>
            <a:ext cx="768096" cy="768096"/>
          </a:xfrm>
          <a:prstGeom prst="ellipse">
            <a:avLst/>
          </a:prstGeom>
          <a:solidFill>
            <a:srgbClr val="131B35"/>
          </a:solidFill>
          <a:ln w="12700">
            <a:solidFill>
              <a:srgbClr val="131B35"/>
            </a:solidFill>
            <a:prstDash val="solid"/>
          </a:ln>
        </p:spPr>
      </p:sp>
      <p:pic>
        <p:nvPicPr>
          <p:cNvPr id="13" name="Image 0" descr="preencoded.png"/>
          <p:cNvPicPr>
            <a:picLocks noChangeAspect="1"/>
          </p:cNvPicPr>
          <p:nvPr/>
        </p:nvPicPr>
        <p:blipFill>
          <a:blip r:embed="rId3"/>
          <a:stretch>
            <a:fillRect/>
          </a:stretch>
        </p:blipFill>
        <p:spPr>
          <a:xfrm>
            <a:off x="5213543" y="2360615"/>
            <a:ext cx="399410" cy="399410"/>
          </a:xfrm>
          <a:prstGeom prst="rect">
            <a:avLst/>
          </a:prstGeom>
        </p:spPr>
      </p:pic>
      <p:sp>
        <p:nvSpPr>
          <p:cNvPr id="14" name="Text 10"/>
          <p:cNvSpPr txBox="1"/>
          <p:nvPr/>
        </p:nvSpPr>
        <p:spPr>
          <a:xfrm>
            <a:off x="5989320" y="2011680"/>
            <a:ext cx="5470855" cy="1097280"/>
          </a:xfrm>
          <a:prstGeom prst="rect">
            <a:avLst/>
          </a:prstGeom>
          <a:noFill/>
          <a:ln/>
        </p:spPr>
        <p:txBody>
          <a:bodyPr wrap="square" lIns="0" tIns="0" rIns="0" bIns="0" rtlCol="0" anchor="ct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35病院・4,157人を対象に</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約1,370万回の機会を分析</a:t>
            </a:r>
            <a:endParaRPr lang="en-US" sz="2200" dirty="0"/>
          </a:p>
        </p:txBody>
      </p:sp>
      <p:sp>
        <p:nvSpPr>
          <p:cNvPr id="15" name="Shape 11"/>
          <p:cNvSpPr/>
          <p:nvPr/>
        </p:nvSpPr>
        <p:spPr>
          <a:xfrm>
            <a:off x="4846320" y="3291840"/>
            <a:ext cx="6796735" cy="1097280"/>
          </a:xfrm>
          <a:prstGeom prst="roundRect">
            <a:avLst>
              <a:gd name="adj" fmla="val 10000"/>
            </a:avLst>
          </a:prstGeom>
          <a:solidFill>
            <a:srgbClr val="EEF2F7"/>
          </a:solidFill>
          <a:ln w="12700">
            <a:solidFill>
              <a:srgbClr val="EEF2F7"/>
            </a:solidFill>
            <a:prstDash val="solid"/>
          </a:ln>
        </p:spPr>
      </p:sp>
      <p:sp>
        <p:nvSpPr>
          <p:cNvPr id="16" name="Shape 12"/>
          <p:cNvSpPr/>
          <p:nvPr/>
        </p:nvSpPr>
        <p:spPr>
          <a:xfrm>
            <a:off x="5029200" y="3456432"/>
            <a:ext cx="768096" cy="768096"/>
          </a:xfrm>
          <a:prstGeom prst="ellipse">
            <a:avLst/>
          </a:prstGeom>
          <a:solidFill>
            <a:srgbClr val="D1480E"/>
          </a:solidFill>
          <a:ln w="12700">
            <a:solidFill>
              <a:srgbClr val="D1480E"/>
            </a:solidFill>
            <a:prstDash val="solid"/>
          </a:ln>
        </p:spPr>
      </p:sp>
      <p:pic>
        <p:nvPicPr>
          <p:cNvPr id="17" name="Image 1" descr="preencoded.png"/>
          <p:cNvPicPr>
            <a:picLocks noChangeAspect="1"/>
          </p:cNvPicPr>
          <p:nvPr/>
        </p:nvPicPr>
        <p:blipFill>
          <a:blip r:embed="rId4"/>
          <a:stretch>
            <a:fillRect/>
          </a:stretch>
        </p:blipFill>
        <p:spPr>
          <a:xfrm>
            <a:off x="5213543" y="3640775"/>
            <a:ext cx="399410" cy="399410"/>
          </a:xfrm>
          <a:prstGeom prst="rect">
            <a:avLst/>
          </a:prstGeom>
        </p:spPr>
      </p:pic>
      <p:sp>
        <p:nvSpPr>
          <p:cNvPr id="18" name="Text 13"/>
          <p:cNvSpPr txBox="1"/>
          <p:nvPr/>
        </p:nvSpPr>
        <p:spPr>
          <a:xfrm>
            <a:off x="5989320" y="3291840"/>
            <a:ext cx="5470855" cy="1097280"/>
          </a:xfrm>
          <a:prstGeom prst="rect">
            <a:avLst/>
          </a:prstGeom>
          <a:noFill/>
          <a:ln/>
        </p:spPr>
        <p:txBody>
          <a:bodyPr wrap="square" lIns="0" tIns="0" rIns="0" bIns="0" rtlCol="0" anchor="ct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業務が立て込むほど、低下は大きくなる</a:t>
            </a:r>
            <a:endParaRPr lang="en-US" sz="2200" dirty="0"/>
          </a:p>
        </p:txBody>
      </p:sp>
      <p:sp>
        <p:nvSpPr>
          <p:cNvPr id="19" name="Shape 14"/>
          <p:cNvSpPr/>
          <p:nvPr/>
        </p:nvSpPr>
        <p:spPr>
          <a:xfrm>
            <a:off x="4846320" y="4572000"/>
            <a:ext cx="6796735" cy="1097280"/>
          </a:xfrm>
          <a:prstGeom prst="roundRect">
            <a:avLst>
              <a:gd name="adj" fmla="val 10000"/>
            </a:avLst>
          </a:prstGeom>
          <a:solidFill>
            <a:srgbClr val="EEF2F7"/>
          </a:solidFill>
          <a:ln w="12700">
            <a:solidFill>
              <a:srgbClr val="EEF2F7"/>
            </a:solidFill>
            <a:prstDash val="solid"/>
          </a:ln>
        </p:spPr>
      </p:sp>
      <p:sp>
        <p:nvSpPr>
          <p:cNvPr id="20" name="Shape 15"/>
          <p:cNvSpPr/>
          <p:nvPr/>
        </p:nvSpPr>
        <p:spPr>
          <a:xfrm>
            <a:off x="5029200" y="4736592"/>
            <a:ext cx="768096" cy="768096"/>
          </a:xfrm>
          <a:prstGeom prst="ellipse">
            <a:avLst/>
          </a:prstGeom>
          <a:solidFill>
            <a:srgbClr val="0B7A70"/>
          </a:solidFill>
          <a:ln w="12700">
            <a:solidFill>
              <a:srgbClr val="0B7A70"/>
            </a:solidFill>
            <a:prstDash val="solid"/>
          </a:ln>
        </p:spPr>
      </p:sp>
      <p:pic>
        <p:nvPicPr>
          <p:cNvPr id="21" name="Image 2" descr="preencoded.png"/>
          <p:cNvPicPr>
            <a:picLocks noChangeAspect="1"/>
          </p:cNvPicPr>
          <p:nvPr/>
        </p:nvPicPr>
        <p:blipFill>
          <a:blip r:embed="rId5"/>
          <a:stretch>
            <a:fillRect/>
          </a:stretch>
        </p:blipFill>
        <p:spPr>
          <a:xfrm>
            <a:off x="5213543" y="4920935"/>
            <a:ext cx="399410" cy="399410"/>
          </a:xfrm>
          <a:prstGeom prst="rect">
            <a:avLst/>
          </a:prstGeom>
        </p:spPr>
      </p:pic>
      <p:sp>
        <p:nvSpPr>
          <p:cNvPr id="22" name="Text 16"/>
          <p:cNvSpPr txBox="1"/>
          <p:nvPr/>
        </p:nvSpPr>
        <p:spPr>
          <a:xfrm>
            <a:off x="5989320" y="4572000"/>
            <a:ext cx="5470855" cy="1097280"/>
          </a:xfrm>
          <a:prstGeom prst="rect">
            <a:avLst/>
          </a:prstGeom>
          <a:noFill/>
          <a:ln/>
        </p:spPr>
        <p:txBody>
          <a:bodyPr wrap="square" lIns="0" tIns="0" rIns="0" bIns="0" rtlCol="0" anchor="ct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休息が長いと、次の勤務で回復する</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17</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616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2616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見えない敵③ 疲れ</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忙しい時ほど守れない。だから「仕組み」で守る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出典：Pittet D, et al. Ann Intern Med 1999</a:t>
            </a:r>
            <a:endParaRPr lang="en-US" sz="2000" dirty="0"/>
          </a:p>
        </p:txBody>
      </p:sp>
      <p:sp>
        <p:nvSpPr>
          <p:cNvPr id="7" name="Shape 4"/>
          <p:cNvSpPr/>
          <p:nvPr/>
        </p:nvSpPr>
        <p:spPr>
          <a:xfrm>
            <a:off x="548640" y="1965960"/>
            <a:ext cx="4206240" cy="4023360"/>
          </a:xfrm>
          <a:prstGeom prst="roundRect">
            <a:avLst>
              <a:gd name="adj" fmla="val 2727"/>
            </a:avLst>
          </a:prstGeom>
          <a:solidFill>
            <a:srgbClr val="FCEBE3"/>
          </a:solidFill>
          <a:ln w="12700">
            <a:solidFill>
              <a:srgbClr val="FCEBE3"/>
            </a:solidFill>
            <a:prstDash val="solid"/>
          </a:ln>
        </p:spPr>
      </p:sp>
      <p:sp>
        <p:nvSpPr>
          <p:cNvPr id="8" name="Text 5"/>
          <p:cNvSpPr txBox="1"/>
          <p:nvPr/>
        </p:nvSpPr>
        <p:spPr>
          <a:xfrm>
            <a:off x="548640" y="2194560"/>
            <a:ext cx="4206240" cy="457200"/>
          </a:xfrm>
          <a:prstGeom prst="rect">
            <a:avLst/>
          </a:prstGeom>
          <a:noFill/>
          <a:ln/>
        </p:spPr>
        <p:txBody>
          <a:bodyPr wrap="square" lIns="0" tIns="0" rIns="0" bIns="0" rtlCol="0" anchor="t"/>
          <a:lstStyle/>
          <a:p>
            <a:pPr marL="0" indent="0" algn="ctr">
              <a:buNone/>
            </a:pPr>
            <a:r>
              <a:rPr lang="en-US" sz="2200" b="1" dirty="0">
                <a:solidFill>
                  <a:srgbClr val="131B35"/>
                </a:solidFill>
                <a:latin typeface="BIZ UDゴシック" pitchFamily="34" charset="0"/>
                <a:ea typeface="BIZ UDゴシック" pitchFamily="49" charset="-128"/>
                <a:cs typeface="BIZ UDゴシック" pitchFamily="34" charset="-120"/>
              </a:rPr>
              <a:t>ケアが立て込むと</a:t>
            </a:r>
            <a:endParaRPr lang="en-US" sz="2200" dirty="0"/>
          </a:p>
        </p:txBody>
      </p:sp>
      <p:sp>
        <p:nvSpPr>
          <p:cNvPr id="9" name="Text 6"/>
          <p:cNvSpPr txBox="1"/>
          <p:nvPr/>
        </p:nvSpPr>
        <p:spPr>
          <a:xfrm>
            <a:off x="548640" y="2743200"/>
            <a:ext cx="4206240" cy="1097280"/>
          </a:xfrm>
          <a:prstGeom prst="rect">
            <a:avLst/>
          </a:prstGeom>
          <a:noFill/>
          <a:ln/>
        </p:spPr>
        <p:txBody>
          <a:bodyPr wrap="square" lIns="0" tIns="0" rIns="0" bIns="0" rtlCol="0" anchor="ctr"/>
          <a:lstStyle/>
          <a:p>
            <a:pPr marL="0" indent="0" algn="ctr">
              <a:buNone/>
            </a:pPr>
            <a:r>
              <a:rPr lang="en-US" sz="6600" b="1" dirty="0">
                <a:solidFill>
                  <a:srgbClr val="D1480E"/>
                </a:solidFill>
                <a:latin typeface="BIZ UDゴシック" pitchFamily="34" charset="0"/>
                <a:ea typeface="BIZ UDゴシック" pitchFamily="49" charset="-128"/>
                <a:cs typeface="BIZ UDゴシック" pitchFamily="34" charset="-120"/>
              </a:rPr>
              <a:t>約2倍</a:t>
            </a:r>
            <a:endParaRPr lang="en-US" sz="6600" dirty="0"/>
          </a:p>
        </p:txBody>
      </p:sp>
      <p:sp>
        <p:nvSpPr>
          <p:cNvPr id="10" name="Text 7"/>
          <p:cNvSpPr txBox="1"/>
          <p:nvPr/>
        </p:nvSpPr>
        <p:spPr>
          <a:xfrm>
            <a:off x="548640" y="3931920"/>
            <a:ext cx="4206240" cy="457200"/>
          </a:xfrm>
          <a:prstGeom prst="rect">
            <a:avLst/>
          </a:prstGeom>
          <a:noFill/>
          <a:ln/>
        </p:spPr>
        <p:txBody>
          <a:bodyPr wrap="square" lIns="0" tIns="0" rIns="0" bIns="0" rtlCol="0" anchor="t"/>
          <a:lstStyle/>
          <a:p>
            <a:pPr marL="0" indent="0" algn="ctr">
              <a:buNone/>
            </a:pPr>
            <a:r>
              <a:rPr lang="en-US" sz="2200" b="1" dirty="0">
                <a:solidFill>
                  <a:srgbClr val="131B35"/>
                </a:solidFill>
                <a:latin typeface="BIZ UDゴシック" pitchFamily="34" charset="0"/>
                <a:ea typeface="BIZ UDゴシック" pitchFamily="49" charset="-128"/>
                <a:cs typeface="BIZ UDゴシック" pitchFamily="34" charset="-120"/>
              </a:rPr>
              <a:t>手指衛生をしないオッズ</a:t>
            </a:r>
            <a:endParaRPr lang="en-US" sz="2200" dirty="0"/>
          </a:p>
        </p:txBody>
      </p:sp>
      <p:sp>
        <p:nvSpPr>
          <p:cNvPr id="11" name="Text 8"/>
          <p:cNvSpPr txBox="1"/>
          <p:nvPr/>
        </p:nvSpPr>
        <p:spPr>
          <a:xfrm>
            <a:off x="822960" y="4526280"/>
            <a:ext cx="3657600" cy="1097280"/>
          </a:xfrm>
          <a:prstGeom prst="rect">
            <a:avLst/>
          </a:prstGeom>
          <a:noFill/>
          <a:ln/>
        </p:spPr>
        <p:txBody>
          <a:bodyPr wrap="square" lIns="0" tIns="0" rIns="0" bIns="0" rtlCol="0" anchor="t"/>
          <a:lstStyle/>
          <a:p>
            <a:pPr marL="0" indent="0" algn="ctr">
              <a:buNone/>
            </a:pPr>
            <a:r>
              <a:rPr lang="en-US" sz="2000" dirty="0">
                <a:solidFill>
                  <a:srgbClr val="4F5B6B"/>
                </a:solidFill>
                <a:latin typeface="BIZ UDゴシック" pitchFamily="34" charset="0"/>
                <a:ea typeface="BIZ UDゴシック" pitchFamily="49" charset="-128"/>
                <a:cs typeface="BIZ UDゴシック" pitchFamily="34" charset="-120"/>
              </a:rPr>
              <a:t>1時間に41回以上の機会がある場面（20回以下との比較）</a:t>
            </a:r>
            <a:endParaRPr lang="en-US" sz="2000" dirty="0"/>
          </a:p>
        </p:txBody>
      </p:sp>
      <p:sp>
        <p:nvSpPr>
          <p:cNvPr id="12" name="Text 9"/>
          <p:cNvSpPr txBox="1"/>
          <p:nvPr/>
        </p:nvSpPr>
        <p:spPr>
          <a:xfrm>
            <a:off x="5120640" y="1965960"/>
            <a:ext cx="6522415" cy="502920"/>
          </a:xfrm>
          <a:prstGeom prst="rect">
            <a:avLst/>
          </a:prstGeom>
          <a:noFill/>
          <a:ln/>
        </p:spPr>
        <p:txBody>
          <a:bodyPr wrap="square" lIns="0" tIns="0" rIns="0" bIns="0" rtlCol="0" anchor="t"/>
          <a:lstStyle/>
          <a:p>
            <a:pPr marL="0" indent="0">
              <a:buNone/>
            </a:pPr>
            <a:r>
              <a:rPr lang="en-US" sz="2400" b="1" dirty="0">
                <a:solidFill>
                  <a:srgbClr val="0B7A70"/>
                </a:solidFill>
                <a:latin typeface="BIZ UDゴシック" pitchFamily="34" charset="0"/>
                <a:ea typeface="BIZ UDゴシック" pitchFamily="49" charset="-128"/>
                <a:cs typeface="BIZ UDゴシック" pitchFamily="34" charset="-120"/>
              </a:rPr>
              <a:t>意志ではなく、仕組みで守る</a:t>
            </a:r>
            <a:endParaRPr lang="en-US" sz="2400" dirty="0"/>
          </a:p>
        </p:txBody>
      </p:sp>
      <p:sp>
        <p:nvSpPr>
          <p:cNvPr id="13" name="Shape 10"/>
          <p:cNvSpPr/>
          <p:nvPr/>
        </p:nvSpPr>
        <p:spPr>
          <a:xfrm>
            <a:off x="5120640" y="2651760"/>
            <a:ext cx="685800" cy="685800"/>
          </a:xfrm>
          <a:prstGeom prst="ellipse">
            <a:avLst/>
          </a:prstGeom>
          <a:solidFill>
            <a:srgbClr val="0B7A70"/>
          </a:solidFill>
          <a:ln w="12700">
            <a:solidFill>
              <a:srgbClr val="0B7A70"/>
            </a:solidFill>
            <a:prstDash val="solid"/>
          </a:ln>
        </p:spPr>
      </p:sp>
      <p:pic>
        <p:nvPicPr>
          <p:cNvPr id="14" name="Image 0" descr="preencoded.png"/>
          <p:cNvPicPr>
            <a:picLocks noChangeAspect="1"/>
          </p:cNvPicPr>
          <p:nvPr/>
        </p:nvPicPr>
        <p:blipFill>
          <a:blip r:embed="rId3"/>
          <a:stretch>
            <a:fillRect/>
          </a:stretch>
        </p:blipFill>
        <p:spPr>
          <a:xfrm>
            <a:off x="5285232" y="2816352"/>
            <a:ext cx="356616" cy="356616"/>
          </a:xfrm>
          <a:prstGeom prst="rect">
            <a:avLst/>
          </a:prstGeom>
        </p:spPr>
      </p:pic>
      <p:sp>
        <p:nvSpPr>
          <p:cNvPr id="15" name="Text 11"/>
          <p:cNvSpPr txBox="1"/>
          <p:nvPr/>
        </p:nvSpPr>
        <p:spPr>
          <a:xfrm>
            <a:off x="5989320" y="2651760"/>
            <a:ext cx="5653735" cy="685800"/>
          </a:xfrm>
          <a:prstGeom prst="rect">
            <a:avLst/>
          </a:prstGeom>
          <a:noFill/>
          <a:ln/>
        </p:spPr>
        <p:txBody>
          <a:bodyPr wrap="square" lIns="0" tIns="0" rIns="0" bIns="0" rtlCol="0" anchor="ct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手の届く場所に消毒剤（探す手間をなくす）</a:t>
            </a:r>
            <a:endParaRPr lang="en-US" sz="2200" dirty="0"/>
          </a:p>
        </p:txBody>
      </p:sp>
      <p:sp>
        <p:nvSpPr>
          <p:cNvPr id="16" name="Shape 12"/>
          <p:cNvSpPr/>
          <p:nvPr/>
        </p:nvSpPr>
        <p:spPr>
          <a:xfrm>
            <a:off x="5120640" y="3502152"/>
            <a:ext cx="685800" cy="685800"/>
          </a:xfrm>
          <a:prstGeom prst="ellipse">
            <a:avLst/>
          </a:prstGeom>
          <a:solidFill>
            <a:srgbClr val="0B7A70"/>
          </a:solidFill>
          <a:ln w="12700">
            <a:solidFill>
              <a:srgbClr val="0B7A70"/>
            </a:solidFill>
            <a:prstDash val="solid"/>
          </a:ln>
        </p:spPr>
      </p:sp>
      <p:pic>
        <p:nvPicPr>
          <p:cNvPr id="17" name="Image 1" descr="preencoded.png"/>
          <p:cNvPicPr>
            <a:picLocks noChangeAspect="1"/>
          </p:cNvPicPr>
          <p:nvPr/>
        </p:nvPicPr>
        <p:blipFill>
          <a:blip r:embed="rId4"/>
          <a:stretch>
            <a:fillRect/>
          </a:stretch>
        </p:blipFill>
        <p:spPr>
          <a:xfrm>
            <a:off x="5285232" y="3666744"/>
            <a:ext cx="356616" cy="356616"/>
          </a:xfrm>
          <a:prstGeom prst="rect">
            <a:avLst/>
          </a:prstGeom>
        </p:spPr>
      </p:pic>
      <p:sp>
        <p:nvSpPr>
          <p:cNvPr id="18" name="Text 13"/>
          <p:cNvSpPr txBox="1"/>
          <p:nvPr/>
        </p:nvSpPr>
        <p:spPr>
          <a:xfrm>
            <a:off x="5989320" y="3502152"/>
            <a:ext cx="5653735" cy="685800"/>
          </a:xfrm>
          <a:prstGeom prst="rect">
            <a:avLst/>
          </a:prstGeom>
          <a:noFill/>
          <a:ln/>
        </p:spPr>
        <p:txBody>
          <a:bodyPr wrap="square" lIns="0" tIns="0" rIns="0" bIns="0" rtlCol="0" anchor="ct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繁忙時・勤務の後半に合図を出す</a:t>
            </a:r>
            <a:endParaRPr lang="en-US" sz="2200" dirty="0"/>
          </a:p>
        </p:txBody>
      </p:sp>
      <p:sp>
        <p:nvSpPr>
          <p:cNvPr id="19" name="Shape 14"/>
          <p:cNvSpPr/>
          <p:nvPr/>
        </p:nvSpPr>
        <p:spPr>
          <a:xfrm>
            <a:off x="5120640" y="4352544"/>
            <a:ext cx="685800" cy="685800"/>
          </a:xfrm>
          <a:prstGeom prst="ellipse">
            <a:avLst/>
          </a:prstGeom>
          <a:solidFill>
            <a:srgbClr val="0B7A70"/>
          </a:solidFill>
          <a:ln w="12700">
            <a:solidFill>
              <a:srgbClr val="0B7A70"/>
            </a:solidFill>
            <a:prstDash val="solid"/>
          </a:ln>
        </p:spPr>
      </p:sp>
      <p:pic>
        <p:nvPicPr>
          <p:cNvPr id="20" name="Image 2" descr="preencoded.png"/>
          <p:cNvPicPr>
            <a:picLocks noChangeAspect="1"/>
          </p:cNvPicPr>
          <p:nvPr/>
        </p:nvPicPr>
        <p:blipFill>
          <a:blip r:embed="rId5"/>
          <a:stretch>
            <a:fillRect/>
          </a:stretch>
        </p:blipFill>
        <p:spPr>
          <a:xfrm>
            <a:off x="5285232" y="4517136"/>
            <a:ext cx="356616" cy="356616"/>
          </a:xfrm>
          <a:prstGeom prst="rect">
            <a:avLst/>
          </a:prstGeom>
        </p:spPr>
      </p:pic>
      <p:sp>
        <p:nvSpPr>
          <p:cNvPr id="21" name="Text 15"/>
          <p:cNvSpPr txBox="1"/>
          <p:nvPr/>
        </p:nvSpPr>
        <p:spPr>
          <a:xfrm>
            <a:off x="5989320" y="4352544"/>
            <a:ext cx="5653735" cy="685800"/>
          </a:xfrm>
          <a:prstGeom prst="rect">
            <a:avLst/>
          </a:prstGeom>
          <a:noFill/>
          <a:ln/>
        </p:spPr>
        <p:txBody>
          <a:bodyPr wrap="square" lIns="0" tIns="0" rIns="0" bIns="0" rtlCol="0" anchor="ct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休憩を確保する</a:t>
            </a:r>
            <a:endParaRPr lang="en-US" sz="2200" dirty="0"/>
          </a:p>
        </p:txBody>
      </p:sp>
      <p:sp>
        <p:nvSpPr>
          <p:cNvPr id="22" name="Shape 16"/>
          <p:cNvSpPr/>
          <p:nvPr/>
        </p:nvSpPr>
        <p:spPr>
          <a:xfrm>
            <a:off x="5120640" y="5202936"/>
            <a:ext cx="685800" cy="685800"/>
          </a:xfrm>
          <a:prstGeom prst="ellipse">
            <a:avLst/>
          </a:prstGeom>
          <a:solidFill>
            <a:srgbClr val="0B7A70"/>
          </a:solidFill>
          <a:ln w="12700">
            <a:solidFill>
              <a:srgbClr val="0B7A70"/>
            </a:solidFill>
            <a:prstDash val="solid"/>
          </a:ln>
        </p:spPr>
      </p:sp>
      <p:pic>
        <p:nvPicPr>
          <p:cNvPr id="23" name="Image 3" descr="preencoded.png"/>
          <p:cNvPicPr>
            <a:picLocks noChangeAspect="1"/>
          </p:cNvPicPr>
          <p:nvPr/>
        </p:nvPicPr>
        <p:blipFill>
          <a:blip r:embed="rId6"/>
          <a:stretch>
            <a:fillRect/>
          </a:stretch>
        </p:blipFill>
        <p:spPr>
          <a:xfrm>
            <a:off x="5285232" y="5367528"/>
            <a:ext cx="356616" cy="356616"/>
          </a:xfrm>
          <a:prstGeom prst="rect">
            <a:avLst/>
          </a:prstGeom>
        </p:spPr>
      </p:pic>
      <p:sp>
        <p:nvSpPr>
          <p:cNvPr id="24" name="Text 17"/>
          <p:cNvSpPr txBox="1"/>
          <p:nvPr/>
        </p:nvSpPr>
        <p:spPr>
          <a:xfrm>
            <a:off x="5989320" y="5202936"/>
            <a:ext cx="5653735" cy="685800"/>
          </a:xfrm>
          <a:prstGeom prst="rect">
            <a:avLst/>
          </a:prstGeom>
          <a:noFill/>
          <a:ln/>
        </p:spPr>
        <p:txBody>
          <a:bodyPr wrap="square" lIns="0" tIns="0" rIns="0" bIns="0" rtlCol="0" anchor="ct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判断を助けるオーダーセットを用意する</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378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3378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見えない敵④ 周囲の空気</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人は「ルール」より「周りの人」に従う</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出典：Lankford MG, et al. Emerg Infect Dis 2003; Monsalve MN, et al. ICHE 2014</a:t>
            </a:r>
            <a:endParaRPr lang="en-US" sz="2000" dirty="0"/>
          </a:p>
        </p:txBody>
      </p:sp>
      <p:sp>
        <p:nvSpPr>
          <p:cNvPr id="7" name="Shape 4"/>
          <p:cNvSpPr/>
          <p:nvPr/>
        </p:nvSpPr>
        <p:spPr>
          <a:xfrm>
            <a:off x="548640" y="1965960"/>
            <a:ext cx="5396332" cy="3977640"/>
          </a:xfrm>
          <a:prstGeom prst="roundRect">
            <a:avLst>
              <a:gd name="adj" fmla="val 2759"/>
            </a:avLst>
          </a:prstGeom>
          <a:solidFill>
            <a:srgbClr val="FCEBE3"/>
          </a:solidFill>
          <a:ln w="12700">
            <a:solidFill>
              <a:srgbClr val="FCEBE3"/>
            </a:solidFill>
            <a:prstDash val="solid"/>
          </a:ln>
        </p:spPr>
      </p:sp>
      <p:sp>
        <p:nvSpPr>
          <p:cNvPr id="8" name="Shape 5"/>
          <p:cNvSpPr/>
          <p:nvPr/>
        </p:nvSpPr>
        <p:spPr>
          <a:xfrm>
            <a:off x="868680" y="2194560"/>
            <a:ext cx="868680" cy="868680"/>
          </a:xfrm>
          <a:prstGeom prst="ellipse">
            <a:avLst/>
          </a:prstGeom>
          <a:solidFill>
            <a:srgbClr val="D1480E"/>
          </a:solidFill>
          <a:ln w="12700">
            <a:solidFill>
              <a:srgbClr val="D1480E"/>
            </a:solidFill>
            <a:prstDash val="solid"/>
          </a:ln>
        </p:spPr>
      </p:sp>
      <p:pic>
        <p:nvPicPr>
          <p:cNvPr id="9" name="Image 0" descr="preencoded.png"/>
          <p:cNvPicPr>
            <a:picLocks noChangeAspect="1"/>
          </p:cNvPicPr>
          <p:nvPr/>
        </p:nvPicPr>
        <p:blipFill>
          <a:blip r:embed="rId3"/>
          <a:stretch>
            <a:fillRect/>
          </a:stretch>
        </p:blipFill>
        <p:spPr>
          <a:xfrm>
            <a:off x="1077163" y="2403043"/>
            <a:ext cx="451714" cy="451714"/>
          </a:xfrm>
          <a:prstGeom prst="rect">
            <a:avLst/>
          </a:prstGeom>
        </p:spPr>
      </p:pic>
      <p:sp>
        <p:nvSpPr>
          <p:cNvPr id="10" name="Text 6"/>
          <p:cNvSpPr txBox="1"/>
          <p:nvPr/>
        </p:nvSpPr>
        <p:spPr>
          <a:xfrm>
            <a:off x="1920240" y="2148840"/>
            <a:ext cx="3841852" cy="960120"/>
          </a:xfrm>
          <a:prstGeom prst="rect">
            <a:avLst/>
          </a:prstGeom>
          <a:noFill/>
          <a:ln/>
        </p:spPr>
        <p:txBody>
          <a:bodyPr wrap="square" lIns="0" tIns="0" rIns="0" bIns="0" rtlCol="0" anchor="ctr"/>
          <a:lstStyle/>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上級者や同僚が</a:t>
            </a:r>
            <a:endParaRPr lang="en-US" sz="2400" dirty="0"/>
          </a:p>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手指衛生をしないと</a:t>
            </a:r>
            <a:endParaRPr lang="en-US" sz="2400" dirty="0"/>
          </a:p>
        </p:txBody>
      </p:sp>
      <p:sp>
        <p:nvSpPr>
          <p:cNvPr id="11" name="Text 7"/>
          <p:cNvSpPr txBox="1"/>
          <p:nvPr/>
        </p:nvSpPr>
        <p:spPr>
          <a:xfrm>
            <a:off x="548640" y="3337560"/>
            <a:ext cx="5396332" cy="1005840"/>
          </a:xfrm>
          <a:prstGeom prst="rect">
            <a:avLst/>
          </a:prstGeom>
          <a:noFill/>
          <a:ln/>
        </p:spPr>
        <p:txBody>
          <a:bodyPr wrap="square" lIns="0" tIns="0" rIns="0" bIns="0" rtlCol="0" anchor="ctr"/>
          <a:lstStyle/>
          <a:p>
            <a:pPr marL="0" indent="0" algn="ctr">
              <a:buNone/>
            </a:pPr>
            <a:r>
              <a:rPr lang="en-US" sz="4400" b="1" dirty="0">
                <a:solidFill>
                  <a:srgbClr val="D1480E"/>
                </a:solidFill>
                <a:latin typeface="BIZ UDゴシック" pitchFamily="34" charset="0"/>
                <a:ea typeface="BIZ UDゴシック" pitchFamily="49" charset="-128"/>
                <a:cs typeface="BIZ UDゴシック" pitchFamily="34" charset="-120"/>
              </a:rPr>
              <a:t>オッズ比 0.2</a:t>
            </a:r>
            <a:endParaRPr lang="en-US" sz="4400" dirty="0"/>
          </a:p>
        </p:txBody>
      </p:sp>
      <p:sp>
        <p:nvSpPr>
          <p:cNvPr id="12" name="Text 8"/>
          <p:cNvSpPr txBox="1"/>
          <p:nvPr/>
        </p:nvSpPr>
        <p:spPr>
          <a:xfrm>
            <a:off x="822960" y="4526280"/>
            <a:ext cx="4847692" cy="109728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自分も手指衛生をしにくくなる</a:t>
            </a:r>
            <a:endParaRPr lang="en-US" sz="2200" dirty="0"/>
          </a:p>
        </p:txBody>
      </p:sp>
      <p:sp>
        <p:nvSpPr>
          <p:cNvPr id="13" name="Shape 9"/>
          <p:cNvSpPr/>
          <p:nvPr/>
        </p:nvSpPr>
        <p:spPr>
          <a:xfrm>
            <a:off x="6246724" y="1965960"/>
            <a:ext cx="5396332" cy="3977640"/>
          </a:xfrm>
          <a:prstGeom prst="roundRect">
            <a:avLst>
              <a:gd name="adj" fmla="val 2759"/>
            </a:avLst>
          </a:prstGeom>
          <a:solidFill>
            <a:srgbClr val="E3F7F2"/>
          </a:solidFill>
          <a:ln w="12700">
            <a:solidFill>
              <a:srgbClr val="E3F7F2"/>
            </a:solidFill>
            <a:prstDash val="solid"/>
          </a:ln>
        </p:spPr>
      </p:sp>
      <p:sp>
        <p:nvSpPr>
          <p:cNvPr id="14" name="Shape 10"/>
          <p:cNvSpPr/>
          <p:nvPr/>
        </p:nvSpPr>
        <p:spPr>
          <a:xfrm>
            <a:off x="6566764" y="2194560"/>
            <a:ext cx="868680" cy="868680"/>
          </a:xfrm>
          <a:prstGeom prst="ellipse">
            <a:avLst/>
          </a:prstGeom>
          <a:solidFill>
            <a:srgbClr val="0B7A70"/>
          </a:solidFill>
          <a:ln w="12700">
            <a:solidFill>
              <a:srgbClr val="0B7A70"/>
            </a:solidFill>
            <a:prstDash val="solid"/>
          </a:ln>
        </p:spPr>
      </p:sp>
      <p:pic>
        <p:nvPicPr>
          <p:cNvPr id="15" name="Image 1" descr="preencoded.png"/>
          <p:cNvPicPr>
            <a:picLocks noChangeAspect="1"/>
          </p:cNvPicPr>
          <p:nvPr/>
        </p:nvPicPr>
        <p:blipFill>
          <a:blip r:embed="rId3"/>
          <a:stretch>
            <a:fillRect/>
          </a:stretch>
        </p:blipFill>
        <p:spPr>
          <a:xfrm>
            <a:off x="6775247" y="2403043"/>
            <a:ext cx="451714" cy="451714"/>
          </a:xfrm>
          <a:prstGeom prst="rect">
            <a:avLst/>
          </a:prstGeom>
        </p:spPr>
      </p:pic>
      <p:sp>
        <p:nvSpPr>
          <p:cNvPr id="16" name="Text 11"/>
          <p:cNvSpPr txBox="1"/>
          <p:nvPr/>
        </p:nvSpPr>
        <p:spPr>
          <a:xfrm>
            <a:off x="7618324" y="2148840"/>
            <a:ext cx="3841852" cy="960120"/>
          </a:xfrm>
          <a:prstGeom prst="rect">
            <a:avLst/>
          </a:prstGeom>
          <a:noFill/>
          <a:ln/>
        </p:spPr>
        <p:txBody>
          <a:bodyPr wrap="square" lIns="0" tIns="0" rIns="0" bIns="0" rtlCol="0" anchor="ctr"/>
          <a:lstStyle/>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周りに他の職員が</a:t>
            </a:r>
            <a:endParaRPr lang="en-US" sz="2400" dirty="0"/>
          </a:p>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いると</a:t>
            </a:r>
            <a:endParaRPr lang="en-US" sz="2400" dirty="0"/>
          </a:p>
        </p:txBody>
      </p:sp>
      <p:sp>
        <p:nvSpPr>
          <p:cNvPr id="17" name="Text 12"/>
          <p:cNvSpPr txBox="1"/>
          <p:nvPr/>
        </p:nvSpPr>
        <p:spPr>
          <a:xfrm>
            <a:off x="6246724" y="3337560"/>
            <a:ext cx="5396332" cy="1005840"/>
          </a:xfrm>
          <a:prstGeom prst="rect">
            <a:avLst/>
          </a:prstGeom>
          <a:noFill/>
          <a:ln/>
        </p:spPr>
        <p:txBody>
          <a:bodyPr wrap="square" lIns="0" tIns="0" rIns="0" bIns="0" rtlCol="0" anchor="ctr"/>
          <a:lstStyle/>
          <a:p>
            <a:pPr marL="0" indent="0" algn="ctr">
              <a:buNone/>
            </a:pPr>
            <a:r>
              <a:rPr lang="en-US" sz="4400" b="1" dirty="0">
                <a:solidFill>
                  <a:srgbClr val="0B7A70"/>
                </a:solidFill>
                <a:latin typeface="BIZ UDゴシック" pitchFamily="34" charset="0"/>
                <a:ea typeface="BIZ UDゴシック" pitchFamily="49" charset="-128"/>
                <a:cs typeface="BIZ UDゴシック" pitchFamily="34" charset="-120"/>
              </a:rPr>
              <a:t>20.9%→27.9%</a:t>
            </a:r>
            <a:endParaRPr lang="en-US" sz="4400" dirty="0"/>
          </a:p>
        </p:txBody>
      </p:sp>
      <p:sp>
        <p:nvSpPr>
          <p:cNvPr id="18" name="Text 13"/>
          <p:cNvSpPr txBox="1"/>
          <p:nvPr/>
        </p:nvSpPr>
        <p:spPr>
          <a:xfrm>
            <a:off x="6521044" y="4526280"/>
            <a:ext cx="4847692" cy="1097280"/>
          </a:xfrm>
          <a:prstGeom prst="rect">
            <a:avLst/>
          </a:prstGeom>
          <a:noFill/>
          <a:ln/>
        </p:spPr>
        <p:txBody>
          <a:bodyPr wrap="square" lIns="0" tIns="0" rIns="0" bIns="0" rtlCol="0" anchor="t"/>
          <a:lstStyle/>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遵守率が上がる</a:t>
            </a:r>
            <a:endParaRPr lang="en-US" sz="2200" dirty="0"/>
          </a:p>
          <a:p>
            <a:pPr marL="0" indent="0" algn="ctr">
              <a:buNone/>
            </a:pPr>
            <a:r>
              <a:rPr lang="en-US" sz="2200" dirty="0">
                <a:solidFill>
                  <a:srgbClr val="1B2333"/>
                </a:solidFill>
                <a:latin typeface="BIZ UDゴシック" pitchFamily="34" charset="0"/>
                <a:ea typeface="BIZ UDゴシック" pitchFamily="49" charset="-128"/>
                <a:cs typeface="BIZ UDゴシック" pitchFamily="34" charset="-120"/>
              </a:rPr>
              <a:t>（ICU・約4.8万回の機会）</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378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3378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見えない敵④ 周囲の空気</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リーダーの最初の一手が、部署の「空気」をつくる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出典：Pittet D, et al. Ann Intern Med 2004</a:t>
            </a:r>
            <a:endParaRPr lang="en-US" sz="2000" dirty="0"/>
          </a:p>
        </p:txBody>
      </p:sp>
      <p:sp>
        <p:nvSpPr>
          <p:cNvPr id="7" name="Shape 4"/>
          <p:cNvSpPr/>
          <p:nvPr/>
        </p:nvSpPr>
        <p:spPr>
          <a:xfrm>
            <a:off x="548640" y="1965960"/>
            <a:ext cx="5852160" cy="3977640"/>
          </a:xfrm>
          <a:prstGeom prst="roundRect">
            <a:avLst>
              <a:gd name="adj" fmla="val 2759"/>
            </a:avLst>
          </a:prstGeom>
          <a:solidFill>
            <a:srgbClr val="EEF2F7"/>
          </a:solidFill>
          <a:ln w="12700">
            <a:solidFill>
              <a:srgbClr val="EEF2F7"/>
            </a:solidFill>
            <a:prstDash val="solid"/>
          </a:ln>
        </p:spPr>
      </p:sp>
      <p:sp>
        <p:nvSpPr>
          <p:cNvPr id="8" name="Text 5"/>
          <p:cNvSpPr txBox="1"/>
          <p:nvPr/>
        </p:nvSpPr>
        <p:spPr>
          <a:xfrm>
            <a:off x="822960" y="2194560"/>
            <a:ext cx="5394960" cy="457200"/>
          </a:xfrm>
          <a:prstGeom prst="rect">
            <a:avLst/>
          </a:prstGeom>
          <a:noFill/>
          <a:ln/>
        </p:spPr>
        <p:txBody>
          <a:bodyPr wrap="square" lIns="0" tIns="0" rIns="0" bIns="0" rtlCol="0" anchor="t"/>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医師163名の観察（遵守率 平均57%）</a:t>
            </a:r>
            <a:endParaRPr lang="en-US" sz="2200" dirty="0"/>
          </a:p>
        </p:txBody>
      </p:sp>
      <p:sp>
        <p:nvSpPr>
          <p:cNvPr id="9" name="Text 6"/>
          <p:cNvSpPr txBox="1"/>
          <p:nvPr/>
        </p:nvSpPr>
        <p:spPr>
          <a:xfrm>
            <a:off x="822960" y="2743200"/>
            <a:ext cx="5394960" cy="411480"/>
          </a:xfrm>
          <a:prstGeom prst="rect">
            <a:avLst/>
          </a:prstGeom>
          <a:noFill/>
          <a:ln/>
        </p:spPr>
        <p:txBody>
          <a:bodyPr wrap="square" lIns="0" tIns="0" rIns="0" bIns="0" rtlCol="0" anchor="t"/>
          <a:lstStyle/>
          <a:p>
            <a:pPr marL="0" indent="0">
              <a:buNone/>
            </a:pPr>
            <a:r>
              <a:rPr lang="en-US" sz="2200" dirty="0">
                <a:solidFill>
                  <a:srgbClr val="4F5B6B"/>
                </a:solidFill>
                <a:latin typeface="BIZ UDゴシック" pitchFamily="34" charset="0"/>
                <a:ea typeface="BIZ UDゴシック" pitchFamily="49" charset="-128"/>
                <a:cs typeface="BIZ UDゴシック" pitchFamily="34" charset="-120"/>
              </a:rPr>
              <a:t>遵守と関連していた要因</a:t>
            </a:r>
            <a:endParaRPr lang="en-US" sz="2200" dirty="0"/>
          </a:p>
        </p:txBody>
      </p:sp>
      <p:sp>
        <p:nvSpPr>
          <p:cNvPr id="10" name="Text 7"/>
          <p:cNvSpPr txBox="1"/>
          <p:nvPr/>
        </p:nvSpPr>
        <p:spPr>
          <a:xfrm>
            <a:off x="822960" y="3291840"/>
            <a:ext cx="5394960" cy="2377440"/>
          </a:xfrm>
          <a:prstGeom prst="rect">
            <a:avLst/>
          </a:prstGeom>
          <a:noFill/>
          <a:ln/>
        </p:spPr>
        <p:txBody>
          <a:bodyPr wrap="square" lIns="0" tIns="0" rIns="0" bIns="0" rtlCol="0" anchor="t"/>
          <a:lstStyle/>
          <a:p>
            <a:pPr marL="342900" indent="-342900">
              <a:spcAft>
                <a:spcPts val="14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「自分は同僚の手本だ」という意識</a:t>
            </a:r>
            <a:endParaRPr lang="en-US" sz="2400" dirty="0"/>
          </a:p>
          <a:p>
            <a:pPr marL="342900" indent="-342900">
              <a:spcAft>
                <a:spcPts val="14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観察されているという意識</a:t>
            </a:r>
            <a:endParaRPr lang="en-US" sz="2400" dirty="0"/>
          </a:p>
          <a:p>
            <a:pPr marL="342900" indent="-342900">
              <a:spcAft>
                <a:spcPts val="1400"/>
              </a:spcAft>
              <a:buSzPct val="100000"/>
              <a:buChar char="•"/>
            </a:pPr>
            <a:r>
              <a:rPr lang="en-US" sz="2400" dirty="0">
                <a:solidFill>
                  <a:srgbClr val="1B2333"/>
                </a:solidFill>
                <a:latin typeface="BIZ UDゴシック" pitchFamily="34" charset="0"/>
                <a:ea typeface="BIZ UDゴシック" pitchFamily="49" charset="-128"/>
                <a:cs typeface="BIZ UDゴシック" pitchFamily="34" charset="-120"/>
              </a:rPr>
              <a:t>手指消毒剤へのアクセスのしやすさ</a:t>
            </a:r>
            <a:endParaRPr lang="en-US" sz="2400" dirty="0"/>
          </a:p>
        </p:txBody>
      </p:sp>
      <p:sp>
        <p:nvSpPr>
          <p:cNvPr id="11" name="Shape 8"/>
          <p:cNvSpPr/>
          <p:nvPr/>
        </p:nvSpPr>
        <p:spPr>
          <a:xfrm>
            <a:off x="6675120" y="1965960"/>
            <a:ext cx="4967935" cy="3977640"/>
          </a:xfrm>
          <a:prstGeom prst="roundRect">
            <a:avLst>
              <a:gd name="adj" fmla="val 2759"/>
            </a:avLst>
          </a:prstGeom>
          <a:solidFill>
            <a:srgbClr val="131B35"/>
          </a:solidFill>
          <a:ln w="12700">
            <a:solidFill>
              <a:srgbClr val="131B35"/>
            </a:solidFill>
            <a:prstDash val="solid"/>
          </a:ln>
        </p:spPr>
      </p:sp>
      <p:sp>
        <p:nvSpPr>
          <p:cNvPr id="12" name="Text 9"/>
          <p:cNvSpPr txBox="1"/>
          <p:nvPr/>
        </p:nvSpPr>
        <p:spPr>
          <a:xfrm>
            <a:off x="6995160" y="2194560"/>
            <a:ext cx="4327855" cy="457200"/>
          </a:xfrm>
          <a:prstGeom prst="rect">
            <a:avLst/>
          </a:prstGeom>
          <a:noFill/>
          <a:ln/>
        </p:spPr>
        <p:txBody>
          <a:bodyPr wrap="square" lIns="0" tIns="0" rIns="0" bIns="0" rtlCol="0" anchor="t"/>
          <a:lstStyle/>
          <a:p>
            <a:pPr marL="0" indent="0">
              <a:buNone/>
            </a:pPr>
            <a:r>
              <a:rPr lang="en-US" sz="2200" b="1" dirty="0">
                <a:solidFill>
                  <a:srgbClr val="3FE8C2"/>
                </a:solidFill>
                <a:latin typeface="BIZ UDゴシック" pitchFamily="34" charset="0"/>
                <a:ea typeface="BIZ UDゴシック" pitchFamily="49" charset="-128"/>
                <a:cs typeface="BIZ UDゴシック" pitchFamily="34" charset="-120"/>
              </a:rPr>
              <a:t>明日からの一手</a:t>
            </a:r>
            <a:endParaRPr lang="en-US" sz="2200" dirty="0"/>
          </a:p>
        </p:txBody>
      </p:sp>
      <p:sp>
        <p:nvSpPr>
          <p:cNvPr id="13" name="Text 10"/>
          <p:cNvSpPr txBox="1"/>
          <p:nvPr/>
        </p:nvSpPr>
        <p:spPr>
          <a:xfrm>
            <a:off x="6995160" y="2788920"/>
            <a:ext cx="4327855" cy="1737360"/>
          </a:xfrm>
          <a:prstGeom prst="rect">
            <a:avLst/>
          </a:prstGeom>
          <a:noFill/>
          <a:ln/>
        </p:spPr>
        <p:txBody>
          <a:bodyPr wrap="square" lIns="0" tIns="0" rIns="0" bIns="0" rtlCol="0" anchor="t"/>
          <a:lstStyle/>
          <a:p>
            <a:pPr marL="0" indent="0">
              <a:buNone/>
            </a:pPr>
            <a:r>
              <a:rPr lang="en-US" sz="2600" b="1" dirty="0">
                <a:solidFill>
                  <a:srgbClr val="FFFFFF"/>
                </a:solidFill>
                <a:latin typeface="BIZ UDゴシック" pitchFamily="34" charset="0"/>
                <a:ea typeface="BIZ UDゴシック" pitchFamily="49" charset="-128"/>
                <a:cs typeface="BIZ UDゴシック" pitchFamily="34" charset="-120"/>
              </a:rPr>
              <a:t>回診・ラウンドの</a:t>
            </a:r>
            <a:endParaRPr lang="en-US" sz="2600" dirty="0"/>
          </a:p>
          <a:p>
            <a:pPr marL="0" indent="0">
              <a:buNone/>
            </a:pPr>
            <a:r>
              <a:rPr lang="en-US" sz="2600" b="1" dirty="0">
                <a:solidFill>
                  <a:srgbClr val="FFFFFF"/>
                </a:solidFill>
                <a:latin typeface="BIZ UDゴシック" pitchFamily="34" charset="0"/>
                <a:ea typeface="BIZ UDゴシック" pitchFamily="49" charset="-128"/>
                <a:cs typeface="BIZ UDゴシック" pitchFamily="34" charset="-120"/>
              </a:rPr>
              <a:t>先頭の人が、最初に、</a:t>
            </a:r>
            <a:endParaRPr lang="en-US" sz="2600" dirty="0"/>
          </a:p>
          <a:p>
            <a:pPr marL="0" indent="0">
              <a:buNone/>
            </a:pPr>
            <a:r>
              <a:rPr lang="en-US" sz="2600" b="1" dirty="0">
                <a:solidFill>
                  <a:srgbClr val="FFFFFF"/>
                </a:solidFill>
                <a:latin typeface="BIZ UDゴシック" pitchFamily="34" charset="0"/>
                <a:ea typeface="BIZ UDゴシック" pitchFamily="49" charset="-128"/>
                <a:cs typeface="BIZ UDゴシック" pitchFamily="34" charset="-120"/>
              </a:rPr>
              <a:t>見えるように手指衛生</a:t>
            </a:r>
            <a:endParaRPr lang="en-US" sz="2600" dirty="0"/>
          </a:p>
        </p:txBody>
      </p:sp>
      <p:sp>
        <p:nvSpPr>
          <p:cNvPr id="14" name="Text 11"/>
          <p:cNvSpPr txBox="1"/>
          <p:nvPr/>
        </p:nvSpPr>
        <p:spPr>
          <a:xfrm>
            <a:off x="6995160" y="4663440"/>
            <a:ext cx="4327855" cy="1005840"/>
          </a:xfrm>
          <a:prstGeom prst="rect">
            <a:avLst/>
          </a:prstGeom>
          <a:noFill/>
          <a:ln/>
        </p:spPr>
        <p:txBody>
          <a:bodyPr wrap="square" lIns="0" tIns="0" rIns="0" bIns="0" rtlCol="0" anchor="t"/>
          <a:lstStyle/>
          <a:p>
            <a:pPr marL="0" indent="0">
              <a:buNone/>
            </a:pPr>
            <a:r>
              <a:rPr lang="en-US" sz="2200" dirty="0">
                <a:solidFill>
                  <a:srgbClr val="C9D4E8"/>
                </a:solidFill>
                <a:latin typeface="BIZ UDゴシック" pitchFamily="34" charset="0"/>
                <a:ea typeface="BIZ UDゴシック" pitchFamily="49" charset="-128"/>
                <a:cs typeface="BIZ UDゴシック" pitchFamily="34" charset="-120"/>
              </a:rPr>
              <a:t>新人・研修医は</a:t>
            </a:r>
            <a:endParaRPr lang="en-US" sz="2200" dirty="0"/>
          </a:p>
          <a:p>
            <a:pPr marL="0" indent="0">
              <a:buNone/>
            </a:pPr>
            <a:r>
              <a:rPr lang="en-US" sz="2200" dirty="0">
                <a:solidFill>
                  <a:srgbClr val="C9D4E8"/>
                </a:solidFill>
                <a:latin typeface="BIZ UDゴシック" pitchFamily="34" charset="0"/>
                <a:ea typeface="BIZ UDゴシック" pitchFamily="49" charset="-128"/>
                <a:cs typeface="BIZ UDゴシック" pitchFamily="34" charset="-120"/>
              </a:rPr>
              <a:t>「上の人」を見て学んでいる</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378200" cy="420624"/>
          </a:xfrm>
          <a:prstGeom prst="roundRect">
            <a:avLst>
              <a:gd name="adj" fmla="val 50000"/>
            </a:avLst>
          </a:prstGeom>
          <a:solidFill>
            <a:srgbClr val="D1480E"/>
          </a:solidFill>
          <a:ln w="12700">
            <a:solidFill>
              <a:srgbClr val="D1480E"/>
            </a:solidFill>
            <a:prstDash val="solid"/>
          </a:ln>
        </p:spPr>
      </p:sp>
      <p:sp>
        <p:nvSpPr>
          <p:cNvPr id="3" name="Text 1"/>
          <p:cNvSpPr txBox="1"/>
          <p:nvPr/>
        </p:nvSpPr>
        <p:spPr>
          <a:xfrm>
            <a:off x="548640" y="347472"/>
            <a:ext cx="3378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見えない敵⑤ 環境と動線</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行動は、設備の「数」より「置き場所」で決まる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出典：Lankford MG 2003; Pittet D 2000; Gould DJ (Cochrane) 2017</a:t>
            </a:r>
            <a:endParaRPr lang="en-US" sz="2000" dirty="0"/>
          </a:p>
        </p:txBody>
      </p:sp>
      <p:sp>
        <p:nvSpPr>
          <p:cNvPr id="7" name="Shape 4"/>
          <p:cNvSpPr/>
          <p:nvPr/>
        </p:nvSpPr>
        <p:spPr>
          <a:xfrm>
            <a:off x="548640" y="1965960"/>
            <a:ext cx="5396332" cy="3246120"/>
          </a:xfrm>
          <a:prstGeom prst="roundRect">
            <a:avLst>
              <a:gd name="adj" fmla="val 3380"/>
            </a:avLst>
          </a:prstGeom>
          <a:solidFill>
            <a:srgbClr val="FCEBE3"/>
          </a:solidFill>
          <a:ln w="12700">
            <a:solidFill>
              <a:srgbClr val="FCEBE3"/>
            </a:solidFill>
            <a:prstDash val="solid"/>
          </a:ln>
        </p:spPr>
      </p:sp>
      <p:sp>
        <p:nvSpPr>
          <p:cNvPr id="8" name="Shape 5"/>
          <p:cNvSpPr/>
          <p:nvPr/>
        </p:nvSpPr>
        <p:spPr>
          <a:xfrm>
            <a:off x="822960" y="2148840"/>
            <a:ext cx="777240" cy="777240"/>
          </a:xfrm>
          <a:prstGeom prst="ellipse">
            <a:avLst/>
          </a:prstGeom>
          <a:solidFill>
            <a:srgbClr val="D1480E"/>
          </a:solidFill>
          <a:ln w="12700">
            <a:solidFill>
              <a:srgbClr val="D1480E"/>
            </a:solidFill>
            <a:prstDash val="solid"/>
          </a:ln>
        </p:spPr>
      </p:sp>
      <p:pic>
        <p:nvPicPr>
          <p:cNvPr id="9" name="Image 0" descr="preencoded.png"/>
          <p:cNvPicPr>
            <a:picLocks noChangeAspect="1"/>
          </p:cNvPicPr>
          <p:nvPr/>
        </p:nvPicPr>
        <p:blipFill>
          <a:blip r:embed="rId3"/>
          <a:stretch>
            <a:fillRect/>
          </a:stretch>
        </p:blipFill>
        <p:spPr>
          <a:xfrm>
            <a:off x="1009498" y="2335378"/>
            <a:ext cx="404165" cy="404165"/>
          </a:xfrm>
          <a:prstGeom prst="rect">
            <a:avLst/>
          </a:prstGeom>
        </p:spPr>
      </p:pic>
      <p:sp>
        <p:nvSpPr>
          <p:cNvPr id="10" name="Text 6"/>
          <p:cNvSpPr txBox="1"/>
          <p:nvPr/>
        </p:nvSpPr>
        <p:spPr>
          <a:xfrm>
            <a:off x="1783080" y="2148840"/>
            <a:ext cx="3979012" cy="777240"/>
          </a:xfrm>
          <a:prstGeom prst="rect">
            <a:avLst/>
          </a:prstGeom>
          <a:noFill/>
          <a:ln/>
        </p:spPr>
        <p:txBody>
          <a:bodyPr wrap="square" lIns="0" tIns="0" rIns="0" bIns="0" rtlCol="0" anchor="ctr"/>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手洗いシンクを増やした新病院</a:t>
            </a:r>
            <a:endParaRPr lang="en-US" sz="2200" dirty="0"/>
          </a:p>
        </p:txBody>
      </p:sp>
      <p:sp>
        <p:nvSpPr>
          <p:cNvPr id="11" name="Text 7"/>
          <p:cNvSpPr txBox="1"/>
          <p:nvPr/>
        </p:nvSpPr>
        <p:spPr>
          <a:xfrm>
            <a:off x="548640" y="3063240"/>
            <a:ext cx="5396332" cy="868680"/>
          </a:xfrm>
          <a:prstGeom prst="rect">
            <a:avLst/>
          </a:prstGeom>
          <a:noFill/>
          <a:ln/>
        </p:spPr>
        <p:txBody>
          <a:bodyPr wrap="square" lIns="0" tIns="0" rIns="0" bIns="0" rtlCol="0" anchor="ctr"/>
          <a:lstStyle/>
          <a:p>
            <a:pPr marL="0" indent="0" algn="ctr">
              <a:buNone/>
            </a:pPr>
            <a:r>
              <a:rPr lang="en-US" sz="4400" b="1" dirty="0">
                <a:solidFill>
                  <a:srgbClr val="D1480E"/>
                </a:solidFill>
                <a:latin typeface="BIZ UDゴシック" pitchFamily="34" charset="0"/>
                <a:ea typeface="BIZ UDゴシック" pitchFamily="49" charset="-128"/>
                <a:cs typeface="BIZ UDゴシック" pitchFamily="34" charset="-120"/>
              </a:rPr>
              <a:t>53% → 23%</a:t>
            </a:r>
            <a:endParaRPr lang="en-US" sz="4400" dirty="0"/>
          </a:p>
        </p:txBody>
      </p:sp>
      <p:sp>
        <p:nvSpPr>
          <p:cNvPr id="12" name="Text 8"/>
          <p:cNvSpPr txBox="1"/>
          <p:nvPr/>
        </p:nvSpPr>
        <p:spPr>
          <a:xfrm>
            <a:off x="822960" y="4023360"/>
            <a:ext cx="4847692" cy="1005840"/>
          </a:xfrm>
          <a:prstGeom prst="rect">
            <a:avLst/>
          </a:prstGeom>
          <a:noFill/>
          <a:ln/>
        </p:spPr>
        <p:txBody>
          <a:bodyPr wrap="square" lIns="0" tIns="0" rIns="0" bIns="0" rtlCol="0" anchor="t"/>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旧病院→新病院の遵守率</a:t>
            </a:r>
            <a:endParaRPr lang="en-US" sz="2000" dirty="0"/>
          </a:p>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シンクを増やすだけでは改善しなかった</a:t>
            </a:r>
            <a:endParaRPr lang="en-US" sz="2000" dirty="0"/>
          </a:p>
        </p:txBody>
      </p:sp>
      <p:sp>
        <p:nvSpPr>
          <p:cNvPr id="13" name="Shape 9"/>
          <p:cNvSpPr/>
          <p:nvPr/>
        </p:nvSpPr>
        <p:spPr>
          <a:xfrm>
            <a:off x="6246724" y="1965960"/>
            <a:ext cx="5396332" cy="3246120"/>
          </a:xfrm>
          <a:prstGeom prst="roundRect">
            <a:avLst>
              <a:gd name="adj" fmla="val 3380"/>
            </a:avLst>
          </a:prstGeom>
          <a:solidFill>
            <a:srgbClr val="E3F7F2"/>
          </a:solidFill>
          <a:ln w="12700">
            <a:solidFill>
              <a:srgbClr val="E3F7F2"/>
            </a:solidFill>
            <a:prstDash val="solid"/>
          </a:ln>
        </p:spPr>
      </p:sp>
      <p:sp>
        <p:nvSpPr>
          <p:cNvPr id="14" name="Shape 10"/>
          <p:cNvSpPr/>
          <p:nvPr/>
        </p:nvSpPr>
        <p:spPr>
          <a:xfrm>
            <a:off x="6521044" y="2148840"/>
            <a:ext cx="777240" cy="777240"/>
          </a:xfrm>
          <a:prstGeom prst="ellipse">
            <a:avLst/>
          </a:prstGeom>
          <a:solidFill>
            <a:srgbClr val="0B7A70"/>
          </a:solidFill>
          <a:ln w="12700">
            <a:solidFill>
              <a:srgbClr val="0B7A70"/>
            </a:solidFill>
            <a:prstDash val="solid"/>
          </a:ln>
        </p:spPr>
      </p:sp>
      <p:pic>
        <p:nvPicPr>
          <p:cNvPr id="15" name="Image 1" descr="preencoded.png"/>
          <p:cNvPicPr>
            <a:picLocks noChangeAspect="1"/>
          </p:cNvPicPr>
          <p:nvPr/>
        </p:nvPicPr>
        <p:blipFill>
          <a:blip r:embed="rId4"/>
          <a:stretch>
            <a:fillRect/>
          </a:stretch>
        </p:blipFill>
        <p:spPr>
          <a:xfrm>
            <a:off x="6707581" y="2335378"/>
            <a:ext cx="404165" cy="404165"/>
          </a:xfrm>
          <a:prstGeom prst="rect">
            <a:avLst/>
          </a:prstGeom>
        </p:spPr>
      </p:pic>
      <p:sp>
        <p:nvSpPr>
          <p:cNvPr id="16" name="Text 11"/>
          <p:cNvSpPr txBox="1"/>
          <p:nvPr/>
        </p:nvSpPr>
        <p:spPr>
          <a:xfrm>
            <a:off x="7481164" y="2148840"/>
            <a:ext cx="3979012" cy="777240"/>
          </a:xfrm>
          <a:prstGeom prst="rect">
            <a:avLst/>
          </a:prstGeom>
          <a:noFill/>
          <a:ln/>
        </p:spPr>
        <p:txBody>
          <a:bodyPr wrap="square" lIns="0" tIns="0" rIns="0" bIns="0" rtlCol="0" anchor="ctr"/>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「使う場所」に置く</a:t>
            </a:r>
            <a:endParaRPr lang="en-US" sz="2200" dirty="0"/>
          </a:p>
        </p:txBody>
      </p:sp>
      <p:sp>
        <p:nvSpPr>
          <p:cNvPr id="17" name="Text 12"/>
          <p:cNvSpPr txBox="1"/>
          <p:nvPr/>
        </p:nvSpPr>
        <p:spPr>
          <a:xfrm>
            <a:off x="6521044" y="3108960"/>
            <a:ext cx="4847692" cy="1920240"/>
          </a:xfrm>
          <a:prstGeom prst="rect">
            <a:avLst/>
          </a:prstGeom>
          <a:noFill/>
          <a:ln/>
        </p:spPr>
        <p:txBody>
          <a:bodyPr wrap="square" lIns="0" tIns="0" rIns="0" bIns="0" rtlCol="0" anchor="t"/>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ベッドサイドの手指消毒剤が、</a:t>
            </a:r>
            <a:endParaRPr lang="en-US" sz="2200" dirty="0"/>
          </a:p>
          <a:p>
            <a:pPr marL="0" indent="0">
              <a:spcAft>
                <a:spcPts val="1400"/>
              </a:spcAft>
              <a:buNone/>
            </a:pPr>
            <a:r>
              <a:rPr lang="en-US" sz="2200" dirty="0">
                <a:solidFill>
                  <a:srgbClr val="1B2333"/>
                </a:solidFill>
                <a:latin typeface="BIZ UDゴシック" pitchFamily="34" charset="0"/>
                <a:ea typeface="BIZ UDゴシック" pitchFamily="49" charset="-128"/>
                <a:cs typeface="BIZ UDゴシック" pitchFamily="34" charset="-120"/>
              </a:rPr>
              <a:t>遵守率の向上に大きく寄与</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使用場所の近くに置くと遵守率が改善</a:t>
            </a:r>
            <a:endParaRPr lang="en-US" sz="2200" dirty="0"/>
          </a:p>
          <a:p>
            <a:pPr marL="0" indent="0">
              <a:spcAft>
                <a:spcPts val="1400"/>
              </a:spcAft>
              <a:buNone/>
            </a:pPr>
            <a:r>
              <a:rPr lang="en-US" sz="2200" dirty="0">
                <a:solidFill>
                  <a:srgbClr val="1B2333"/>
                </a:solidFill>
                <a:latin typeface="BIZ UDゴシック" pitchFamily="34" charset="0"/>
                <a:ea typeface="BIZ UDゴシック" pitchFamily="49" charset="-128"/>
                <a:cs typeface="BIZ UDゴシック" pitchFamily="34" charset="-120"/>
              </a:rPr>
              <a:t>（中等度の確実性）</a:t>
            </a:r>
            <a:endParaRPr lang="en-US" sz="2200" dirty="0"/>
          </a:p>
        </p:txBody>
      </p:sp>
      <p:sp>
        <p:nvSpPr>
          <p:cNvPr id="18" name="Text 13"/>
          <p:cNvSpPr txBox="1"/>
          <p:nvPr/>
        </p:nvSpPr>
        <p:spPr>
          <a:xfrm>
            <a:off x="548640" y="5394960"/>
            <a:ext cx="11094415" cy="640080"/>
          </a:xfrm>
          <a:prstGeom prst="rect">
            <a:avLst/>
          </a:prstGeom>
          <a:noFill/>
          <a:ln/>
        </p:spPr>
        <p:txBody>
          <a:bodyPr wrap="square" lIns="0" tIns="0" rIns="0" bIns="0" rtlCol="0" anchor="ctr"/>
          <a:lstStyle/>
          <a:p>
            <a:pPr marL="0" indent="0" algn="ctr">
              <a:buNone/>
            </a:pPr>
            <a:r>
              <a:rPr lang="en-US" sz="2600" b="1" dirty="0">
                <a:solidFill>
                  <a:srgbClr val="0B7A70"/>
                </a:solidFill>
                <a:latin typeface="BIZ UDゴシック" pitchFamily="34" charset="0"/>
                <a:ea typeface="BIZ UDゴシック" pitchFamily="49" charset="-128"/>
                <a:cs typeface="BIZ UDゴシック" pitchFamily="34" charset="-120"/>
              </a:rPr>
              <a:t>「そこにある」から、手が伸びる</a:t>
            </a:r>
            <a:endParaRPr lang="en-US" sz="26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chemeClr val="bg1"/>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18120" y="1143000"/>
            <a:ext cx="3840480" cy="3840480"/>
          </a:xfrm>
          <a:prstGeom prst="rect">
            <a:avLst/>
          </a:prstGeom>
        </p:spPr>
      </p:pic>
      <p:pic>
        <p:nvPicPr>
          <p:cNvPr id="4" name="Image 1" descr="preencoded.png"/>
          <p:cNvPicPr>
            <a:picLocks noChangeAspect="1"/>
          </p:cNvPicPr>
          <p:nvPr/>
        </p:nvPicPr>
        <p:blipFill>
          <a:blip r:embed="rId4"/>
          <a:stretch>
            <a:fillRect/>
          </a:stretch>
        </p:blipFill>
        <p:spPr>
          <a:xfrm>
            <a:off x="9006840" y="2331720"/>
            <a:ext cx="1463040" cy="1463040"/>
          </a:xfrm>
          <a:prstGeom prst="rect">
            <a:avLst/>
          </a:prstGeom>
        </p:spPr>
      </p:pic>
      <p:sp>
        <p:nvSpPr>
          <p:cNvPr id="5" name="Text 0"/>
          <p:cNvSpPr txBox="1"/>
          <p:nvPr/>
        </p:nvSpPr>
        <p:spPr>
          <a:xfrm>
            <a:off x="822960" y="1737360"/>
            <a:ext cx="6766560" cy="457200"/>
          </a:xfrm>
          <a:prstGeom prst="rect">
            <a:avLst/>
          </a:prstGeom>
          <a:noFill/>
          <a:ln/>
        </p:spPr>
        <p:txBody>
          <a:bodyPr wrap="square" lIns="0" tIns="0" rIns="0" bIns="0" rtlCol="0" anchor="t"/>
          <a:lstStyle/>
          <a:p>
            <a:pPr marL="0" indent="0">
              <a:buNone/>
            </a:pPr>
            <a:r>
              <a:rPr lang="en-US" sz="2400" b="1" dirty="0">
                <a:latin typeface="BIZ UDゴシック" pitchFamily="34" charset="0"/>
                <a:ea typeface="BIZ UDゴシック" pitchFamily="49" charset="-128"/>
                <a:cs typeface="BIZ UDゴシック" pitchFamily="34" charset="-120"/>
              </a:rPr>
              <a:t>第3部</a:t>
            </a:r>
            <a:endParaRPr lang="en-US" sz="2400" dirty="0"/>
          </a:p>
        </p:txBody>
      </p:sp>
      <p:sp>
        <p:nvSpPr>
          <p:cNvPr id="6" name="Text 1"/>
          <p:cNvSpPr txBox="1"/>
          <p:nvPr/>
        </p:nvSpPr>
        <p:spPr>
          <a:xfrm>
            <a:off x="822960" y="2286000"/>
            <a:ext cx="6766560" cy="1408176"/>
          </a:xfrm>
          <a:prstGeom prst="rect">
            <a:avLst/>
          </a:prstGeom>
          <a:noFill/>
          <a:ln/>
        </p:spPr>
        <p:txBody>
          <a:bodyPr wrap="square" lIns="0" tIns="0" rIns="0" bIns="0" rtlCol="0" anchor="t"/>
          <a:lstStyle/>
          <a:p>
            <a:pPr marL="0" indent="0">
              <a:buNone/>
            </a:pPr>
            <a:r>
              <a:rPr lang="en-US" sz="4000" b="1" dirty="0">
                <a:latin typeface="BIZ UDゴシック" pitchFamily="34" charset="0"/>
                <a:ea typeface="BIZ UDゴシック" pitchFamily="49" charset="-128"/>
                <a:cs typeface="BIZ UDゴシック" pitchFamily="34" charset="-120"/>
              </a:rPr>
              <a:t>見えない敵を</a:t>
            </a:r>
            <a:endParaRPr lang="en-US" sz="4000" dirty="0"/>
          </a:p>
          <a:p>
            <a:pPr marL="0" indent="0">
              <a:buNone/>
            </a:pPr>
            <a:r>
              <a:rPr lang="en-US" sz="4000" b="1" dirty="0">
                <a:latin typeface="BIZ UDゴシック" pitchFamily="34" charset="0"/>
                <a:ea typeface="BIZ UDゴシック" pitchFamily="49" charset="-128"/>
                <a:cs typeface="BIZ UDゴシック" pitchFamily="34" charset="-120"/>
              </a:rPr>
              <a:t>「見える化」する</a:t>
            </a:r>
            <a:endParaRPr lang="en-US" sz="4000" dirty="0"/>
          </a:p>
        </p:txBody>
      </p:sp>
      <p:sp>
        <p:nvSpPr>
          <p:cNvPr id="7" name="Shape 2"/>
          <p:cNvSpPr/>
          <p:nvPr/>
        </p:nvSpPr>
        <p:spPr>
          <a:xfrm>
            <a:off x="822960" y="3977640"/>
            <a:ext cx="512064" cy="512064"/>
          </a:xfrm>
          <a:prstGeom prst="ellipse">
            <a:avLst/>
          </a:prstGeom>
          <a:solidFill>
            <a:srgbClr val="1E2A4F"/>
          </a:solidFill>
          <a:ln w="12700">
            <a:solidFill>
              <a:srgbClr val="1E2A4F"/>
            </a:solidFill>
            <a:prstDash val="solid"/>
          </a:ln>
        </p:spPr>
      </p:sp>
      <p:pic>
        <p:nvPicPr>
          <p:cNvPr id="8" name="Image 2" descr="preencoded.png"/>
          <p:cNvPicPr>
            <a:picLocks noChangeAspect="1"/>
          </p:cNvPicPr>
          <p:nvPr/>
        </p:nvPicPr>
        <p:blipFill>
          <a:blip r:embed="rId5"/>
          <a:stretch>
            <a:fillRect/>
          </a:stretch>
        </p:blipFill>
        <p:spPr>
          <a:xfrm>
            <a:off x="945855" y="4100535"/>
            <a:ext cx="266273" cy="266273"/>
          </a:xfrm>
          <a:prstGeom prst="rect">
            <a:avLst/>
          </a:prstGeom>
        </p:spPr>
      </p:pic>
      <p:sp>
        <p:nvSpPr>
          <p:cNvPr id="9" name="Text 3"/>
          <p:cNvSpPr txBox="1"/>
          <p:nvPr/>
        </p:nvSpPr>
        <p:spPr>
          <a:xfrm>
            <a:off x="1508760" y="3977640"/>
            <a:ext cx="5943600" cy="512064"/>
          </a:xfrm>
          <a:prstGeom prst="rect">
            <a:avLst/>
          </a:prstGeom>
          <a:noFill/>
          <a:ln/>
        </p:spPr>
        <p:txBody>
          <a:bodyPr wrap="square" lIns="0" tIns="0" rIns="0" bIns="0" rtlCol="0" anchor="ctr"/>
          <a:lstStyle/>
          <a:p>
            <a:pPr marL="0" indent="0">
              <a:buNone/>
            </a:pPr>
            <a:r>
              <a:rPr lang="en-US" sz="2400" dirty="0">
                <a:latin typeface="BIZ UDゴシック" pitchFamily="34" charset="0"/>
                <a:ea typeface="BIZ UDゴシック" pitchFamily="49" charset="-128"/>
                <a:cs typeface="BIZ UDゴシック" pitchFamily="34" charset="-120"/>
              </a:rPr>
              <a:t>診断する：COM-Bで原因を探す</a:t>
            </a:r>
            <a:endParaRPr lang="en-US" sz="2400" dirty="0"/>
          </a:p>
        </p:txBody>
      </p:sp>
      <p:sp>
        <p:nvSpPr>
          <p:cNvPr id="10" name="Shape 4"/>
          <p:cNvSpPr/>
          <p:nvPr/>
        </p:nvSpPr>
        <p:spPr>
          <a:xfrm>
            <a:off x="822960" y="4636008"/>
            <a:ext cx="512064" cy="512064"/>
          </a:xfrm>
          <a:prstGeom prst="ellipse">
            <a:avLst/>
          </a:prstGeom>
          <a:solidFill>
            <a:srgbClr val="1E2A4F"/>
          </a:solidFill>
          <a:ln w="12700">
            <a:solidFill>
              <a:srgbClr val="1E2A4F"/>
            </a:solidFill>
            <a:prstDash val="solid"/>
          </a:ln>
        </p:spPr>
      </p:sp>
      <p:pic>
        <p:nvPicPr>
          <p:cNvPr id="11" name="Image 3" descr="preencoded.png"/>
          <p:cNvPicPr>
            <a:picLocks noChangeAspect="1"/>
          </p:cNvPicPr>
          <p:nvPr/>
        </p:nvPicPr>
        <p:blipFill>
          <a:blip r:embed="rId4"/>
          <a:stretch>
            <a:fillRect/>
          </a:stretch>
        </p:blipFill>
        <p:spPr>
          <a:xfrm>
            <a:off x="945855" y="4758903"/>
            <a:ext cx="266273" cy="266273"/>
          </a:xfrm>
          <a:prstGeom prst="rect">
            <a:avLst/>
          </a:prstGeom>
        </p:spPr>
      </p:pic>
      <p:sp>
        <p:nvSpPr>
          <p:cNvPr id="12" name="Text 5"/>
          <p:cNvSpPr txBox="1"/>
          <p:nvPr/>
        </p:nvSpPr>
        <p:spPr>
          <a:xfrm>
            <a:off x="1508760" y="4636008"/>
            <a:ext cx="5943600" cy="512064"/>
          </a:xfrm>
          <a:prstGeom prst="rect">
            <a:avLst/>
          </a:prstGeom>
          <a:noFill/>
          <a:ln/>
        </p:spPr>
        <p:txBody>
          <a:bodyPr wrap="square" lIns="0" tIns="0" rIns="0" bIns="0" rtlCol="0" anchor="ctr"/>
          <a:lstStyle/>
          <a:p>
            <a:pPr marL="0" indent="0">
              <a:buNone/>
            </a:pPr>
            <a:r>
              <a:rPr lang="en-US" sz="2400" dirty="0">
                <a:latin typeface="BIZ UDゴシック" pitchFamily="34" charset="0"/>
                <a:ea typeface="BIZ UDゴシック" pitchFamily="49" charset="-128"/>
                <a:cs typeface="BIZ UDゴシック" pitchFamily="34" charset="-120"/>
              </a:rPr>
              <a:t>見せる：汚染を見える形に</a:t>
            </a:r>
            <a:endParaRPr lang="en-US" sz="2400" dirty="0"/>
          </a:p>
        </p:txBody>
      </p:sp>
      <p:sp>
        <p:nvSpPr>
          <p:cNvPr id="13" name="Shape 6"/>
          <p:cNvSpPr/>
          <p:nvPr/>
        </p:nvSpPr>
        <p:spPr>
          <a:xfrm>
            <a:off x="822960" y="5294376"/>
            <a:ext cx="512064" cy="512064"/>
          </a:xfrm>
          <a:prstGeom prst="ellipse">
            <a:avLst/>
          </a:prstGeom>
          <a:solidFill>
            <a:srgbClr val="1E2A4F"/>
          </a:solidFill>
          <a:ln w="12700">
            <a:solidFill>
              <a:srgbClr val="1E2A4F"/>
            </a:solidFill>
            <a:prstDash val="solid"/>
          </a:ln>
        </p:spPr>
      </p:sp>
      <p:pic>
        <p:nvPicPr>
          <p:cNvPr id="14" name="Image 4" descr="preencoded.png"/>
          <p:cNvPicPr>
            <a:picLocks noChangeAspect="1"/>
          </p:cNvPicPr>
          <p:nvPr/>
        </p:nvPicPr>
        <p:blipFill>
          <a:blip r:embed="rId6"/>
          <a:stretch>
            <a:fillRect/>
          </a:stretch>
        </p:blipFill>
        <p:spPr>
          <a:xfrm>
            <a:off x="945855" y="5417271"/>
            <a:ext cx="266273" cy="266273"/>
          </a:xfrm>
          <a:prstGeom prst="rect">
            <a:avLst/>
          </a:prstGeom>
        </p:spPr>
      </p:pic>
      <p:sp>
        <p:nvSpPr>
          <p:cNvPr id="15" name="Text 7"/>
          <p:cNvSpPr txBox="1"/>
          <p:nvPr/>
        </p:nvSpPr>
        <p:spPr>
          <a:xfrm>
            <a:off x="1508760" y="5294376"/>
            <a:ext cx="5943600" cy="512064"/>
          </a:xfrm>
          <a:prstGeom prst="rect">
            <a:avLst/>
          </a:prstGeom>
          <a:noFill/>
          <a:ln/>
        </p:spPr>
        <p:txBody>
          <a:bodyPr wrap="square" lIns="0" tIns="0" rIns="0" bIns="0" rtlCol="0" anchor="ctr"/>
          <a:lstStyle/>
          <a:p>
            <a:pPr marL="0" indent="0">
              <a:buNone/>
            </a:pPr>
            <a:r>
              <a:rPr lang="en-US" sz="2400" dirty="0">
                <a:latin typeface="BIZ UDゴシック" pitchFamily="34" charset="0"/>
                <a:ea typeface="BIZ UDゴシック" pitchFamily="49" charset="-128"/>
                <a:cs typeface="BIZ UDゴシック" pitchFamily="34" charset="-120"/>
              </a:rPr>
              <a:t>後押しする：ナッジと当院の実践</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FA0C0"/>
                </a:solidFill>
                <a:latin typeface="BIZ UDゴシック"/>
                <a:ea typeface="BIZ UDゴシック"/>
                <a:cs typeface="BIZ UDゴシック"/>
              </a:defRPr>
            </a:lvl1pPr>
          </a:lstStyle>
          <a:p>
            <a:pPr algn="r"/>
            <a:fld id="{F7021451-1387-4CA6-816F-3879F97B5CBC}" type="slidenum">
              <a:rPr lang="en-US" b="0">
                <a:solidFill>
                  <a:schemeClr val="tx1"/>
                </a:solidFill>
              </a:rPr>
              <a:t>23</a:t>
            </a:fld>
            <a:endParaRPr lang="en-US">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第3部 診断する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行動は「能力」「機会」「</a:t>
            </a:r>
            <a:r>
              <a:rPr lang="en-US" sz="3200" b="1" dirty="0" err="1">
                <a:solidFill>
                  <a:srgbClr val="131B35"/>
                </a:solidFill>
                <a:latin typeface="BIZ UDゴシック" pitchFamily="34" charset="0"/>
                <a:ea typeface="BIZ UDゴシック" pitchFamily="49" charset="-128"/>
                <a:cs typeface="BIZ UDゴシック" pitchFamily="34" charset="-120"/>
              </a:rPr>
              <a:t>動機」がそろって起こる</a:t>
            </a:r>
            <a:r>
              <a:rPr lang="en-US" sz="3200" b="1" dirty="0">
                <a:solidFill>
                  <a:srgbClr val="131B35"/>
                </a:solidFill>
                <a:latin typeface="BIZ UDゴシック" pitchFamily="34" charset="0"/>
                <a:ea typeface="BIZ UDゴシック" pitchFamily="49" charset="-128"/>
                <a:cs typeface="BIZ UDゴシック" pitchFamily="34" charset="-120"/>
              </a:rPr>
              <a:t>(COM-B)</a:t>
            </a:r>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出典：Michie S, et al. Implement Sci 2011</a:t>
            </a:r>
            <a:endParaRPr lang="en-US" sz="2000" dirty="0"/>
          </a:p>
        </p:txBody>
      </p:sp>
      <p:sp>
        <p:nvSpPr>
          <p:cNvPr id="7" name="Shape 4"/>
          <p:cNvSpPr/>
          <p:nvPr/>
        </p:nvSpPr>
        <p:spPr>
          <a:xfrm>
            <a:off x="243992" y="1874520"/>
            <a:ext cx="3474720" cy="2240280"/>
          </a:xfrm>
          <a:prstGeom prst="roundRect">
            <a:avLst>
              <a:gd name="adj" fmla="val 4898"/>
            </a:avLst>
          </a:prstGeom>
          <a:solidFill>
            <a:srgbClr val="E3F7F2"/>
          </a:solidFill>
          <a:ln w="12700">
            <a:solidFill>
              <a:srgbClr val="E3F7F2"/>
            </a:solidFill>
            <a:prstDash val="solid"/>
          </a:ln>
        </p:spPr>
      </p:sp>
      <p:sp>
        <p:nvSpPr>
          <p:cNvPr id="8" name="Text 5"/>
          <p:cNvSpPr txBox="1"/>
          <p:nvPr/>
        </p:nvSpPr>
        <p:spPr>
          <a:xfrm>
            <a:off x="426872" y="1965960"/>
            <a:ext cx="3108960" cy="822960"/>
          </a:xfrm>
          <a:prstGeom prst="rect">
            <a:avLst/>
          </a:prstGeom>
          <a:noFill/>
          <a:ln/>
        </p:spPr>
        <p:txBody>
          <a:bodyPr wrap="square" lIns="0" tIns="0" rIns="0" bIns="0" rtlCol="0" anchor="t"/>
          <a:lstStyle/>
          <a:p>
            <a:pPr marL="0" indent="0">
              <a:buNone/>
            </a:pPr>
            <a:r>
              <a:rPr lang="en-US" sz="2600" b="1" dirty="0">
                <a:solidFill>
                  <a:srgbClr val="0B7A70"/>
                </a:solidFill>
                <a:latin typeface="BIZ UDゴシック" pitchFamily="34" charset="0"/>
                <a:ea typeface="BIZ UDゴシック" pitchFamily="49" charset="-128"/>
                <a:cs typeface="BIZ UDゴシック" pitchFamily="34" charset="-120"/>
              </a:rPr>
              <a:t>能力（C）</a:t>
            </a:r>
            <a:endParaRPr lang="en-US" sz="2000" dirty="0"/>
          </a:p>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Capability</a:t>
            </a:r>
            <a:endParaRPr lang="en-US" sz="2000" dirty="0"/>
          </a:p>
        </p:txBody>
      </p:sp>
      <p:sp>
        <p:nvSpPr>
          <p:cNvPr id="9" name="Text 6"/>
          <p:cNvSpPr txBox="1"/>
          <p:nvPr/>
        </p:nvSpPr>
        <p:spPr>
          <a:xfrm>
            <a:off x="426872" y="2880360"/>
            <a:ext cx="3108960" cy="1143000"/>
          </a:xfrm>
          <a:prstGeom prst="rect">
            <a:avLst/>
          </a:prstGeom>
          <a:noFill/>
          <a:ln/>
        </p:spPr>
        <p:txBody>
          <a:bodyPr wrap="square" lIns="0" tIns="0" rIns="0" bIns="0" rtlCol="0" anchor="t"/>
          <a:lstStyle/>
          <a:p>
            <a:pPr marL="0" indent="0">
              <a:spcAft>
                <a:spcPts val="600"/>
              </a:spcAft>
              <a:buNone/>
            </a:pPr>
            <a:r>
              <a:rPr lang="en-US" sz="2000" dirty="0">
                <a:solidFill>
                  <a:srgbClr val="1B2333"/>
                </a:solidFill>
                <a:latin typeface="BIZ UDゴシック" pitchFamily="34" charset="0"/>
                <a:ea typeface="BIZ UDゴシック" pitchFamily="49" charset="-128"/>
                <a:cs typeface="BIZ UDゴシック" pitchFamily="34" charset="-120"/>
              </a:rPr>
              <a:t>身体的：技術・体力</a:t>
            </a:r>
            <a:endParaRPr lang="en-US" sz="2000" dirty="0"/>
          </a:p>
          <a:p>
            <a:pPr marL="0" indent="0">
              <a:spcAft>
                <a:spcPts val="600"/>
              </a:spcAft>
              <a:buNone/>
            </a:pPr>
            <a:r>
              <a:rPr lang="en-US" sz="2000" dirty="0">
                <a:solidFill>
                  <a:srgbClr val="1B2333"/>
                </a:solidFill>
                <a:latin typeface="BIZ UDゴシック" pitchFamily="34" charset="0"/>
                <a:ea typeface="BIZ UDゴシック" pitchFamily="49" charset="-128"/>
                <a:cs typeface="BIZ UDゴシック" pitchFamily="34" charset="-120"/>
              </a:rPr>
              <a:t>心理的：知識・記憶・注意</a:t>
            </a:r>
            <a:endParaRPr lang="en-US" sz="2000" dirty="0"/>
          </a:p>
        </p:txBody>
      </p:sp>
      <p:sp>
        <p:nvSpPr>
          <p:cNvPr id="10" name="Shape 7"/>
          <p:cNvSpPr/>
          <p:nvPr/>
        </p:nvSpPr>
        <p:spPr>
          <a:xfrm>
            <a:off x="3718408" y="4114800"/>
            <a:ext cx="914391" cy="640078"/>
          </a:xfrm>
          <a:prstGeom prst="line">
            <a:avLst/>
          </a:prstGeom>
          <a:noFill/>
          <a:ln w="76200">
            <a:solidFill>
              <a:schemeClr val="accent1"/>
            </a:solidFill>
            <a:prstDash val="solid"/>
            <a:tailEnd type="triangle"/>
          </a:ln>
        </p:spPr>
      </p:sp>
      <p:sp>
        <p:nvSpPr>
          <p:cNvPr id="11" name="Shape 8"/>
          <p:cNvSpPr/>
          <p:nvPr/>
        </p:nvSpPr>
        <p:spPr>
          <a:xfrm>
            <a:off x="8473288" y="1874520"/>
            <a:ext cx="3474720" cy="2240280"/>
          </a:xfrm>
          <a:prstGeom prst="roundRect">
            <a:avLst>
              <a:gd name="adj" fmla="val 4898"/>
            </a:avLst>
          </a:prstGeom>
          <a:solidFill>
            <a:srgbClr val="EEF2F7"/>
          </a:solidFill>
          <a:ln w="12700">
            <a:solidFill>
              <a:srgbClr val="EEF2F7"/>
            </a:solidFill>
            <a:prstDash val="solid"/>
          </a:ln>
        </p:spPr>
      </p:sp>
      <p:sp>
        <p:nvSpPr>
          <p:cNvPr id="12" name="Text 9"/>
          <p:cNvSpPr txBox="1"/>
          <p:nvPr/>
        </p:nvSpPr>
        <p:spPr>
          <a:xfrm>
            <a:off x="8656168" y="1965960"/>
            <a:ext cx="3108960" cy="822960"/>
          </a:xfrm>
          <a:prstGeom prst="rect">
            <a:avLst/>
          </a:prstGeom>
          <a:noFill/>
          <a:ln/>
        </p:spPr>
        <p:txBody>
          <a:bodyPr wrap="square" lIns="0" tIns="0" rIns="0" bIns="0" rtlCol="0" anchor="t"/>
          <a:lstStyle/>
          <a:p>
            <a:pPr marL="0" indent="0">
              <a:buNone/>
            </a:pPr>
            <a:r>
              <a:rPr lang="en-US" sz="2600" b="1" dirty="0">
                <a:solidFill>
                  <a:srgbClr val="131B35"/>
                </a:solidFill>
                <a:latin typeface="BIZ UDゴシック" pitchFamily="34" charset="0"/>
                <a:ea typeface="BIZ UDゴシック" pitchFamily="49" charset="-128"/>
                <a:cs typeface="BIZ UDゴシック" pitchFamily="34" charset="-120"/>
              </a:rPr>
              <a:t>機会（O）</a:t>
            </a:r>
            <a:endParaRPr lang="en-US" sz="2000" dirty="0"/>
          </a:p>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Opportunity</a:t>
            </a:r>
            <a:endParaRPr lang="en-US" sz="2000" dirty="0"/>
          </a:p>
        </p:txBody>
      </p:sp>
      <p:sp>
        <p:nvSpPr>
          <p:cNvPr id="13" name="Text 10"/>
          <p:cNvSpPr txBox="1"/>
          <p:nvPr/>
        </p:nvSpPr>
        <p:spPr>
          <a:xfrm>
            <a:off x="8656168" y="2880360"/>
            <a:ext cx="3108960" cy="1143000"/>
          </a:xfrm>
          <a:prstGeom prst="rect">
            <a:avLst/>
          </a:prstGeom>
          <a:noFill/>
          <a:ln/>
        </p:spPr>
        <p:txBody>
          <a:bodyPr wrap="square" lIns="0" tIns="0" rIns="0" bIns="0" rtlCol="0" anchor="t"/>
          <a:lstStyle/>
          <a:p>
            <a:pPr marL="0" indent="0">
              <a:spcAft>
                <a:spcPts val="600"/>
              </a:spcAft>
              <a:buNone/>
            </a:pPr>
            <a:r>
              <a:rPr lang="en-US" sz="2000" dirty="0">
                <a:solidFill>
                  <a:srgbClr val="1B2333"/>
                </a:solidFill>
                <a:latin typeface="BIZ UDゴシック" pitchFamily="34" charset="0"/>
                <a:ea typeface="BIZ UDゴシック" pitchFamily="49" charset="-128"/>
                <a:cs typeface="BIZ UDゴシック" pitchFamily="34" charset="-120"/>
              </a:rPr>
              <a:t>物理的：物・場所・時間</a:t>
            </a:r>
            <a:endParaRPr lang="en-US" sz="2000" dirty="0"/>
          </a:p>
          <a:p>
            <a:pPr marL="0" indent="0">
              <a:spcAft>
                <a:spcPts val="600"/>
              </a:spcAft>
              <a:buNone/>
            </a:pPr>
            <a:r>
              <a:rPr lang="en-US" sz="2000" dirty="0">
                <a:solidFill>
                  <a:srgbClr val="1B2333"/>
                </a:solidFill>
                <a:latin typeface="BIZ UDゴシック" pitchFamily="34" charset="0"/>
                <a:ea typeface="BIZ UDゴシック" pitchFamily="49" charset="-128"/>
                <a:cs typeface="BIZ UDゴシック" pitchFamily="34" charset="-120"/>
              </a:rPr>
              <a:t>社会的：周囲の規範・文化</a:t>
            </a:r>
            <a:endParaRPr lang="en-US" sz="2000" dirty="0"/>
          </a:p>
        </p:txBody>
      </p:sp>
      <p:sp>
        <p:nvSpPr>
          <p:cNvPr id="14" name="Shape 11"/>
          <p:cNvSpPr/>
          <p:nvPr/>
        </p:nvSpPr>
        <p:spPr>
          <a:xfrm flipH="1">
            <a:off x="6095848" y="4160520"/>
            <a:ext cx="0" cy="594360"/>
          </a:xfrm>
          <a:prstGeom prst="line">
            <a:avLst/>
          </a:prstGeom>
          <a:noFill/>
          <a:ln w="76200">
            <a:solidFill>
              <a:schemeClr val="accent1"/>
            </a:solidFill>
            <a:prstDash val="solid"/>
            <a:tailEnd type="triangle"/>
          </a:ln>
        </p:spPr>
      </p:sp>
      <p:sp>
        <p:nvSpPr>
          <p:cNvPr id="15" name="Shape 12"/>
          <p:cNvSpPr/>
          <p:nvPr/>
        </p:nvSpPr>
        <p:spPr>
          <a:xfrm>
            <a:off x="4358488" y="1874520"/>
            <a:ext cx="3474720" cy="2240280"/>
          </a:xfrm>
          <a:prstGeom prst="roundRect">
            <a:avLst>
              <a:gd name="adj" fmla="val 4898"/>
            </a:avLst>
          </a:prstGeom>
          <a:solidFill>
            <a:srgbClr val="FCEBE3"/>
          </a:solidFill>
          <a:ln w="12700">
            <a:solidFill>
              <a:srgbClr val="FCEBE3"/>
            </a:solidFill>
            <a:prstDash val="solid"/>
          </a:ln>
        </p:spPr>
      </p:sp>
      <p:sp>
        <p:nvSpPr>
          <p:cNvPr id="16" name="Text 13"/>
          <p:cNvSpPr txBox="1"/>
          <p:nvPr/>
        </p:nvSpPr>
        <p:spPr>
          <a:xfrm>
            <a:off x="4541368" y="1965960"/>
            <a:ext cx="3108960" cy="822960"/>
          </a:xfrm>
          <a:prstGeom prst="rect">
            <a:avLst/>
          </a:prstGeom>
          <a:noFill/>
          <a:ln/>
        </p:spPr>
        <p:txBody>
          <a:bodyPr wrap="square" lIns="0" tIns="0" rIns="0" bIns="0" rtlCol="0" anchor="t"/>
          <a:lstStyle/>
          <a:p>
            <a:pPr marL="0" indent="0">
              <a:buNone/>
            </a:pPr>
            <a:r>
              <a:rPr lang="en-US" sz="2600" b="1" dirty="0">
                <a:solidFill>
                  <a:srgbClr val="D1480E"/>
                </a:solidFill>
                <a:latin typeface="BIZ UDゴシック" pitchFamily="34" charset="0"/>
                <a:ea typeface="BIZ UDゴシック" pitchFamily="49" charset="-128"/>
                <a:cs typeface="BIZ UDゴシック" pitchFamily="34" charset="-120"/>
              </a:rPr>
              <a:t>動機（M）</a:t>
            </a:r>
            <a:endParaRPr lang="en-US" sz="2000" dirty="0"/>
          </a:p>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Motivation</a:t>
            </a:r>
            <a:endParaRPr lang="en-US" sz="2000" dirty="0"/>
          </a:p>
        </p:txBody>
      </p:sp>
      <p:sp>
        <p:nvSpPr>
          <p:cNvPr id="17" name="Text 14"/>
          <p:cNvSpPr txBox="1"/>
          <p:nvPr/>
        </p:nvSpPr>
        <p:spPr>
          <a:xfrm>
            <a:off x="4541368" y="2880360"/>
            <a:ext cx="3108960" cy="1143000"/>
          </a:xfrm>
          <a:prstGeom prst="rect">
            <a:avLst/>
          </a:prstGeom>
          <a:noFill/>
          <a:ln/>
        </p:spPr>
        <p:txBody>
          <a:bodyPr wrap="square" lIns="0" tIns="0" rIns="0" bIns="0" rtlCol="0" anchor="t"/>
          <a:lstStyle/>
          <a:p>
            <a:pPr marL="0" indent="0">
              <a:spcAft>
                <a:spcPts val="600"/>
              </a:spcAft>
              <a:buNone/>
            </a:pPr>
            <a:r>
              <a:rPr lang="en-US" sz="2000" dirty="0">
                <a:solidFill>
                  <a:srgbClr val="1B2333"/>
                </a:solidFill>
                <a:latin typeface="BIZ UDゴシック" pitchFamily="34" charset="0"/>
                <a:ea typeface="BIZ UDゴシック" pitchFamily="49" charset="-128"/>
                <a:cs typeface="BIZ UDゴシック" pitchFamily="34" charset="-120"/>
              </a:rPr>
              <a:t>内省的：信念・目標</a:t>
            </a:r>
            <a:endParaRPr lang="en-US" sz="2000" dirty="0"/>
          </a:p>
          <a:p>
            <a:pPr marL="0" indent="0">
              <a:spcAft>
                <a:spcPts val="600"/>
              </a:spcAft>
              <a:buNone/>
            </a:pPr>
            <a:r>
              <a:rPr lang="en-US" sz="2000" dirty="0">
                <a:solidFill>
                  <a:srgbClr val="1B2333"/>
                </a:solidFill>
                <a:latin typeface="BIZ UDゴシック" pitchFamily="34" charset="0"/>
                <a:ea typeface="BIZ UDゴシック" pitchFamily="49" charset="-128"/>
                <a:cs typeface="BIZ UDゴシック" pitchFamily="34" charset="-120"/>
              </a:rPr>
              <a:t>自動的：習慣・感情</a:t>
            </a:r>
            <a:endParaRPr lang="en-US" sz="2000" dirty="0"/>
          </a:p>
        </p:txBody>
      </p:sp>
      <p:sp>
        <p:nvSpPr>
          <p:cNvPr id="18" name="Shape 15"/>
          <p:cNvSpPr/>
          <p:nvPr/>
        </p:nvSpPr>
        <p:spPr>
          <a:xfrm flipH="1">
            <a:off x="7558888" y="4114800"/>
            <a:ext cx="914095" cy="640080"/>
          </a:xfrm>
          <a:prstGeom prst="line">
            <a:avLst/>
          </a:prstGeom>
          <a:noFill/>
          <a:ln w="76200">
            <a:solidFill>
              <a:schemeClr val="accent1"/>
            </a:solidFill>
            <a:prstDash val="solid"/>
            <a:tailEnd type="triangle"/>
          </a:ln>
        </p:spPr>
      </p:sp>
      <p:sp>
        <p:nvSpPr>
          <p:cNvPr id="19" name="Shape 16"/>
          <p:cNvSpPr/>
          <p:nvPr/>
        </p:nvSpPr>
        <p:spPr>
          <a:xfrm>
            <a:off x="3718408" y="4800600"/>
            <a:ext cx="4754880" cy="1005840"/>
          </a:xfrm>
          <a:prstGeom prst="roundRect">
            <a:avLst>
              <a:gd name="adj" fmla="val 10909"/>
            </a:avLst>
          </a:prstGeom>
          <a:solidFill>
            <a:srgbClr val="131B35"/>
          </a:solidFill>
          <a:ln w="12700">
            <a:solidFill>
              <a:srgbClr val="131B35"/>
            </a:solidFill>
            <a:prstDash val="solid"/>
          </a:ln>
        </p:spPr>
      </p:sp>
      <p:sp>
        <p:nvSpPr>
          <p:cNvPr id="20" name="Text 17"/>
          <p:cNvSpPr txBox="1"/>
          <p:nvPr/>
        </p:nvSpPr>
        <p:spPr>
          <a:xfrm>
            <a:off x="3718408" y="4800600"/>
            <a:ext cx="4754880" cy="1005840"/>
          </a:xfrm>
          <a:prstGeom prst="rect">
            <a:avLst/>
          </a:prstGeom>
          <a:noFill/>
          <a:ln/>
        </p:spPr>
        <p:txBody>
          <a:bodyPr wrap="square" lIns="0" tIns="0" rIns="0" bIns="0" rtlCol="0" anchor="ctr"/>
          <a:lstStyle/>
          <a:p>
            <a:pPr marL="0" indent="0" algn="ctr">
              <a:buNone/>
            </a:pPr>
            <a:r>
              <a:rPr lang="en-US" sz="2800" b="1" dirty="0">
                <a:solidFill>
                  <a:srgbClr val="FFFFFF"/>
                </a:solidFill>
                <a:latin typeface="BIZ UDゴシック" pitchFamily="34" charset="0"/>
                <a:ea typeface="BIZ UDゴシック" pitchFamily="49" charset="-128"/>
                <a:cs typeface="BIZ UDゴシック" pitchFamily="34" charset="-120"/>
              </a:rPr>
              <a:t>行動（Behaviour）</a:t>
            </a:r>
            <a:endParaRPr lang="en-US" sz="2800" dirty="0"/>
          </a:p>
        </p:txBody>
      </p:sp>
      <p:sp>
        <p:nvSpPr>
          <p:cNvPr id="25" name="Slide Number Placeholder 0"/>
          <p:cNvSpPr>
            <a:spLocks noGrp="1"/>
          </p:cNvSpPr>
          <p:nvPr>
            <p:ph type="sldNum" sz="quarter" idx="4294967295"/>
          </p:nvPr>
        </p:nvSpPr>
        <p:spPr>
          <a:xfrm>
            <a:off x="10407244" y="340614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24</a:t>
            </a:fld>
            <a:endParaRPr lang="en-US"/>
          </a:p>
        </p:txBody>
      </p:sp>
      <p:cxnSp>
        <p:nvCxnSpPr>
          <p:cNvPr id="21" name="直線矢印コネクタ 20">
            <a:extLst>
              <a:ext uri="{FF2B5EF4-FFF2-40B4-BE49-F238E27FC236}">
                <a16:creationId xmlns:a16="http://schemas.microsoft.com/office/drawing/2014/main" id="{43162798-E124-D335-0EE7-2CA054499CB5}"/>
              </a:ext>
            </a:extLst>
          </p:cNvPr>
          <p:cNvCxnSpPr>
            <a:stCxn id="7" idx="3"/>
            <a:endCxn id="15" idx="1"/>
          </p:cNvCxnSpPr>
          <p:nvPr/>
        </p:nvCxnSpPr>
        <p:spPr>
          <a:xfrm>
            <a:off x="3718712" y="2994660"/>
            <a:ext cx="639776"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261AA07B-0B42-7AE3-EC8B-846C69A43609}"/>
              </a:ext>
            </a:extLst>
          </p:cNvPr>
          <p:cNvCxnSpPr>
            <a:stCxn id="11" idx="1"/>
            <a:endCxn id="15" idx="3"/>
          </p:cNvCxnSpPr>
          <p:nvPr/>
        </p:nvCxnSpPr>
        <p:spPr>
          <a:xfrm flipH="1">
            <a:off x="7833208" y="2994660"/>
            <a:ext cx="64008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第3部 診断する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5つの敵をCOM-Bに当てはめると、打ち手が見える</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675227545"/>
              </p:ext>
            </p:extLst>
          </p:nvPr>
        </p:nvGraphicFramePr>
        <p:xfrm>
          <a:off x="548640" y="1920240"/>
          <a:ext cx="11094415" cy="3621024"/>
        </p:xfrm>
        <a:graphic>
          <a:graphicData uri="http://schemas.openxmlformats.org/drawingml/2006/table">
            <a:tbl>
              <a:tblPr/>
              <a:tblGrid>
                <a:gridCol w="3200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876495">
                  <a:extLst>
                    <a:ext uri="{9D8B030D-6E8A-4147-A177-3AD203B41FA5}">
                      <a16:colId xmlns:a16="http://schemas.microsoft.com/office/drawing/2014/main" val="20002"/>
                    </a:ext>
                  </a:extLst>
                </a:gridCol>
              </a:tblGrid>
              <a:tr h="603504">
                <a:tc>
                  <a:txBody>
                    <a:bodyPr/>
                    <a:lstStyle/>
                    <a:p>
                      <a:pPr marL="0" indent="0">
                        <a:buNone/>
                      </a:pPr>
                      <a:r>
                        <a:rPr lang="en-US" sz="2200" b="1" dirty="0">
                          <a:solidFill>
                            <a:srgbClr val="FFFFFF"/>
                          </a:solidFill>
                          <a:latin typeface="BIZ UDゴシック" pitchFamily="34" charset="0"/>
                          <a:ea typeface="BIZ UDゴシック" pitchFamily="49" charset="-128"/>
                          <a:cs typeface="BIZ UDゴシック" pitchFamily="34" charset="-120"/>
                        </a:rPr>
                        <a:t>見えない敵</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tc>
                  <a:txBody>
                    <a:bodyPr/>
                    <a:lstStyle/>
                    <a:p>
                      <a:pPr marL="0" indent="0">
                        <a:buNone/>
                      </a:pPr>
                      <a:r>
                        <a:rPr lang="en-US" sz="2200" b="1" dirty="0">
                          <a:solidFill>
                            <a:srgbClr val="FFFFFF"/>
                          </a:solidFill>
                          <a:latin typeface="BIZ UDゴシック" pitchFamily="34" charset="0"/>
                          <a:ea typeface="BIZ UDゴシック" pitchFamily="49" charset="-128"/>
                          <a:cs typeface="BIZ UDゴシック" pitchFamily="34" charset="-120"/>
                        </a:rPr>
                        <a:t>COM-Bの箱</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tc>
                  <a:txBody>
                    <a:bodyPr/>
                    <a:lstStyle/>
                    <a:p>
                      <a:pPr marL="0" indent="0">
                        <a:buNone/>
                      </a:pPr>
                      <a:r>
                        <a:rPr lang="en-US" sz="2200" b="1" dirty="0">
                          <a:solidFill>
                            <a:srgbClr val="FFFFFF"/>
                          </a:solidFill>
                          <a:latin typeface="BIZ UDゴシック" pitchFamily="34" charset="0"/>
                          <a:ea typeface="BIZ UDゴシック" pitchFamily="49" charset="-128"/>
                          <a:cs typeface="BIZ UDゴシック" pitchFamily="34" charset="-120"/>
                        </a:rPr>
                        <a:t>打ち手の方向性</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extLst>
                  <a:ext uri="{0D108BD9-81ED-4DB2-BD59-A6C34878D82A}">
                    <a16:rowId xmlns:a16="http://schemas.microsoft.com/office/drawing/2014/main" val="10000"/>
                  </a:ext>
                </a:extLst>
              </a:tr>
              <a:tr h="603504">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① 思い込み</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動機（内省的）</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「患者さんを守る」を主語に</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② </a:t>
                      </a:r>
                      <a:r>
                        <a:rPr lang="en-US" sz="2200" b="1" dirty="0" err="1">
                          <a:solidFill>
                            <a:srgbClr val="D1480E"/>
                          </a:solidFill>
                          <a:latin typeface="BIZ UDゴシック" pitchFamily="34" charset="0"/>
                          <a:ea typeface="BIZ UDゴシック" pitchFamily="49" charset="-128"/>
                          <a:cs typeface="BIZ UDゴシック" pitchFamily="34" charset="-120"/>
                        </a:rPr>
                        <a:t>ホーソン効果</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（測定をゆがめる）</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200" dirty="0" err="1">
                          <a:solidFill>
                            <a:srgbClr val="1B2333"/>
                          </a:solidFill>
                          <a:latin typeface="BIZ UDゴシック" pitchFamily="34" charset="0"/>
                          <a:ea typeface="BIZ UDゴシック" pitchFamily="49" charset="-128"/>
                          <a:cs typeface="BIZ UDゴシック" pitchFamily="34" charset="-120"/>
                        </a:rPr>
                        <a:t>隠れて測定</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603504">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③ 疲れ</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能力（心理的）</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仕組み・休息・判断支援</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④ 周囲の空気</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機会（社会的）</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リーダーの率先・同僚比較</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603504">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⑤ 環境と動線</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機会（物理的）</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その場に置く・動線に組み込む</a:t>
                      </a:r>
                      <a:endParaRPr lang="en-US" sz="2200" dirty="0">
                        <a:latin typeface="BIZ UDゴシック" charset="0"/>
                        <a:ea typeface="BIZ UDゴシック" charset="0"/>
                        <a:cs typeface="BIZ UDゴシック" charset="0"/>
                      </a:endParaRPr>
                    </a:p>
                  </a:txBody>
                  <a:tcPr marL="137160" marR="137160"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txBox="1"/>
          <p:nvPr/>
        </p:nvSpPr>
        <p:spPr>
          <a:xfrm>
            <a:off x="548640" y="5623560"/>
            <a:ext cx="11094415" cy="502920"/>
          </a:xfrm>
          <a:prstGeom prst="rect">
            <a:avLst/>
          </a:prstGeom>
          <a:noFill/>
          <a:ln/>
        </p:spPr>
        <p:txBody>
          <a:bodyPr wrap="square" lIns="0" tIns="0" rIns="0" bIns="0" rtlCol="0" anchor="ctr"/>
          <a:lstStyle/>
          <a:p>
            <a:pPr marL="0" indent="0" algn="ctr">
              <a:buNone/>
            </a:pPr>
            <a:r>
              <a:rPr lang="en-US" sz="2400" b="1" dirty="0">
                <a:solidFill>
                  <a:srgbClr val="0B7A70"/>
                </a:solidFill>
                <a:latin typeface="BIZ UDゴシック" pitchFamily="34" charset="0"/>
                <a:ea typeface="BIZ UDゴシック" pitchFamily="49" charset="-128"/>
                <a:cs typeface="BIZ UDゴシック" pitchFamily="34" charset="-120"/>
              </a:rPr>
              <a:t>原因の「箱」と、打ち手の「方向」を合わせる</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378200" cy="420624"/>
          </a:xfrm>
          <a:prstGeom prst="roundRect">
            <a:avLst>
              <a:gd name="adj" fmla="val 50000"/>
            </a:avLst>
          </a:prstGeom>
          <a:solidFill>
            <a:srgbClr val="0B7A70"/>
          </a:solidFill>
          <a:ln w="12700">
            <a:solidFill>
              <a:srgbClr val="0B7A70"/>
            </a:solidFill>
            <a:prstDash val="solid"/>
          </a:ln>
        </p:spPr>
      </p:sp>
      <p:sp>
        <p:nvSpPr>
          <p:cNvPr id="3" name="Text 1"/>
          <p:cNvSpPr txBox="1"/>
          <p:nvPr/>
        </p:nvSpPr>
        <p:spPr>
          <a:xfrm>
            <a:off x="548640" y="347472"/>
            <a:ext cx="3378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見える化① 汚染を見せる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環境に触れた手は、患者に触れた手と同じくらい汚れる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出典：Stiefel U, et al. Infect Control Hosp Epidemiol 2011</a:t>
            </a:r>
            <a:endParaRPr lang="en-US" sz="2000" dirty="0"/>
          </a:p>
        </p:txBody>
      </p:sp>
      <p:sp>
        <p:nvSpPr>
          <p:cNvPr id="7" name="Text 4"/>
          <p:cNvSpPr txBox="1"/>
          <p:nvPr/>
        </p:nvSpPr>
        <p:spPr>
          <a:xfrm>
            <a:off x="548640" y="1783080"/>
            <a:ext cx="5760720" cy="36576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手にMRSAが付着した割合</a:t>
            </a:r>
            <a:endParaRPr lang="en-US" sz="2000" dirty="0"/>
          </a:p>
        </p:txBody>
      </p:sp>
      <p:graphicFrame>
        <p:nvGraphicFramePr>
          <p:cNvPr id="8" name="Chart 0"/>
          <p:cNvGraphicFramePr/>
          <p:nvPr/>
        </p:nvGraphicFramePr>
        <p:xfrm>
          <a:off x="548640" y="2148840"/>
          <a:ext cx="55778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492240" y="2011680"/>
            <a:ext cx="5150815" cy="3931920"/>
          </a:xfrm>
          <a:prstGeom prst="roundRect">
            <a:avLst>
              <a:gd name="adj" fmla="val 2791"/>
            </a:avLst>
          </a:prstGeom>
          <a:solidFill>
            <a:srgbClr val="EEF2F7"/>
          </a:solidFill>
          <a:ln w="12700">
            <a:solidFill>
              <a:srgbClr val="EEF2F7"/>
            </a:solidFill>
            <a:prstDash val="solid"/>
          </a:ln>
        </p:spPr>
      </p:sp>
      <p:sp>
        <p:nvSpPr>
          <p:cNvPr id="10" name="Text 6"/>
          <p:cNvSpPr txBox="1"/>
          <p:nvPr/>
        </p:nvSpPr>
        <p:spPr>
          <a:xfrm>
            <a:off x="6748272" y="2240280"/>
            <a:ext cx="4638751" cy="3474720"/>
          </a:xfrm>
          <a:prstGeom prst="rect">
            <a:avLst/>
          </a:prstGeom>
          <a:noFill/>
          <a:ln/>
        </p:spPr>
        <p:txBody>
          <a:bodyPr wrap="square" lIns="0" tIns="0" rIns="0" bIns="0" rtlCol="0" anchor="t"/>
          <a:lstStyle/>
          <a:p>
            <a:pPr marL="0" indent="0">
              <a:spcAft>
                <a:spcPts val="1400"/>
              </a:spcAft>
              <a:buNone/>
            </a:pPr>
            <a:r>
              <a:rPr lang="en-US" sz="2200" b="1" dirty="0">
                <a:solidFill>
                  <a:srgbClr val="131B35"/>
                </a:solidFill>
                <a:latin typeface="BIZ UDゴシック" pitchFamily="34" charset="0"/>
                <a:ea typeface="BIZ UDゴシック" pitchFamily="49" charset="-128"/>
                <a:cs typeface="BIZ UDゴシック" pitchFamily="34" charset="-120"/>
              </a:rPr>
              <a:t>MRSA保菌者40名の病室で検証</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ベッド柵・テーブル・機器に</a:t>
            </a:r>
            <a:endParaRPr lang="en-US" sz="2200" dirty="0"/>
          </a:p>
          <a:p>
            <a:pPr marL="0" indent="0">
              <a:spcAft>
                <a:spcPts val="1400"/>
              </a:spcAft>
              <a:buNone/>
            </a:pPr>
            <a:r>
              <a:rPr lang="en-US" sz="2200" dirty="0">
                <a:solidFill>
                  <a:srgbClr val="1B2333"/>
                </a:solidFill>
                <a:latin typeface="BIZ UDゴシック" pitchFamily="34" charset="0"/>
                <a:ea typeface="BIZ UDゴシック" pitchFamily="49" charset="-128"/>
                <a:cs typeface="BIZ UDゴシック" pitchFamily="34" charset="-120"/>
              </a:rPr>
              <a:t>触れるだけで、手は汚れる</a:t>
            </a:r>
            <a:endParaRPr lang="en-US" sz="2200" dirty="0"/>
          </a:p>
          <a:p>
            <a:pPr marL="0" indent="0">
              <a:buNone/>
            </a:pPr>
            <a:r>
              <a:rPr lang="en-US" sz="2200" b="1" dirty="0">
                <a:solidFill>
                  <a:srgbClr val="0B7A70"/>
                </a:solidFill>
                <a:latin typeface="BIZ UDゴシック" pitchFamily="34" charset="0"/>
                <a:ea typeface="BIZ UDゴシック" pitchFamily="49" charset="-128"/>
                <a:cs typeface="BIZ UDゴシック" pitchFamily="34" charset="-120"/>
              </a:rPr>
              <a:t>→ 患者に触れない職種も、</a:t>
            </a:r>
            <a:endParaRPr lang="en-US" sz="2200" dirty="0"/>
          </a:p>
          <a:p>
            <a:pPr marL="0" indent="0">
              <a:buNone/>
            </a:pPr>
            <a:r>
              <a:rPr lang="en-US" sz="2200" b="1" dirty="0">
                <a:solidFill>
                  <a:srgbClr val="0B7A70"/>
                </a:solidFill>
                <a:latin typeface="BIZ UDゴシック" pitchFamily="34" charset="0"/>
                <a:ea typeface="BIZ UDゴシック" pitchFamily="49" charset="-128"/>
                <a:cs typeface="BIZ UDゴシック" pitchFamily="34" charset="-120"/>
              </a:rPr>
              <a:t>環境に触れたら手指衛生</a:t>
            </a:r>
            <a:endParaRPr lang="en-US" sz="2200" dirty="0"/>
          </a:p>
          <a:p>
            <a:pPr marL="0" indent="0">
              <a:spcAft>
                <a:spcPts val="1400"/>
              </a:spcAft>
              <a:buNone/>
            </a:pPr>
            <a:r>
              <a:rPr lang="en-US" sz="2200" b="1" dirty="0">
                <a:solidFill>
                  <a:srgbClr val="0B7A70"/>
                </a:solidFill>
                <a:latin typeface="BIZ UDゴシック" pitchFamily="34" charset="0"/>
                <a:ea typeface="BIZ UDゴシック" pitchFamily="49" charset="-128"/>
                <a:cs typeface="BIZ UDゴシック" pitchFamily="34" charset="-120"/>
              </a:rPr>
              <a:t>（リハビリ・放射線・検査・清掃）</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378200" cy="420624"/>
          </a:xfrm>
          <a:prstGeom prst="roundRect">
            <a:avLst>
              <a:gd name="adj" fmla="val 50000"/>
            </a:avLst>
          </a:prstGeom>
          <a:solidFill>
            <a:srgbClr val="0B7A70"/>
          </a:solidFill>
          <a:ln w="12700">
            <a:solidFill>
              <a:srgbClr val="0B7A70"/>
            </a:solidFill>
            <a:prstDash val="solid"/>
          </a:ln>
        </p:spPr>
      </p:sp>
      <p:sp>
        <p:nvSpPr>
          <p:cNvPr id="3" name="Text 1"/>
          <p:cNvSpPr txBox="1"/>
          <p:nvPr/>
        </p:nvSpPr>
        <p:spPr>
          <a:xfrm>
            <a:off x="548640" y="347472"/>
            <a:ext cx="3378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見える化① 汚染を見せる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蛍光で「その場で見せる」と、脱衣時の汚染は激減する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出典：Tomas ME, et al. JAMA Intern Med 2015</a:t>
            </a:r>
            <a:endParaRPr lang="en-US" sz="2000" dirty="0"/>
          </a:p>
        </p:txBody>
      </p:sp>
      <p:sp>
        <p:nvSpPr>
          <p:cNvPr id="7" name="Text 4"/>
          <p:cNvSpPr txBox="1"/>
          <p:nvPr/>
        </p:nvSpPr>
        <p:spPr>
          <a:xfrm>
            <a:off x="548640" y="1783080"/>
            <a:ext cx="6675120" cy="36576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皮膚・衣服の汚染が起きた割合</a:t>
            </a:r>
            <a:endParaRPr lang="en-US" sz="2000" dirty="0"/>
          </a:p>
        </p:txBody>
      </p:sp>
      <p:graphicFrame>
        <p:nvGraphicFramePr>
          <p:cNvPr id="8" name="Chart 0"/>
          <p:cNvGraphicFramePr/>
          <p:nvPr/>
        </p:nvGraphicFramePr>
        <p:xfrm>
          <a:off x="548640" y="2148840"/>
          <a:ext cx="55778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492240" y="2011680"/>
            <a:ext cx="5150815" cy="3931920"/>
          </a:xfrm>
          <a:prstGeom prst="roundRect">
            <a:avLst>
              <a:gd name="adj" fmla="val 2791"/>
            </a:avLst>
          </a:prstGeom>
          <a:solidFill>
            <a:srgbClr val="EEF2F7"/>
          </a:solidFill>
          <a:ln w="12700">
            <a:solidFill>
              <a:srgbClr val="EEF2F7"/>
            </a:solidFill>
            <a:prstDash val="solid"/>
          </a:ln>
        </p:spPr>
      </p:sp>
      <p:sp>
        <p:nvSpPr>
          <p:cNvPr id="10" name="Text 6"/>
          <p:cNvSpPr txBox="1"/>
          <p:nvPr/>
        </p:nvSpPr>
        <p:spPr>
          <a:xfrm>
            <a:off x="6748272" y="2240280"/>
            <a:ext cx="4638751" cy="3474720"/>
          </a:xfrm>
          <a:prstGeom prst="rect">
            <a:avLst/>
          </a:prstGeom>
          <a:noFill/>
          <a:ln/>
        </p:spPr>
        <p:txBody>
          <a:bodyPr wrap="square" lIns="0" tIns="0" rIns="0" bIns="0" rtlCol="0" anchor="t"/>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4病院・435回の脱衣</a:t>
            </a:r>
            <a:endParaRPr lang="en-US" sz="2200" dirty="0"/>
          </a:p>
          <a:p>
            <a:pPr marL="0" indent="0">
              <a:spcAft>
                <a:spcPts val="1400"/>
              </a:spcAft>
              <a:buNone/>
            </a:pPr>
            <a:r>
              <a:rPr lang="en-US" sz="2200" b="1" dirty="0">
                <a:solidFill>
                  <a:srgbClr val="131B35"/>
                </a:solidFill>
                <a:latin typeface="BIZ UDゴシック" pitchFamily="34" charset="0"/>
                <a:ea typeface="BIZ UDゴシック" pitchFamily="49" charset="-128"/>
                <a:cs typeface="BIZ UDゴシック" pitchFamily="34" charset="-120"/>
              </a:rPr>
              <a:t>シミュレーションで46%に汚染</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手袋はガウンより汚染が多い</a:t>
            </a:r>
            <a:endParaRPr lang="en-US" sz="2200" dirty="0"/>
          </a:p>
          <a:p>
            <a:pPr marL="0" indent="0">
              <a:spcAft>
                <a:spcPts val="1400"/>
              </a:spcAft>
              <a:buNone/>
            </a:pPr>
            <a:r>
              <a:rPr lang="en-US" sz="2200" dirty="0">
                <a:solidFill>
                  <a:srgbClr val="1B2333"/>
                </a:solidFill>
                <a:latin typeface="BIZ UDゴシック" pitchFamily="34" charset="0"/>
                <a:ea typeface="BIZ UDゴシック" pitchFamily="49" charset="-128"/>
                <a:cs typeface="BIZ UDゴシック" pitchFamily="34" charset="-120"/>
              </a:rPr>
              <a:t>（52.9% vs 37.8%）</a:t>
            </a:r>
            <a:endParaRPr lang="en-US" sz="2200" dirty="0"/>
          </a:p>
          <a:p>
            <a:pPr marL="0" indent="0">
              <a:buNone/>
            </a:pPr>
            <a:r>
              <a:rPr lang="en-US" sz="2200" b="1" dirty="0">
                <a:solidFill>
                  <a:srgbClr val="0B7A70"/>
                </a:solidFill>
                <a:latin typeface="BIZ UDゴシック" pitchFamily="34" charset="0"/>
                <a:ea typeface="BIZ UDゴシック" pitchFamily="49" charset="-128"/>
                <a:cs typeface="BIZ UDゴシック" pitchFamily="34" charset="-120"/>
              </a:rPr>
              <a:t>→ 蛍光ローションで汚染を</a:t>
            </a:r>
            <a:endParaRPr lang="en-US" sz="2200" dirty="0"/>
          </a:p>
          <a:p>
            <a:pPr marL="0" indent="0">
              <a:spcAft>
                <a:spcPts val="1400"/>
              </a:spcAft>
              <a:buNone/>
            </a:pPr>
            <a:r>
              <a:rPr lang="en-US" sz="2200" b="1" dirty="0">
                <a:solidFill>
                  <a:srgbClr val="0B7A70"/>
                </a:solidFill>
                <a:latin typeface="BIZ UDゴシック" pitchFamily="34" charset="0"/>
                <a:ea typeface="BIZ UDゴシック" pitchFamily="49" charset="-128"/>
                <a:cs typeface="BIZ UDゴシック" pitchFamily="34" charset="-120"/>
              </a:rPr>
              <a:t>見せながら練習</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378200" cy="420624"/>
          </a:xfrm>
          <a:prstGeom prst="roundRect">
            <a:avLst>
              <a:gd name="adj" fmla="val 50000"/>
            </a:avLst>
          </a:prstGeom>
          <a:solidFill>
            <a:srgbClr val="0B7A70"/>
          </a:solidFill>
          <a:ln w="12700">
            <a:solidFill>
              <a:srgbClr val="0B7A70"/>
            </a:solidFill>
            <a:prstDash val="solid"/>
          </a:ln>
        </p:spPr>
      </p:sp>
      <p:sp>
        <p:nvSpPr>
          <p:cNvPr id="3" name="Text 1"/>
          <p:cNvSpPr txBox="1"/>
          <p:nvPr/>
        </p:nvSpPr>
        <p:spPr>
          <a:xfrm>
            <a:off x="548640" y="347472"/>
            <a:ext cx="3378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見える化① 汚染を見せる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清掃も「見せて返す」と、拭き残しが減る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出典：Carling PC, et al. Infect Control Hosp Epidemiol 2008</a:t>
            </a:r>
            <a:endParaRPr lang="en-US" sz="2000" dirty="0"/>
          </a:p>
        </p:txBody>
      </p:sp>
      <p:sp>
        <p:nvSpPr>
          <p:cNvPr id="7" name="Text 4"/>
          <p:cNvSpPr txBox="1"/>
          <p:nvPr/>
        </p:nvSpPr>
        <p:spPr>
          <a:xfrm>
            <a:off x="548640" y="1783080"/>
            <a:ext cx="5760720" cy="36576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清拭されていた高頻度接触面の割合</a:t>
            </a:r>
            <a:endParaRPr lang="en-US" sz="2000" dirty="0"/>
          </a:p>
        </p:txBody>
      </p:sp>
      <p:graphicFrame>
        <p:nvGraphicFramePr>
          <p:cNvPr id="8" name="Chart 0"/>
          <p:cNvGraphicFramePr/>
          <p:nvPr/>
        </p:nvGraphicFramePr>
        <p:xfrm>
          <a:off x="548640" y="2148840"/>
          <a:ext cx="55778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492240" y="2011680"/>
            <a:ext cx="5150815" cy="3931920"/>
          </a:xfrm>
          <a:prstGeom prst="roundRect">
            <a:avLst>
              <a:gd name="adj" fmla="val 2791"/>
            </a:avLst>
          </a:prstGeom>
          <a:solidFill>
            <a:srgbClr val="EEF2F7"/>
          </a:solidFill>
          <a:ln w="12700">
            <a:solidFill>
              <a:srgbClr val="EEF2F7"/>
            </a:solidFill>
            <a:prstDash val="solid"/>
          </a:ln>
        </p:spPr>
      </p:sp>
      <p:sp>
        <p:nvSpPr>
          <p:cNvPr id="10" name="Text 6"/>
          <p:cNvSpPr txBox="1"/>
          <p:nvPr/>
        </p:nvSpPr>
        <p:spPr>
          <a:xfrm>
            <a:off x="6748272" y="2240280"/>
            <a:ext cx="4638751" cy="3474720"/>
          </a:xfrm>
          <a:prstGeom prst="rect">
            <a:avLst/>
          </a:prstGeom>
          <a:noFill/>
          <a:ln/>
        </p:spPr>
        <p:txBody>
          <a:bodyPr wrap="square" lIns="0" tIns="0" rIns="0" bIns="0" rtlCol="0" anchor="t"/>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米国36病院・</a:t>
            </a:r>
            <a:endParaRPr lang="en-US" sz="2200" dirty="0"/>
          </a:p>
          <a:p>
            <a:pPr marL="0" indent="0">
              <a:spcAft>
                <a:spcPts val="1400"/>
              </a:spcAft>
              <a:buNone/>
            </a:pPr>
            <a:r>
              <a:rPr lang="en-US" sz="2200" b="1" dirty="0">
                <a:solidFill>
                  <a:srgbClr val="131B35"/>
                </a:solidFill>
                <a:latin typeface="BIZ UDゴシック" pitchFamily="34" charset="0"/>
                <a:ea typeface="BIZ UDゴシック" pitchFamily="49" charset="-128"/>
                <a:cs typeface="BIZ UDゴシック" pitchFamily="34" charset="-120"/>
              </a:rPr>
              <a:t>約2万か所の表面を評価</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蛍光マーカーで拭き残しを</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客観的に見える化し、</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清掃スタッフにくり返し</a:t>
            </a:r>
            <a:endParaRPr lang="en-US" sz="2200" dirty="0"/>
          </a:p>
          <a:p>
            <a:pPr marL="0" indent="0">
              <a:spcAft>
                <a:spcPts val="1400"/>
              </a:spcAft>
              <a:buNone/>
            </a:pPr>
            <a:r>
              <a:rPr lang="en-US" sz="2200" dirty="0">
                <a:solidFill>
                  <a:srgbClr val="1B2333"/>
                </a:solidFill>
                <a:latin typeface="BIZ UDゴシック" pitchFamily="34" charset="0"/>
                <a:ea typeface="BIZ UDゴシック" pitchFamily="49" charset="-128"/>
                <a:cs typeface="BIZ UDゴシック" pitchFamily="34" charset="-120"/>
              </a:rPr>
              <a:t>フィードバック</a:t>
            </a:r>
            <a:endParaRPr lang="en-US" sz="2200" dirty="0"/>
          </a:p>
          <a:p>
            <a:pPr marL="0" indent="0">
              <a:buNone/>
            </a:pPr>
            <a:r>
              <a:rPr lang="en-US" sz="2200" b="1" dirty="0">
                <a:solidFill>
                  <a:srgbClr val="0B7A70"/>
                </a:solidFill>
                <a:latin typeface="BIZ UDゴシック" pitchFamily="34" charset="0"/>
                <a:ea typeface="BIZ UDゴシック" pitchFamily="49" charset="-128"/>
                <a:cs typeface="BIZ UDゴシック" pitchFamily="34" charset="-120"/>
              </a:rPr>
              <a:t>→ 敵は人ではなく</a:t>
            </a:r>
            <a:endParaRPr lang="en-US" sz="2200" dirty="0"/>
          </a:p>
          <a:p>
            <a:pPr marL="0" indent="0">
              <a:spcAft>
                <a:spcPts val="1400"/>
              </a:spcAft>
              <a:buNone/>
            </a:pPr>
            <a:r>
              <a:rPr lang="en-US" sz="2200" b="1" dirty="0">
                <a:solidFill>
                  <a:srgbClr val="0B7A70"/>
                </a:solidFill>
                <a:latin typeface="BIZ UDゴシック" pitchFamily="34" charset="0"/>
                <a:ea typeface="BIZ UDゴシック" pitchFamily="49" charset="-128"/>
                <a:cs typeface="BIZ UDゴシック" pitchFamily="34" charset="-120"/>
              </a:rPr>
              <a:t>「見えないこと」</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28</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3124200" cy="420624"/>
          </a:xfrm>
          <a:prstGeom prst="roundRect">
            <a:avLst>
              <a:gd name="adj" fmla="val 50000"/>
            </a:avLst>
          </a:prstGeom>
          <a:solidFill>
            <a:srgbClr val="0B7A70"/>
          </a:solidFill>
          <a:ln w="12700">
            <a:solidFill>
              <a:srgbClr val="0B7A70"/>
            </a:solidFill>
            <a:prstDash val="solid"/>
          </a:ln>
        </p:spPr>
      </p:sp>
      <p:sp>
        <p:nvSpPr>
          <p:cNvPr id="3" name="Text 1"/>
          <p:cNvSpPr txBox="1"/>
          <p:nvPr/>
        </p:nvSpPr>
        <p:spPr>
          <a:xfrm>
            <a:off x="548640" y="347472"/>
            <a:ext cx="3124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見える化② 当院の実践</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手指消毒剤の使用量は、約2.1倍に増えた</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出典：鈴木徳洋, 他. 日本外科感染症学会（ポスター発表）</a:t>
            </a:r>
            <a:endParaRPr lang="en-US" sz="2000" dirty="0"/>
          </a:p>
        </p:txBody>
      </p:sp>
      <p:sp>
        <p:nvSpPr>
          <p:cNvPr id="7" name="Text 4"/>
          <p:cNvSpPr txBox="1"/>
          <p:nvPr/>
        </p:nvSpPr>
        <p:spPr>
          <a:xfrm>
            <a:off x="548640" y="1783080"/>
            <a:ext cx="5852160" cy="36576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病院全体の手指消毒剤使用量（L／1000患者日）</a:t>
            </a:r>
            <a:endParaRPr lang="en-US" sz="2000" dirty="0"/>
          </a:p>
        </p:txBody>
      </p:sp>
      <p:graphicFrame>
        <p:nvGraphicFramePr>
          <p:cNvPr id="8" name="Chart 0"/>
          <p:cNvGraphicFramePr/>
          <p:nvPr/>
        </p:nvGraphicFramePr>
        <p:xfrm>
          <a:off x="548640" y="2148840"/>
          <a:ext cx="557784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492240" y="2011680"/>
            <a:ext cx="5150815" cy="3931920"/>
          </a:xfrm>
          <a:prstGeom prst="roundRect">
            <a:avLst>
              <a:gd name="adj" fmla="val 2791"/>
            </a:avLst>
          </a:prstGeom>
          <a:solidFill>
            <a:srgbClr val="EEF2F7"/>
          </a:solidFill>
          <a:ln w="12700">
            <a:solidFill>
              <a:srgbClr val="EEF2F7"/>
            </a:solidFill>
            <a:prstDash val="solid"/>
          </a:ln>
        </p:spPr>
      </p:sp>
      <p:sp>
        <p:nvSpPr>
          <p:cNvPr id="10" name="Text 6"/>
          <p:cNvSpPr txBox="1"/>
          <p:nvPr/>
        </p:nvSpPr>
        <p:spPr>
          <a:xfrm>
            <a:off x="6748272" y="2240280"/>
            <a:ext cx="4638751" cy="3474720"/>
          </a:xfrm>
          <a:prstGeom prst="rect">
            <a:avLst/>
          </a:prstGeom>
          <a:noFill/>
          <a:ln/>
        </p:spPr>
        <p:txBody>
          <a:bodyPr wrap="square" lIns="0" tIns="0" rIns="0" bIns="0" rtlCol="0" anchor="t"/>
          <a:lstStyle/>
          <a:p>
            <a:pPr marL="0" indent="0">
              <a:buNone/>
            </a:pPr>
            <a:r>
              <a:rPr lang="en-US" sz="2200" b="1" dirty="0">
                <a:solidFill>
                  <a:srgbClr val="131B35"/>
                </a:solidFill>
                <a:latin typeface="BIZ UDゴシック" pitchFamily="34" charset="0"/>
                <a:ea typeface="BIZ UDゴシック" pitchFamily="49" charset="-128"/>
                <a:cs typeface="BIZ UDゴシック" pitchFamily="34" charset="-120"/>
              </a:rPr>
              <a:t>全13部署で有意に増加</a:t>
            </a:r>
            <a:endParaRPr lang="en-US" sz="2200" dirty="0"/>
          </a:p>
          <a:p>
            <a:pPr marL="0" indent="0">
              <a:spcAft>
                <a:spcPts val="1400"/>
              </a:spcAft>
              <a:buNone/>
            </a:pPr>
            <a:r>
              <a:rPr lang="en-US" sz="2200" b="1" dirty="0">
                <a:solidFill>
                  <a:srgbClr val="131B35"/>
                </a:solidFill>
                <a:latin typeface="BIZ UDゴシック" pitchFamily="34" charset="0"/>
                <a:ea typeface="BIZ UDゴシック" pitchFamily="49" charset="-128"/>
                <a:cs typeface="BIZ UDゴシック" pitchFamily="34" charset="-120"/>
              </a:rPr>
              <a:t>（p&lt;0.0001）</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直接観察の遵守率は</a:t>
            </a:r>
            <a:endParaRPr lang="en-US" sz="2200" dirty="0"/>
          </a:p>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大きな伸びなし</a:t>
            </a:r>
            <a:endParaRPr lang="en-US" sz="2200" dirty="0"/>
          </a:p>
          <a:p>
            <a:pPr marL="0" indent="0">
              <a:spcAft>
                <a:spcPts val="1400"/>
              </a:spcAft>
              <a:buNone/>
            </a:pPr>
            <a:r>
              <a:rPr lang="en-US" sz="2200" dirty="0">
                <a:solidFill>
                  <a:srgbClr val="1B2333"/>
                </a:solidFill>
                <a:latin typeface="BIZ UDゴシック" pitchFamily="34" charset="0"/>
                <a:ea typeface="BIZ UDゴシック" pitchFamily="49" charset="-128"/>
                <a:cs typeface="BIZ UDゴシック" pitchFamily="34" charset="-120"/>
              </a:rPr>
              <a:t>ただしコロナ禍後も維持</a:t>
            </a:r>
            <a:endParaRPr lang="en-US" sz="2200" dirty="0"/>
          </a:p>
          <a:p>
            <a:pPr marL="0" indent="0">
              <a:buNone/>
            </a:pPr>
            <a:r>
              <a:rPr lang="en-US" sz="2200" dirty="0">
                <a:solidFill>
                  <a:srgbClr val="4F5B6B"/>
                </a:solidFill>
                <a:latin typeface="BIZ UDゴシック" pitchFamily="34" charset="0"/>
                <a:ea typeface="BIZ UDゴシック" pitchFamily="49" charset="-128"/>
                <a:cs typeface="BIZ UDゴシック" pitchFamily="34" charset="-120"/>
              </a:rPr>
              <a:t>限界：単年度の前後比較</a:t>
            </a:r>
            <a:endParaRPr lang="en-US" sz="2200" dirty="0"/>
          </a:p>
          <a:p>
            <a:pPr marL="0" indent="0">
              <a:spcAft>
                <a:spcPts val="1400"/>
              </a:spcAft>
              <a:buNone/>
            </a:pPr>
            <a:r>
              <a:rPr lang="en-US" sz="2200" dirty="0">
                <a:solidFill>
                  <a:srgbClr val="4F5B6B"/>
                </a:solidFill>
                <a:latin typeface="BIZ UDゴシック" pitchFamily="34" charset="0"/>
                <a:ea typeface="BIZ UDゴシック" pitchFamily="49" charset="-128"/>
                <a:cs typeface="BIZ UDゴシック" pitchFamily="34" charset="-120"/>
              </a:rPr>
              <a:t>使用量＝遵守率ではない</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chemeClr val="bg1"/>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7818120" y="1143000"/>
            <a:ext cx="3840480" cy="3840480"/>
          </a:xfrm>
          <a:prstGeom prst="rect">
            <a:avLst/>
          </a:prstGeom>
        </p:spPr>
      </p:pic>
      <p:pic>
        <p:nvPicPr>
          <p:cNvPr id="4" name="Image 1" descr="preencoded.png"/>
          <p:cNvPicPr>
            <a:picLocks noChangeAspect="1"/>
          </p:cNvPicPr>
          <p:nvPr/>
        </p:nvPicPr>
        <p:blipFill>
          <a:blip r:embed="rId4"/>
          <a:stretch>
            <a:fillRect/>
          </a:stretch>
        </p:blipFill>
        <p:spPr>
          <a:xfrm>
            <a:off x="9006840" y="2331720"/>
            <a:ext cx="1463040" cy="1463040"/>
          </a:xfrm>
          <a:prstGeom prst="rect">
            <a:avLst/>
          </a:prstGeom>
        </p:spPr>
      </p:pic>
      <p:sp>
        <p:nvSpPr>
          <p:cNvPr id="5" name="Text 0"/>
          <p:cNvSpPr txBox="1"/>
          <p:nvPr/>
        </p:nvSpPr>
        <p:spPr>
          <a:xfrm>
            <a:off x="822960" y="2240280"/>
            <a:ext cx="6766560" cy="457200"/>
          </a:xfrm>
          <a:prstGeom prst="rect">
            <a:avLst/>
          </a:prstGeom>
          <a:noFill/>
          <a:ln/>
        </p:spPr>
        <p:txBody>
          <a:bodyPr wrap="square" lIns="0" tIns="0" rIns="0" bIns="0" rtlCol="0" anchor="t"/>
          <a:lstStyle/>
          <a:p>
            <a:pPr marL="0" indent="0">
              <a:buNone/>
            </a:pPr>
            <a:r>
              <a:rPr lang="en-US" sz="2400" b="1" dirty="0">
                <a:latin typeface="BIZ UDゴシック" pitchFamily="34" charset="0"/>
                <a:ea typeface="BIZ UDゴシック" pitchFamily="49" charset="-128"/>
                <a:cs typeface="BIZ UDゴシック" pitchFamily="34" charset="-120"/>
              </a:rPr>
              <a:t>第4部</a:t>
            </a:r>
            <a:endParaRPr lang="en-US" sz="2400" dirty="0"/>
          </a:p>
        </p:txBody>
      </p:sp>
      <p:sp>
        <p:nvSpPr>
          <p:cNvPr id="6" name="Text 1"/>
          <p:cNvSpPr txBox="1"/>
          <p:nvPr/>
        </p:nvSpPr>
        <p:spPr>
          <a:xfrm>
            <a:off x="822960" y="2788920"/>
            <a:ext cx="6766560" cy="749808"/>
          </a:xfrm>
          <a:prstGeom prst="rect">
            <a:avLst/>
          </a:prstGeom>
          <a:noFill/>
          <a:ln/>
        </p:spPr>
        <p:txBody>
          <a:bodyPr wrap="square" lIns="0" tIns="0" rIns="0" bIns="0" rtlCol="0" anchor="t"/>
          <a:lstStyle/>
          <a:p>
            <a:pPr marL="0" indent="0">
              <a:buNone/>
            </a:pPr>
            <a:r>
              <a:rPr lang="en-US" sz="4000" b="1" dirty="0">
                <a:latin typeface="BIZ UDゴシック" pitchFamily="34" charset="0"/>
                <a:ea typeface="BIZ UDゴシック" pitchFamily="49" charset="-128"/>
                <a:cs typeface="BIZ UDゴシック" pitchFamily="34" charset="-120"/>
              </a:rPr>
              <a:t>明日から「仕掛ける」</a:t>
            </a:r>
            <a:endParaRPr lang="en-US" sz="4000" dirty="0"/>
          </a:p>
        </p:txBody>
      </p:sp>
      <p:sp>
        <p:nvSpPr>
          <p:cNvPr id="7" name="Text 2"/>
          <p:cNvSpPr txBox="1"/>
          <p:nvPr/>
        </p:nvSpPr>
        <p:spPr>
          <a:xfrm>
            <a:off x="822960" y="3721608"/>
            <a:ext cx="6766560" cy="548640"/>
          </a:xfrm>
          <a:prstGeom prst="rect">
            <a:avLst/>
          </a:prstGeom>
          <a:noFill/>
          <a:ln/>
        </p:spPr>
        <p:txBody>
          <a:bodyPr wrap="square" lIns="0" tIns="0" rIns="0" bIns="0" rtlCol="0" anchor="t"/>
          <a:lstStyle/>
          <a:p>
            <a:pPr marL="0" indent="0">
              <a:buNone/>
            </a:pPr>
            <a:r>
              <a:rPr lang="en-US" sz="2400" dirty="0">
                <a:latin typeface="BIZ UDゴシック" pitchFamily="34" charset="0"/>
                <a:ea typeface="BIZ UDゴシック" pitchFamily="49" charset="-128"/>
                <a:cs typeface="BIZ UDゴシック" pitchFamily="34" charset="-120"/>
              </a:rPr>
              <a:t>4ステップ・EAST・職種別の一手</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FA0C0"/>
                </a:solidFill>
                <a:latin typeface="BIZ UDゴシック"/>
                <a:ea typeface="BIZ UDゴシック"/>
                <a:cs typeface="BIZ UDゴシック"/>
              </a:defRPr>
            </a:lvl1pPr>
          </a:lstStyle>
          <a:p>
            <a:pPr algn="r"/>
            <a:fld id="{F7021451-1387-4CA6-816F-3879F97B5CBC}" type="slidenum">
              <a:rPr lang="en-US" b="0">
                <a:solidFill>
                  <a:schemeClr val="tx1"/>
                </a:solidFill>
              </a:rPr>
              <a:t>34</a:t>
            </a:fld>
            <a:endParaRPr lang="en-US">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第4部 仕掛ける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見える化は4ステップで、小さく始める</a:t>
            </a:r>
            <a:endParaRPr lang="en-US" sz="3200" dirty="0"/>
          </a:p>
        </p:txBody>
      </p:sp>
      <p:sp>
        <p:nvSpPr>
          <p:cNvPr id="6" name="Shape 3"/>
          <p:cNvSpPr/>
          <p:nvPr/>
        </p:nvSpPr>
        <p:spPr>
          <a:xfrm>
            <a:off x="548640" y="2011680"/>
            <a:ext cx="2514600" cy="3429000"/>
          </a:xfrm>
          <a:prstGeom prst="roundRect">
            <a:avLst>
              <a:gd name="adj" fmla="val 4364"/>
            </a:avLst>
          </a:prstGeom>
          <a:solidFill>
            <a:srgbClr val="EEF2F7"/>
          </a:solidFill>
          <a:ln w="12700">
            <a:solidFill>
              <a:srgbClr val="EEF2F7"/>
            </a:solidFill>
            <a:prstDash val="solid"/>
          </a:ln>
        </p:spPr>
      </p:sp>
      <p:sp>
        <p:nvSpPr>
          <p:cNvPr id="7" name="Shape 4"/>
          <p:cNvSpPr/>
          <p:nvPr/>
        </p:nvSpPr>
        <p:spPr>
          <a:xfrm>
            <a:off x="1348740" y="2240280"/>
            <a:ext cx="914400" cy="914400"/>
          </a:xfrm>
          <a:prstGeom prst="ellipse">
            <a:avLst/>
          </a:prstGeom>
          <a:solidFill>
            <a:srgbClr val="131B35"/>
          </a:solidFill>
          <a:ln w="12700">
            <a:solidFill>
              <a:srgbClr val="131B35"/>
            </a:solidFill>
            <a:prstDash val="solid"/>
          </a:ln>
        </p:spPr>
      </p:sp>
      <p:sp>
        <p:nvSpPr>
          <p:cNvPr id="8" name="Text 5"/>
          <p:cNvSpPr txBox="1"/>
          <p:nvPr/>
        </p:nvSpPr>
        <p:spPr>
          <a:xfrm>
            <a:off x="1348740" y="2240280"/>
            <a:ext cx="914400" cy="914400"/>
          </a:xfrm>
          <a:prstGeom prst="rect">
            <a:avLst/>
          </a:prstGeom>
          <a:noFill/>
          <a:ln/>
        </p:spPr>
        <p:txBody>
          <a:bodyPr wrap="square" lIns="0" tIns="0" rIns="0" bIns="0" rtlCol="0" anchor="ctr"/>
          <a:lstStyle/>
          <a:p>
            <a:pPr marL="0" indent="0" algn="ctr">
              <a:buNone/>
            </a:pPr>
            <a:r>
              <a:rPr lang="en-US" sz="3200" b="1" dirty="0">
                <a:solidFill>
                  <a:srgbClr val="3FE8C2"/>
                </a:solidFill>
                <a:latin typeface="BIZ UDゴシック" pitchFamily="34" charset="0"/>
                <a:ea typeface="BIZ UDゴシック" pitchFamily="49" charset="-128"/>
                <a:cs typeface="BIZ UDゴシック" pitchFamily="34" charset="-120"/>
              </a:rPr>
              <a:t>1</a:t>
            </a:r>
            <a:endParaRPr lang="en-US" sz="3200" dirty="0"/>
          </a:p>
        </p:txBody>
      </p:sp>
      <p:sp>
        <p:nvSpPr>
          <p:cNvPr id="9" name="Text 6"/>
          <p:cNvSpPr txBox="1"/>
          <p:nvPr/>
        </p:nvSpPr>
        <p:spPr>
          <a:xfrm>
            <a:off x="548640" y="3291840"/>
            <a:ext cx="2514600" cy="548640"/>
          </a:xfrm>
          <a:prstGeom prst="rect">
            <a:avLst/>
          </a:prstGeom>
          <a:noFill/>
          <a:ln/>
        </p:spPr>
        <p:txBody>
          <a:bodyPr wrap="square" lIns="0" tIns="0" rIns="0" bIns="0" rtlCol="0" anchor="t"/>
          <a:lstStyle/>
          <a:p>
            <a:pPr marL="0" indent="0" algn="ctr">
              <a:buNone/>
            </a:pPr>
            <a:r>
              <a:rPr lang="en-US" sz="2800" b="1" dirty="0">
                <a:solidFill>
                  <a:srgbClr val="131B35"/>
                </a:solidFill>
                <a:latin typeface="BIZ UDゴシック" pitchFamily="34" charset="0"/>
                <a:ea typeface="BIZ UDゴシック" pitchFamily="49" charset="-128"/>
                <a:cs typeface="BIZ UDゴシック" pitchFamily="34" charset="-120"/>
              </a:rPr>
              <a:t>絞る</a:t>
            </a:r>
            <a:endParaRPr lang="en-US" sz="2800" dirty="0"/>
          </a:p>
        </p:txBody>
      </p:sp>
      <p:sp>
        <p:nvSpPr>
          <p:cNvPr id="10" name="Text 7"/>
          <p:cNvSpPr txBox="1"/>
          <p:nvPr/>
        </p:nvSpPr>
        <p:spPr>
          <a:xfrm>
            <a:off x="777240" y="3931920"/>
            <a:ext cx="2057400" cy="1325880"/>
          </a:xfrm>
          <a:prstGeom prst="rect">
            <a:avLst/>
          </a:prstGeom>
          <a:noFill/>
          <a:ln/>
        </p:spPr>
        <p:txBody>
          <a:bodyPr wrap="square" lIns="0" tIns="0" rIns="0" bIns="0" rtlCol="0" anchor="t"/>
          <a:lstStyle/>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誰が・いつ</a:t>
            </a:r>
            <a:endParaRPr lang="en-US" sz="2000" dirty="0"/>
          </a:p>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どこで・何を</a:t>
            </a:r>
            <a:endParaRPr lang="en-US" sz="2000" dirty="0"/>
          </a:p>
        </p:txBody>
      </p:sp>
      <p:sp>
        <p:nvSpPr>
          <p:cNvPr id="11" name="Shape 8"/>
          <p:cNvSpPr/>
          <p:nvPr/>
        </p:nvSpPr>
        <p:spPr>
          <a:xfrm>
            <a:off x="3098749" y="3474720"/>
            <a:ext cx="274320" cy="457200"/>
          </a:xfrm>
          <a:prstGeom prst="chevron">
            <a:avLst/>
          </a:prstGeom>
          <a:solidFill>
            <a:srgbClr val="8A96A8"/>
          </a:solidFill>
          <a:ln w="12700">
            <a:solidFill>
              <a:srgbClr val="8A96A8"/>
            </a:solidFill>
            <a:prstDash val="solid"/>
          </a:ln>
        </p:spPr>
      </p:sp>
      <p:sp>
        <p:nvSpPr>
          <p:cNvPr id="12" name="Shape 9"/>
          <p:cNvSpPr/>
          <p:nvPr/>
        </p:nvSpPr>
        <p:spPr>
          <a:xfrm>
            <a:off x="3408578" y="2011680"/>
            <a:ext cx="2514600" cy="3429000"/>
          </a:xfrm>
          <a:prstGeom prst="roundRect">
            <a:avLst>
              <a:gd name="adj" fmla="val 4364"/>
            </a:avLst>
          </a:prstGeom>
          <a:solidFill>
            <a:srgbClr val="EEF2F7"/>
          </a:solidFill>
          <a:ln w="12700">
            <a:solidFill>
              <a:srgbClr val="EEF2F7"/>
            </a:solidFill>
            <a:prstDash val="solid"/>
          </a:ln>
        </p:spPr>
      </p:sp>
      <p:sp>
        <p:nvSpPr>
          <p:cNvPr id="13" name="Shape 10"/>
          <p:cNvSpPr/>
          <p:nvPr/>
        </p:nvSpPr>
        <p:spPr>
          <a:xfrm>
            <a:off x="4208678" y="2240280"/>
            <a:ext cx="914400" cy="914400"/>
          </a:xfrm>
          <a:prstGeom prst="ellipse">
            <a:avLst/>
          </a:prstGeom>
          <a:solidFill>
            <a:srgbClr val="131B35"/>
          </a:solidFill>
          <a:ln w="12700">
            <a:solidFill>
              <a:srgbClr val="131B35"/>
            </a:solidFill>
            <a:prstDash val="solid"/>
          </a:ln>
        </p:spPr>
      </p:sp>
      <p:sp>
        <p:nvSpPr>
          <p:cNvPr id="14" name="Text 11"/>
          <p:cNvSpPr txBox="1"/>
          <p:nvPr/>
        </p:nvSpPr>
        <p:spPr>
          <a:xfrm>
            <a:off x="4208678" y="2240280"/>
            <a:ext cx="914400" cy="914400"/>
          </a:xfrm>
          <a:prstGeom prst="rect">
            <a:avLst/>
          </a:prstGeom>
          <a:noFill/>
          <a:ln/>
        </p:spPr>
        <p:txBody>
          <a:bodyPr wrap="square" lIns="0" tIns="0" rIns="0" bIns="0" rtlCol="0" anchor="ctr"/>
          <a:lstStyle/>
          <a:p>
            <a:pPr marL="0" indent="0" algn="ctr">
              <a:buNone/>
            </a:pPr>
            <a:r>
              <a:rPr lang="en-US" sz="3200" b="1" dirty="0">
                <a:solidFill>
                  <a:srgbClr val="3FE8C2"/>
                </a:solidFill>
                <a:latin typeface="BIZ UDゴシック" pitchFamily="34" charset="0"/>
                <a:ea typeface="BIZ UDゴシック" pitchFamily="49" charset="-128"/>
                <a:cs typeface="BIZ UDゴシック" pitchFamily="34" charset="-120"/>
              </a:rPr>
              <a:t>2</a:t>
            </a:r>
            <a:endParaRPr lang="en-US" sz="3200" dirty="0"/>
          </a:p>
        </p:txBody>
      </p:sp>
      <p:sp>
        <p:nvSpPr>
          <p:cNvPr id="15" name="Text 12"/>
          <p:cNvSpPr txBox="1"/>
          <p:nvPr/>
        </p:nvSpPr>
        <p:spPr>
          <a:xfrm>
            <a:off x="3408578" y="3291840"/>
            <a:ext cx="2514600" cy="548640"/>
          </a:xfrm>
          <a:prstGeom prst="rect">
            <a:avLst/>
          </a:prstGeom>
          <a:noFill/>
          <a:ln/>
        </p:spPr>
        <p:txBody>
          <a:bodyPr wrap="square" lIns="0" tIns="0" rIns="0" bIns="0" rtlCol="0" anchor="t"/>
          <a:lstStyle/>
          <a:p>
            <a:pPr marL="0" indent="0" algn="ctr">
              <a:buNone/>
            </a:pPr>
            <a:r>
              <a:rPr lang="en-US" sz="2800" b="1" dirty="0">
                <a:solidFill>
                  <a:srgbClr val="131B35"/>
                </a:solidFill>
                <a:latin typeface="BIZ UDゴシック" pitchFamily="34" charset="0"/>
                <a:ea typeface="BIZ UDゴシック" pitchFamily="49" charset="-128"/>
                <a:cs typeface="BIZ UDゴシック" pitchFamily="34" charset="-120"/>
              </a:rPr>
              <a:t>診断する</a:t>
            </a:r>
            <a:endParaRPr lang="en-US" sz="2800" dirty="0"/>
          </a:p>
        </p:txBody>
      </p:sp>
      <p:sp>
        <p:nvSpPr>
          <p:cNvPr id="16" name="Text 13"/>
          <p:cNvSpPr txBox="1"/>
          <p:nvPr/>
        </p:nvSpPr>
        <p:spPr>
          <a:xfrm>
            <a:off x="3637178" y="3931920"/>
            <a:ext cx="2057400" cy="1325880"/>
          </a:xfrm>
          <a:prstGeom prst="rect">
            <a:avLst/>
          </a:prstGeom>
          <a:noFill/>
          <a:ln/>
        </p:spPr>
        <p:txBody>
          <a:bodyPr wrap="square" lIns="0" tIns="0" rIns="0" bIns="0" rtlCol="0" anchor="t"/>
          <a:lstStyle/>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COM-Bで</a:t>
            </a:r>
            <a:endParaRPr lang="en-US" sz="2000" dirty="0"/>
          </a:p>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原因の箱を探す</a:t>
            </a:r>
            <a:endParaRPr lang="en-US" sz="2000" dirty="0"/>
          </a:p>
        </p:txBody>
      </p:sp>
      <p:sp>
        <p:nvSpPr>
          <p:cNvPr id="17" name="Shape 14"/>
          <p:cNvSpPr/>
          <p:nvPr/>
        </p:nvSpPr>
        <p:spPr>
          <a:xfrm>
            <a:off x="5958688" y="3474720"/>
            <a:ext cx="274320" cy="457200"/>
          </a:xfrm>
          <a:prstGeom prst="chevron">
            <a:avLst/>
          </a:prstGeom>
          <a:solidFill>
            <a:srgbClr val="8A96A8"/>
          </a:solidFill>
          <a:ln w="12700">
            <a:solidFill>
              <a:srgbClr val="8A96A8"/>
            </a:solidFill>
            <a:prstDash val="solid"/>
          </a:ln>
        </p:spPr>
      </p:sp>
      <p:sp>
        <p:nvSpPr>
          <p:cNvPr id="18" name="Shape 15"/>
          <p:cNvSpPr/>
          <p:nvPr/>
        </p:nvSpPr>
        <p:spPr>
          <a:xfrm>
            <a:off x="6268517" y="2011680"/>
            <a:ext cx="2514600" cy="3429000"/>
          </a:xfrm>
          <a:prstGeom prst="roundRect">
            <a:avLst>
              <a:gd name="adj" fmla="val 4364"/>
            </a:avLst>
          </a:prstGeom>
          <a:solidFill>
            <a:srgbClr val="EEF2F7"/>
          </a:solidFill>
          <a:ln w="12700">
            <a:solidFill>
              <a:srgbClr val="EEF2F7"/>
            </a:solidFill>
            <a:prstDash val="solid"/>
          </a:ln>
        </p:spPr>
      </p:sp>
      <p:sp>
        <p:nvSpPr>
          <p:cNvPr id="19" name="Shape 16"/>
          <p:cNvSpPr/>
          <p:nvPr/>
        </p:nvSpPr>
        <p:spPr>
          <a:xfrm>
            <a:off x="7068617" y="2240280"/>
            <a:ext cx="914400" cy="914400"/>
          </a:xfrm>
          <a:prstGeom prst="ellipse">
            <a:avLst/>
          </a:prstGeom>
          <a:solidFill>
            <a:srgbClr val="131B35"/>
          </a:solidFill>
          <a:ln w="12700">
            <a:solidFill>
              <a:srgbClr val="131B35"/>
            </a:solidFill>
            <a:prstDash val="solid"/>
          </a:ln>
        </p:spPr>
      </p:sp>
      <p:sp>
        <p:nvSpPr>
          <p:cNvPr id="20" name="Text 17"/>
          <p:cNvSpPr txBox="1"/>
          <p:nvPr/>
        </p:nvSpPr>
        <p:spPr>
          <a:xfrm>
            <a:off x="7068617" y="2240280"/>
            <a:ext cx="914400" cy="914400"/>
          </a:xfrm>
          <a:prstGeom prst="rect">
            <a:avLst/>
          </a:prstGeom>
          <a:noFill/>
          <a:ln/>
        </p:spPr>
        <p:txBody>
          <a:bodyPr wrap="square" lIns="0" tIns="0" rIns="0" bIns="0" rtlCol="0" anchor="ctr"/>
          <a:lstStyle/>
          <a:p>
            <a:pPr marL="0" indent="0" algn="ctr">
              <a:buNone/>
            </a:pPr>
            <a:r>
              <a:rPr lang="en-US" sz="3200" b="1" dirty="0">
                <a:solidFill>
                  <a:srgbClr val="3FE8C2"/>
                </a:solidFill>
                <a:latin typeface="BIZ UDゴシック" pitchFamily="34" charset="0"/>
                <a:ea typeface="BIZ UDゴシック" pitchFamily="49" charset="-128"/>
                <a:cs typeface="BIZ UDゴシック" pitchFamily="34" charset="-120"/>
              </a:rPr>
              <a:t>3</a:t>
            </a:r>
            <a:endParaRPr lang="en-US" sz="3200" dirty="0"/>
          </a:p>
        </p:txBody>
      </p:sp>
      <p:sp>
        <p:nvSpPr>
          <p:cNvPr id="21" name="Text 18"/>
          <p:cNvSpPr txBox="1"/>
          <p:nvPr/>
        </p:nvSpPr>
        <p:spPr>
          <a:xfrm>
            <a:off x="6268517" y="3291840"/>
            <a:ext cx="2514600" cy="548640"/>
          </a:xfrm>
          <a:prstGeom prst="rect">
            <a:avLst/>
          </a:prstGeom>
          <a:noFill/>
          <a:ln/>
        </p:spPr>
        <p:txBody>
          <a:bodyPr wrap="square" lIns="0" tIns="0" rIns="0" bIns="0" rtlCol="0" anchor="t"/>
          <a:lstStyle/>
          <a:p>
            <a:pPr marL="0" indent="0" algn="ctr">
              <a:buNone/>
            </a:pPr>
            <a:r>
              <a:rPr lang="en-US" sz="2800" b="1" dirty="0">
                <a:solidFill>
                  <a:srgbClr val="131B35"/>
                </a:solidFill>
                <a:latin typeface="BIZ UDゴシック" pitchFamily="34" charset="0"/>
                <a:ea typeface="BIZ UDゴシック" pitchFamily="49" charset="-128"/>
                <a:cs typeface="BIZ UDゴシック" pitchFamily="34" charset="-120"/>
              </a:rPr>
              <a:t>仕掛ける</a:t>
            </a:r>
            <a:endParaRPr lang="en-US" sz="2800" dirty="0"/>
          </a:p>
        </p:txBody>
      </p:sp>
      <p:sp>
        <p:nvSpPr>
          <p:cNvPr id="22" name="Text 19"/>
          <p:cNvSpPr txBox="1"/>
          <p:nvPr/>
        </p:nvSpPr>
        <p:spPr>
          <a:xfrm>
            <a:off x="6497117" y="3931920"/>
            <a:ext cx="2057400" cy="1325880"/>
          </a:xfrm>
          <a:prstGeom prst="rect">
            <a:avLst/>
          </a:prstGeom>
          <a:noFill/>
          <a:ln/>
        </p:spPr>
        <p:txBody>
          <a:bodyPr wrap="square" lIns="0" tIns="0" rIns="0" bIns="0" rtlCol="0" anchor="t"/>
          <a:lstStyle/>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EASTで</a:t>
            </a:r>
            <a:endParaRPr lang="en-US" sz="2000" dirty="0"/>
          </a:p>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環境と伝え方を</a:t>
            </a:r>
            <a:endParaRPr lang="en-US" sz="2000" dirty="0"/>
          </a:p>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変える</a:t>
            </a:r>
            <a:endParaRPr lang="en-US" sz="2000" dirty="0"/>
          </a:p>
        </p:txBody>
      </p:sp>
      <p:sp>
        <p:nvSpPr>
          <p:cNvPr id="23" name="Shape 20"/>
          <p:cNvSpPr/>
          <p:nvPr/>
        </p:nvSpPr>
        <p:spPr>
          <a:xfrm>
            <a:off x="8818626" y="3474720"/>
            <a:ext cx="274320" cy="457200"/>
          </a:xfrm>
          <a:prstGeom prst="chevron">
            <a:avLst/>
          </a:prstGeom>
          <a:solidFill>
            <a:srgbClr val="8A96A8"/>
          </a:solidFill>
          <a:ln w="12700">
            <a:solidFill>
              <a:srgbClr val="8A96A8"/>
            </a:solidFill>
            <a:prstDash val="solid"/>
          </a:ln>
        </p:spPr>
      </p:sp>
      <p:sp>
        <p:nvSpPr>
          <p:cNvPr id="24" name="Shape 21"/>
          <p:cNvSpPr/>
          <p:nvPr/>
        </p:nvSpPr>
        <p:spPr>
          <a:xfrm>
            <a:off x="9128455" y="2011680"/>
            <a:ext cx="2514600" cy="3429000"/>
          </a:xfrm>
          <a:prstGeom prst="roundRect">
            <a:avLst>
              <a:gd name="adj" fmla="val 4364"/>
            </a:avLst>
          </a:prstGeom>
          <a:solidFill>
            <a:srgbClr val="EEF2F7"/>
          </a:solidFill>
          <a:ln w="12700">
            <a:solidFill>
              <a:srgbClr val="EEF2F7"/>
            </a:solidFill>
            <a:prstDash val="solid"/>
          </a:ln>
        </p:spPr>
      </p:sp>
      <p:sp>
        <p:nvSpPr>
          <p:cNvPr id="25" name="Shape 22"/>
          <p:cNvSpPr/>
          <p:nvPr/>
        </p:nvSpPr>
        <p:spPr>
          <a:xfrm>
            <a:off x="9928555" y="2240280"/>
            <a:ext cx="914400" cy="914400"/>
          </a:xfrm>
          <a:prstGeom prst="ellipse">
            <a:avLst/>
          </a:prstGeom>
          <a:solidFill>
            <a:srgbClr val="131B35"/>
          </a:solidFill>
          <a:ln w="12700">
            <a:solidFill>
              <a:srgbClr val="131B35"/>
            </a:solidFill>
            <a:prstDash val="solid"/>
          </a:ln>
        </p:spPr>
      </p:sp>
      <p:sp>
        <p:nvSpPr>
          <p:cNvPr id="26" name="Text 23"/>
          <p:cNvSpPr txBox="1"/>
          <p:nvPr/>
        </p:nvSpPr>
        <p:spPr>
          <a:xfrm>
            <a:off x="9928555" y="2240280"/>
            <a:ext cx="914400" cy="914400"/>
          </a:xfrm>
          <a:prstGeom prst="rect">
            <a:avLst/>
          </a:prstGeom>
          <a:noFill/>
          <a:ln/>
        </p:spPr>
        <p:txBody>
          <a:bodyPr wrap="square" lIns="0" tIns="0" rIns="0" bIns="0" rtlCol="0" anchor="ctr"/>
          <a:lstStyle/>
          <a:p>
            <a:pPr marL="0" indent="0" algn="ctr">
              <a:buNone/>
            </a:pPr>
            <a:r>
              <a:rPr lang="en-US" sz="3200" b="1" dirty="0">
                <a:solidFill>
                  <a:srgbClr val="3FE8C2"/>
                </a:solidFill>
                <a:latin typeface="BIZ UDゴシック" pitchFamily="34" charset="0"/>
                <a:ea typeface="BIZ UDゴシック" pitchFamily="49" charset="-128"/>
                <a:cs typeface="BIZ UDゴシック" pitchFamily="34" charset="-120"/>
              </a:rPr>
              <a:t>4</a:t>
            </a:r>
            <a:endParaRPr lang="en-US" sz="3200" dirty="0"/>
          </a:p>
        </p:txBody>
      </p:sp>
      <p:sp>
        <p:nvSpPr>
          <p:cNvPr id="27" name="Text 24"/>
          <p:cNvSpPr txBox="1"/>
          <p:nvPr/>
        </p:nvSpPr>
        <p:spPr>
          <a:xfrm>
            <a:off x="9128455" y="3291840"/>
            <a:ext cx="2514600" cy="548640"/>
          </a:xfrm>
          <a:prstGeom prst="rect">
            <a:avLst/>
          </a:prstGeom>
          <a:noFill/>
          <a:ln/>
        </p:spPr>
        <p:txBody>
          <a:bodyPr wrap="square" lIns="0" tIns="0" rIns="0" bIns="0" rtlCol="0" anchor="t"/>
          <a:lstStyle/>
          <a:p>
            <a:pPr marL="0" indent="0" algn="ctr">
              <a:buNone/>
            </a:pPr>
            <a:r>
              <a:rPr lang="en-US" sz="2800" b="1" dirty="0">
                <a:solidFill>
                  <a:srgbClr val="131B35"/>
                </a:solidFill>
                <a:latin typeface="BIZ UDゴシック" pitchFamily="34" charset="0"/>
                <a:ea typeface="BIZ UDゴシック" pitchFamily="49" charset="-128"/>
                <a:cs typeface="BIZ UDゴシック" pitchFamily="34" charset="-120"/>
              </a:rPr>
              <a:t>返す</a:t>
            </a:r>
            <a:endParaRPr lang="en-US" sz="2800" dirty="0"/>
          </a:p>
        </p:txBody>
      </p:sp>
      <p:sp>
        <p:nvSpPr>
          <p:cNvPr id="28" name="Text 25"/>
          <p:cNvSpPr txBox="1"/>
          <p:nvPr/>
        </p:nvSpPr>
        <p:spPr>
          <a:xfrm>
            <a:off x="9357055" y="3931920"/>
            <a:ext cx="2057400" cy="1325880"/>
          </a:xfrm>
          <a:prstGeom prst="rect">
            <a:avLst/>
          </a:prstGeom>
          <a:noFill/>
          <a:ln/>
        </p:spPr>
        <p:txBody>
          <a:bodyPr wrap="square" lIns="0" tIns="0" rIns="0" bIns="0" rtlCol="0" anchor="t"/>
          <a:lstStyle/>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測って、</a:t>
            </a:r>
            <a:endParaRPr lang="en-US" sz="2000" dirty="0"/>
          </a:p>
          <a:p>
            <a:pPr marL="0" indent="0" algn="ctr">
              <a:buNone/>
            </a:pPr>
            <a:r>
              <a:rPr lang="en-US" sz="2000" dirty="0">
                <a:solidFill>
                  <a:srgbClr val="1B2333"/>
                </a:solidFill>
                <a:latin typeface="BIZ UDゴシック" pitchFamily="34" charset="0"/>
                <a:ea typeface="BIZ UDゴシック" pitchFamily="49" charset="-128"/>
                <a:cs typeface="BIZ UDゴシック" pitchFamily="34" charset="-120"/>
              </a:rPr>
              <a:t>結果を見せる</a:t>
            </a:r>
            <a:endParaRPr lang="en-US" sz="2000" dirty="0"/>
          </a:p>
        </p:txBody>
      </p:sp>
      <p:sp>
        <p:nvSpPr>
          <p:cNvPr id="29" name="Text 26"/>
          <p:cNvSpPr txBox="1"/>
          <p:nvPr/>
        </p:nvSpPr>
        <p:spPr>
          <a:xfrm>
            <a:off x="548640" y="5577840"/>
            <a:ext cx="11094415" cy="502920"/>
          </a:xfrm>
          <a:prstGeom prst="rect">
            <a:avLst/>
          </a:prstGeom>
          <a:noFill/>
          <a:ln/>
        </p:spPr>
        <p:txBody>
          <a:bodyPr wrap="square" lIns="0" tIns="0" rIns="0" bIns="0" rtlCol="0" anchor="ctr"/>
          <a:lstStyle/>
          <a:p>
            <a:pPr marL="0" indent="0" algn="ctr">
              <a:buNone/>
            </a:pPr>
            <a:r>
              <a:rPr lang="en-US" sz="2400" b="1" dirty="0">
                <a:solidFill>
                  <a:srgbClr val="0B7A70"/>
                </a:solidFill>
                <a:latin typeface="BIZ UDゴシック" pitchFamily="34" charset="0"/>
                <a:ea typeface="BIZ UDゴシック" pitchFamily="49" charset="-128"/>
                <a:cs typeface="BIZ UDゴシック" pitchFamily="34" charset="-120"/>
              </a:rPr>
              <a:t>大きな計画より、小さく始めて回す</a:t>
            </a:r>
            <a:endParaRPr lang="en-US" sz="2400" dirty="0"/>
          </a:p>
        </p:txBody>
      </p:sp>
      <p:sp>
        <p:nvSpPr>
          <p:cNvPr id="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第4部 仕掛ける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EAST：人が思わず動く4つの条件</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出典：The Behavioural Insights Team. EAST. 2014</a:t>
            </a:r>
            <a:endParaRPr lang="en-US" sz="2000" dirty="0"/>
          </a:p>
        </p:txBody>
      </p:sp>
      <p:sp>
        <p:nvSpPr>
          <p:cNvPr id="7" name="Shape 4"/>
          <p:cNvSpPr/>
          <p:nvPr/>
        </p:nvSpPr>
        <p:spPr>
          <a:xfrm>
            <a:off x="548640" y="1920240"/>
            <a:ext cx="5396332" cy="1920240"/>
          </a:xfrm>
          <a:prstGeom prst="roundRect">
            <a:avLst>
              <a:gd name="adj" fmla="val 5714"/>
            </a:avLst>
          </a:prstGeom>
          <a:solidFill>
            <a:srgbClr val="EEF2F7"/>
          </a:solidFill>
          <a:ln w="12700">
            <a:solidFill>
              <a:srgbClr val="EEF2F7"/>
            </a:solidFill>
            <a:prstDash val="solid"/>
          </a:ln>
        </p:spPr>
      </p:sp>
      <p:sp>
        <p:nvSpPr>
          <p:cNvPr id="8" name="Shape 5"/>
          <p:cNvSpPr/>
          <p:nvPr/>
        </p:nvSpPr>
        <p:spPr>
          <a:xfrm>
            <a:off x="822960" y="2377440"/>
            <a:ext cx="1005840" cy="1005840"/>
          </a:xfrm>
          <a:prstGeom prst="ellipse">
            <a:avLst/>
          </a:prstGeom>
          <a:solidFill>
            <a:srgbClr val="0B7A70"/>
          </a:solidFill>
          <a:ln w="12700">
            <a:solidFill>
              <a:srgbClr val="0B7A70"/>
            </a:solidFill>
            <a:prstDash val="solid"/>
          </a:ln>
        </p:spPr>
      </p:sp>
      <p:sp>
        <p:nvSpPr>
          <p:cNvPr id="9" name="Text 6"/>
          <p:cNvSpPr txBox="1"/>
          <p:nvPr/>
        </p:nvSpPr>
        <p:spPr>
          <a:xfrm>
            <a:off x="822960" y="2377440"/>
            <a:ext cx="1005840" cy="1005840"/>
          </a:xfrm>
          <a:prstGeom prst="rect">
            <a:avLst/>
          </a:prstGeom>
          <a:noFill/>
          <a:ln/>
        </p:spPr>
        <p:txBody>
          <a:bodyPr wrap="square" lIns="0" tIns="0" rIns="0" bIns="0" rtlCol="0" anchor="ctr"/>
          <a:lstStyle/>
          <a:p>
            <a:pPr marL="0" indent="0" algn="ctr">
              <a:buNone/>
            </a:pPr>
            <a:r>
              <a:rPr lang="en-US" sz="4000" b="1" dirty="0">
                <a:solidFill>
                  <a:srgbClr val="FFFFFF"/>
                </a:solidFill>
                <a:latin typeface="BIZ UDゴシック" pitchFamily="34" charset="0"/>
                <a:ea typeface="BIZ UDゴシック" pitchFamily="49" charset="-128"/>
                <a:cs typeface="BIZ UDゴシック" pitchFamily="34" charset="-120"/>
              </a:rPr>
              <a:t>E</a:t>
            </a:r>
            <a:endParaRPr lang="en-US" sz="4000" dirty="0"/>
          </a:p>
        </p:txBody>
      </p:sp>
      <p:sp>
        <p:nvSpPr>
          <p:cNvPr id="10" name="Text 7"/>
          <p:cNvSpPr txBox="1"/>
          <p:nvPr/>
        </p:nvSpPr>
        <p:spPr>
          <a:xfrm>
            <a:off x="2057400" y="2103120"/>
            <a:ext cx="3704692" cy="502920"/>
          </a:xfrm>
          <a:prstGeom prst="rect">
            <a:avLst/>
          </a:prstGeom>
          <a:noFill/>
          <a:ln/>
        </p:spPr>
        <p:txBody>
          <a:bodyPr wrap="square" lIns="0" tIns="0" rIns="0" bIns="0" rtlCol="0" anchor="t"/>
          <a:lstStyle/>
          <a:p>
            <a:pPr marL="0" indent="0">
              <a:buNone/>
            </a:pPr>
            <a:r>
              <a:rPr lang="en-US" sz="2400" b="1" dirty="0">
                <a:solidFill>
                  <a:srgbClr val="0B7A70"/>
                </a:solidFill>
                <a:latin typeface="BIZ UDゴシック" pitchFamily="34" charset="0"/>
                <a:ea typeface="BIZ UDゴシック" pitchFamily="49" charset="-128"/>
                <a:cs typeface="BIZ UDゴシック" pitchFamily="34" charset="-120"/>
              </a:rPr>
              <a:t>Easy　簡単に</a:t>
            </a:r>
            <a:endParaRPr lang="en-US" sz="2400" dirty="0"/>
          </a:p>
        </p:txBody>
      </p:sp>
      <p:sp>
        <p:nvSpPr>
          <p:cNvPr id="11" name="Text 8"/>
          <p:cNvSpPr txBox="1"/>
          <p:nvPr/>
        </p:nvSpPr>
        <p:spPr>
          <a:xfrm>
            <a:off x="2057400" y="2697480"/>
            <a:ext cx="3704692" cy="1005840"/>
          </a:xfrm>
          <a:prstGeom prst="rect">
            <a:avLst/>
          </a:prstGeom>
          <a:noFill/>
          <a:ln/>
        </p:spPr>
        <p:txBody>
          <a:bodyPr wrap="square" lIns="0" tIns="0" rIns="0" bIns="0" rtlCol="0" anchor="t"/>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動線上・手の届く所に消毒剤</a:t>
            </a:r>
            <a:endParaRPr lang="en-US" sz="2000" dirty="0"/>
          </a:p>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手順を番号化</a:t>
            </a:r>
            <a:endParaRPr lang="en-US" sz="2000" dirty="0"/>
          </a:p>
        </p:txBody>
      </p:sp>
      <p:sp>
        <p:nvSpPr>
          <p:cNvPr id="12" name="Shape 9"/>
          <p:cNvSpPr/>
          <p:nvPr/>
        </p:nvSpPr>
        <p:spPr>
          <a:xfrm>
            <a:off x="6246724" y="1920240"/>
            <a:ext cx="5396332" cy="1920240"/>
          </a:xfrm>
          <a:prstGeom prst="roundRect">
            <a:avLst>
              <a:gd name="adj" fmla="val 5714"/>
            </a:avLst>
          </a:prstGeom>
          <a:solidFill>
            <a:srgbClr val="EEF2F7"/>
          </a:solidFill>
          <a:ln w="12700">
            <a:solidFill>
              <a:srgbClr val="EEF2F7"/>
            </a:solidFill>
            <a:prstDash val="solid"/>
          </a:ln>
        </p:spPr>
      </p:sp>
      <p:sp>
        <p:nvSpPr>
          <p:cNvPr id="13" name="Shape 10"/>
          <p:cNvSpPr/>
          <p:nvPr/>
        </p:nvSpPr>
        <p:spPr>
          <a:xfrm>
            <a:off x="6521044" y="2377440"/>
            <a:ext cx="1005840" cy="1005840"/>
          </a:xfrm>
          <a:prstGeom prst="ellipse">
            <a:avLst/>
          </a:prstGeom>
          <a:solidFill>
            <a:srgbClr val="D1480E"/>
          </a:solidFill>
          <a:ln w="12700">
            <a:solidFill>
              <a:srgbClr val="D1480E"/>
            </a:solidFill>
            <a:prstDash val="solid"/>
          </a:ln>
        </p:spPr>
      </p:sp>
      <p:sp>
        <p:nvSpPr>
          <p:cNvPr id="14" name="Text 11"/>
          <p:cNvSpPr txBox="1"/>
          <p:nvPr/>
        </p:nvSpPr>
        <p:spPr>
          <a:xfrm>
            <a:off x="6521044" y="2377440"/>
            <a:ext cx="1005840" cy="1005840"/>
          </a:xfrm>
          <a:prstGeom prst="rect">
            <a:avLst/>
          </a:prstGeom>
          <a:noFill/>
          <a:ln/>
        </p:spPr>
        <p:txBody>
          <a:bodyPr wrap="square" lIns="0" tIns="0" rIns="0" bIns="0" rtlCol="0" anchor="ctr"/>
          <a:lstStyle/>
          <a:p>
            <a:pPr marL="0" indent="0" algn="ctr">
              <a:buNone/>
            </a:pPr>
            <a:r>
              <a:rPr lang="en-US" sz="4000" b="1" dirty="0">
                <a:solidFill>
                  <a:srgbClr val="FFFFFF"/>
                </a:solidFill>
                <a:latin typeface="BIZ UDゴシック" pitchFamily="34" charset="0"/>
                <a:ea typeface="BIZ UDゴシック" pitchFamily="49" charset="-128"/>
                <a:cs typeface="BIZ UDゴシック" pitchFamily="34" charset="-120"/>
              </a:rPr>
              <a:t>A</a:t>
            </a:r>
            <a:endParaRPr lang="en-US" sz="4000" dirty="0"/>
          </a:p>
        </p:txBody>
      </p:sp>
      <p:sp>
        <p:nvSpPr>
          <p:cNvPr id="15" name="Text 12"/>
          <p:cNvSpPr txBox="1"/>
          <p:nvPr/>
        </p:nvSpPr>
        <p:spPr>
          <a:xfrm>
            <a:off x="7755484" y="2103120"/>
            <a:ext cx="3704692" cy="502920"/>
          </a:xfrm>
          <a:prstGeom prst="rect">
            <a:avLst/>
          </a:prstGeom>
          <a:noFill/>
          <a:ln/>
        </p:spPr>
        <p:txBody>
          <a:bodyPr wrap="square" lIns="0" tIns="0" rIns="0" bIns="0" rtlCol="0" anchor="t"/>
          <a:lstStyle/>
          <a:p>
            <a:pPr marL="0" indent="0">
              <a:buNone/>
            </a:pPr>
            <a:r>
              <a:rPr lang="en-US" sz="2400" b="1" dirty="0">
                <a:solidFill>
                  <a:srgbClr val="D1480E"/>
                </a:solidFill>
                <a:latin typeface="BIZ UDゴシック" pitchFamily="34" charset="0"/>
                <a:ea typeface="BIZ UDゴシック" pitchFamily="49" charset="-128"/>
                <a:cs typeface="BIZ UDゴシック" pitchFamily="34" charset="-120"/>
              </a:rPr>
              <a:t>Attractive　魅力的に</a:t>
            </a:r>
            <a:endParaRPr lang="en-US" sz="2400" dirty="0"/>
          </a:p>
        </p:txBody>
      </p:sp>
      <p:sp>
        <p:nvSpPr>
          <p:cNvPr id="16" name="Text 13"/>
          <p:cNvSpPr txBox="1"/>
          <p:nvPr/>
        </p:nvSpPr>
        <p:spPr>
          <a:xfrm>
            <a:off x="7755484" y="2697480"/>
            <a:ext cx="3704692" cy="1005840"/>
          </a:xfrm>
          <a:prstGeom prst="rect">
            <a:avLst/>
          </a:prstGeom>
          <a:noFill/>
          <a:ln/>
        </p:spPr>
        <p:txBody>
          <a:bodyPr wrap="square" lIns="0" tIns="0" rIns="0" bIns="0" rtlCol="0" anchor="t"/>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「患者さんを守る」を主語に</a:t>
            </a:r>
            <a:endParaRPr lang="en-US" sz="2000" dirty="0"/>
          </a:p>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目を引く表示</a:t>
            </a:r>
            <a:endParaRPr lang="en-US" sz="2000" dirty="0"/>
          </a:p>
        </p:txBody>
      </p:sp>
      <p:sp>
        <p:nvSpPr>
          <p:cNvPr id="17" name="Shape 14"/>
          <p:cNvSpPr/>
          <p:nvPr/>
        </p:nvSpPr>
        <p:spPr>
          <a:xfrm>
            <a:off x="548640" y="4114800"/>
            <a:ext cx="5396332" cy="1920240"/>
          </a:xfrm>
          <a:prstGeom prst="roundRect">
            <a:avLst>
              <a:gd name="adj" fmla="val 5714"/>
            </a:avLst>
          </a:prstGeom>
          <a:solidFill>
            <a:srgbClr val="EEF2F7"/>
          </a:solidFill>
          <a:ln w="12700">
            <a:solidFill>
              <a:srgbClr val="EEF2F7"/>
            </a:solidFill>
            <a:prstDash val="solid"/>
          </a:ln>
        </p:spPr>
      </p:sp>
      <p:sp>
        <p:nvSpPr>
          <p:cNvPr id="18" name="Shape 15"/>
          <p:cNvSpPr/>
          <p:nvPr/>
        </p:nvSpPr>
        <p:spPr>
          <a:xfrm>
            <a:off x="822960" y="4572000"/>
            <a:ext cx="1005840" cy="1005840"/>
          </a:xfrm>
          <a:prstGeom prst="ellipse">
            <a:avLst/>
          </a:prstGeom>
          <a:solidFill>
            <a:srgbClr val="131B35"/>
          </a:solidFill>
          <a:ln w="12700">
            <a:solidFill>
              <a:srgbClr val="131B35"/>
            </a:solidFill>
            <a:prstDash val="solid"/>
          </a:ln>
        </p:spPr>
      </p:sp>
      <p:sp>
        <p:nvSpPr>
          <p:cNvPr id="19" name="Text 16"/>
          <p:cNvSpPr txBox="1"/>
          <p:nvPr/>
        </p:nvSpPr>
        <p:spPr>
          <a:xfrm>
            <a:off x="822960" y="4572000"/>
            <a:ext cx="1005840" cy="1005840"/>
          </a:xfrm>
          <a:prstGeom prst="rect">
            <a:avLst/>
          </a:prstGeom>
          <a:noFill/>
          <a:ln/>
        </p:spPr>
        <p:txBody>
          <a:bodyPr wrap="square" lIns="0" tIns="0" rIns="0" bIns="0" rtlCol="0" anchor="ctr"/>
          <a:lstStyle/>
          <a:p>
            <a:pPr marL="0" indent="0" algn="ctr">
              <a:buNone/>
            </a:pPr>
            <a:r>
              <a:rPr lang="en-US" sz="4000" b="1" dirty="0">
                <a:solidFill>
                  <a:srgbClr val="FFFFFF"/>
                </a:solidFill>
                <a:latin typeface="BIZ UDゴシック" pitchFamily="34" charset="0"/>
                <a:ea typeface="BIZ UDゴシック" pitchFamily="49" charset="-128"/>
                <a:cs typeface="BIZ UDゴシック" pitchFamily="34" charset="-120"/>
              </a:rPr>
              <a:t>S</a:t>
            </a:r>
            <a:endParaRPr lang="en-US" sz="4000" dirty="0"/>
          </a:p>
        </p:txBody>
      </p:sp>
      <p:sp>
        <p:nvSpPr>
          <p:cNvPr id="20" name="Text 17"/>
          <p:cNvSpPr txBox="1"/>
          <p:nvPr/>
        </p:nvSpPr>
        <p:spPr>
          <a:xfrm>
            <a:off x="2057400" y="4297680"/>
            <a:ext cx="3704692" cy="502920"/>
          </a:xfrm>
          <a:prstGeom prst="rect">
            <a:avLst/>
          </a:prstGeom>
          <a:noFill/>
          <a:ln/>
        </p:spPr>
        <p:txBody>
          <a:bodyPr wrap="square" lIns="0" tIns="0" rIns="0" bIns="0" rtlCol="0" anchor="t"/>
          <a:lstStyle/>
          <a:p>
            <a:pPr marL="0" indent="0">
              <a:buNone/>
            </a:pPr>
            <a:r>
              <a:rPr lang="en-US" sz="2400" b="1" dirty="0">
                <a:solidFill>
                  <a:srgbClr val="131B35"/>
                </a:solidFill>
                <a:latin typeface="BIZ UDゴシック" pitchFamily="34" charset="0"/>
                <a:ea typeface="BIZ UDゴシック" pitchFamily="49" charset="-128"/>
                <a:cs typeface="BIZ UDゴシック" pitchFamily="34" charset="-120"/>
              </a:rPr>
              <a:t>Social　社会的に</a:t>
            </a:r>
            <a:endParaRPr lang="en-US" sz="2400" dirty="0"/>
          </a:p>
        </p:txBody>
      </p:sp>
      <p:sp>
        <p:nvSpPr>
          <p:cNvPr id="21" name="Text 18"/>
          <p:cNvSpPr txBox="1"/>
          <p:nvPr/>
        </p:nvSpPr>
        <p:spPr>
          <a:xfrm>
            <a:off x="2057400" y="4892040"/>
            <a:ext cx="3704692" cy="1005840"/>
          </a:xfrm>
          <a:prstGeom prst="rect">
            <a:avLst/>
          </a:prstGeom>
          <a:noFill/>
          <a:ln/>
        </p:spPr>
        <p:txBody>
          <a:bodyPr wrap="square" lIns="0" tIns="0" rIns="0" bIns="0" rtlCol="0" anchor="t"/>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部署の実施状況を共有</a:t>
            </a:r>
            <a:endParaRPr lang="en-US" sz="2000" dirty="0"/>
          </a:p>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リーダーが率先</a:t>
            </a:r>
            <a:endParaRPr lang="en-US" sz="2000" dirty="0"/>
          </a:p>
        </p:txBody>
      </p:sp>
      <p:sp>
        <p:nvSpPr>
          <p:cNvPr id="22" name="Shape 19"/>
          <p:cNvSpPr/>
          <p:nvPr/>
        </p:nvSpPr>
        <p:spPr>
          <a:xfrm>
            <a:off x="6246724" y="4114800"/>
            <a:ext cx="5396332" cy="1920240"/>
          </a:xfrm>
          <a:prstGeom prst="roundRect">
            <a:avLst>
              <a:gd name="adj" fmla="val 5714"/>
            </a:avLst>
          </a:prstGeom>
          <a:solidFill>
            <a:srgbClr val="EEF2F7"/>
          </a:solidFill>
          <a:ln w="12700">
            <a:solidFill>
              <a:srgbClr val="EEF2F7"/>
            </a:solidFill>
            <a:prstDash val="solid"/>
          </a:ln>
        </p:spPr>
      </p:sp>
      <p:sp>
        <p:nvSpPr>
          <p:cNvPr id="23" name="Shape 20"/>
          <p:cNvSpPr/>
          <p:nvPr/>
        </p:nvSpPr>
        <p:spPr>
          <a:xfrm>
            <a:off x="6521044" y="4572000"/>
            <a:ext cx="1005840" cy="1005840"/>
          </a:xfrm>
          <a:prstGeom prst="ellipse">
            <a:avLst/>
          </a:prstGeom>
          <a:solidFill>
            <a:srgbClr val="2F6FA8"/>
          </a:solidFill>
          <a:ln w="12700">
            <a:solidFill>
              <a:srgbClr val="2F6FA8"/>
            </a:solidFill>
            <a:prstDash val="solid"/>
          </a:ln>
        </p:spPr>
      </p:sp>
      <p:sp>
        <p:nvSpPr>
          <p:cNvPr id="24" name="Text 21"/>
          <p:cNvSpPr txBox="1"/>
          <p:nvPr/>
        </p:nvSpPr>
        <p:spPr>
          <a:xfrm>
            <a:off x="6521044" y="4572000"/>
            <a:ext cx="1005840" cy="1005840"/>
          </a:xfrm>
          <a:prstGeom prst="rect">
            <a:avLst/>
          </a:prstGeom>
          <a:noFill/>
          <a:ln/>
        </p:spPr>
        <p:txBody>
          <a:bodyPr wrap="square" lIns="0" tIns="0" rIns="0" bIns="0" rtlCol="0" anchor="ctr"/>
          <a:lstStyle/>
          <a:p>
            <a:pPr marL="0" indent="0" algn="ctr">
              <a:buNone/>
            </a:pPr>
            <a:r>
              <a:rPr lang="en-US" sz="4000" b="1" dirty="0">
                <a:solidFill>
                  <a:srgbClr val="FFFFFF"/>
                </a:solidFill>
                <a:latin typeface="BIZ UDゴシック" pitchFamily="34" charset="0"/>
                <a:ea typeface="BIZ UDゴシック" pitchFamily="49" charset="-128"/>
                <a:cs typeface="BIZ UDゴシック" pitchFamily="34" charset="-120"/>
              </a:rPr>
              <a:t>T</a:t>
            </a:r>
            <a:endParaRPr lang="en-US" sz="4000" dirty="0"/>
          </a:p>
        </p:txBody>
      </p:sp>
      <p:sp>
        <p:nvSpPr>
          <p:cNvPr id="25" name="Text 22"/>
          <p:cNvSpPr txBox="1"/>
          <p:nvPr/>
        </p:nvSpPr>
        <p:spPr>
          <a:xfrm>
            <a:off x="7755484" y="4297680"/>
            <a:ext cx="3704692" cy="502920"/>
          </a:xfrm>
          <a:prstGeom prst="rect">
            <a:avLst/>
          </a:prstGeom>
          <a:noFill/>
          <a:ln/>
        </p:spPr>
        <p:txBody>
          <a:bodyPr wrap="square" lIns="0" tIns="0" rIns="0" bIns="0" rtlCol="0" anchor="t"/>
          <a:lstStyle/>
          <a:p>
            <a:pPr marL="0" indent="0">
              <a:buNone/>
            </a:pPr>
            <a:r>
              <a:rPr lang="en-US" sz="2400" b="1" dirty="0">
                <a:solidFill>
                  <a:srgbClr val="2F6FA8"/>
                </a:solidFill>
                <a:latin typeface="BIZ UDゴシック" pitchFamily="34" charset="0"/>
                <a:ea typeface="BIZ UDゴシック" pitchFamily="49" charset="-128"/>
                <a:cs typeface="BIZ UDゴシック" pitchFamily="34" charset="-120"/>
              </a:rPr>
              <a:t>Timely　タイミングよく</a:t>
            </a:r>
            <a:endParaRPr lang="en-US" sz="2400" dirty="0"/>
          </a:p>
        </p:txBody>
      </p:sp>
      <p:sp>
        <p:nvSpPr>
          <p:cNvPr id="26" name="Text 23"/>
          <p:cNvSpPr txBox="1"/>
          <p:nvPr/>
        </p:nvSpPr>
        <p:spPr>
          <a:xfrm>
            <a:off x="7755484" y="4892040"/>
            <a:ext cx="3704692" cy="1005840"/>
          </a:xfrm>
          <a:prstGeom prst="rect">
            <a:avLst/>
          </a:prstGeom>
          <a:noFill/>
          <a:ln/>
        </p:spPr>
        <p:txBody>
          <a:bodyPr wrap="square" lIns="0" tIns="0" rIns="0" bIns="0" rtlCol="0" anchor="t"/>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入室の直前に合図</a:t>
            </a:r>
            <a:endParaRPr lang="en-US" sz="2000" dirty="0"/>
          </a:p>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手袋を外した直後に合図</a:t>
            </a:r>
            <a:endParaRPr lang="en-US" sz="2000" dirty="0"/>
          </a:p>
        </p:txBody>
      </p:sp>
      <p:sp>
        <p:nvSpPr>
          <p:cNvPr id="6"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406400"/>
            <a:ext cx="11301984" cy="256480"/>
          </a:xfrm>
          <a:prstGeom prst="rect">
            <a:avLst/>
          </a:prstGeom>
          <a:noFill/>
          <a:ln/>
        </p:spPr>
        <p:txBody>
          <a:bodyPr wrap="square" lIns="0" tIns="0" rIns="0" bIns="0" rtlCol="0" anchor="t">
            <a:normAutofit/>
          </a:bodyPr>
          <a:lstStyle/>
          <a:p>
            <a:pPr marL="0" indent="0" algn="l">
              <a:lnSpc>
                <a:spcPts val="1820"/>
              </a:lnSpc>
              <a:buNone/>
            </a:pPr>
            <a:r>
              <a:rPr lang="en-US" sz="1300" b="1" kern="0" spc="50" dirty="0">
                <a:solidFill>
                  <a:srgbClr val="1C7293"/>
                </a:solidFill>
                <a:latin typeface="Noto Sans JP" pitchFamily="34" charset="0"/>
                <a:ea typeface="Noto Sans JP" pitchFamily="34" charset="-122"/>
                <a:cs typeface="Noto Sans JP" pitchFamily="34" charset="-120"/>
              </a:rPr>
              <a:t>3-4｜要素1　システム変更 ＝ 物理的機会</a:t>
            </a:r>
            <a:endParaRPr lang="en-US" sz="1300" dirty="0"/>
          </a:p>
        </p:txBody>
      </p:sp>
      <p:sp>
        <p:nvSpPr>
          <p:cNvPr id="3" name="Text 1"/>
          <p:cNvSpPr/>
          <p:nvPr/>
        </p:nvSpPr>
        <p:spPr>
          <a:xfrm>
            <a:off x="609600" y="700980"/>
            <a:ext cx="11301984" cy="487660"/>
          </a:xfrm>
          <a:prstGeom prst="rect">
            <a:avLst/>
          </a:prstGeom>
          <a:noFill/>
          <a:ln/>
        </p:spPr>
        <p:txBody>
          <a:bodyPr wrap="square" lIns="0" tIns="0" rIns="0" bIns="0" rtlCol="0" anchor="t">
            <a:normAutofit/>
          </a:bodyPr>
          <a:lstStyle/>
          <a:p>
            <a:pPr marL="0" indent="0" algn="l">
              <a:lnSpc>
                <a:spcPts val="3640"/>
              </a:lnSpc>
              <a:buNone/>
            </a:pPr>
            <a:r>
              <a:rPr lang="en-US" sz="2800" b="1" dirty="0">
                <a:solidFill>
                  <a:srgbClr val="0B2545"/>
                </a:solidFill>
                <a:latin typeface="Noto Sans JP" pitchFamily="34" charset="0"/>
                <a:ea typeface="Noto Sans JP" pitchFamily="34" charset="-122"/>
                <a:cs typeface="Noto Sans JP" pitchFamily="34" charset="-120"/>
              </a:rPr>
              <a:t>「手を伸ばせば、そこにある」を標準にする</a:t>
            </a:r>
            <a:endParaRPr lang="en-US" sz="2800" dirty="0"/>
          </a:p>
        </p:txBody>
      </p:sp>
      <p:sp>
        <p:nvSpPr>
          <p:cNvPr id="4" name="Text 2"/>
          <p:cNvSpPr/>
          <p:nvPr/>
        </p:nvSpPr>
        <p:spPr>
          <a:xfrm>
            <a:off x="609600" y="2223889"/>
            <a:ext cx="6017260" cy="655241"/>
          </a:xfrm>
          <a:prstGeom prst="rect">
            <a:avLst/>
          </a:prstGeom>
          <a:noFill/>
          <a:ln/>
        </p:spPr>
        <p:txBody>
          <a:bodyPr wrap="square" lIns="0" tIns="0" rIns="0" bIns="0" rtlCol="0" anchor="t">
            <a:normAutofit/>
          </a:bodyPr>
          <a:lstStyle/>
          <a:p>
            <a:pPr marL="0" indent="0" algn="l">
              <a:lnSpc>
                <a:spcPts val="2480"/>
              </a:lnSpc>
              <a:buNone/>
            </a:pPr>
            <a:r>
              <a:rPr lang="en-US" sz="1600" dirty="0">
                <a:solidFill>
                  <a:srgbClr val="1B2A33"/>
                </a:solidFill>
                <a:latin typeface="Noto Sans JP" pitchFamily="34" charset="0"/>
                <a:ea typeface="Noto Sans JP" pitchFamily="34" charset="-122"/>
                <a:cs typeface="Noto Sans JP" pitchFamily="34" charset="-120"/>
              </a:rPr>
              <a:t>● </a:t>
            </a:r>
            <a:r>
              <a:rPr lang="en-US" sz="1600" b="1" dirty="0">
                <a:solidFill>
                  <a:srgbClr val="1B2A33"/>
                </a:solidFill>
                <a:latin typeface="Noto Sans JP" pitchFamily="34" charset="0"/>
                <a:ea typeface="Noto Sans JP" pitchFamily="34" charset="-122"/>
                <a:cs typeface="Noto Sans JP" pitchFamily="34" charset="-120"/>
              </a:rPr>
              <a:t>ポイント・オブ・ケア</a:t>
            </a:r>
            <a:r>
              <a:rPr lang="en-US" sz="1600" dirty="0">
                <a:solidFill>
                  <a:srgbClr val="1B2A33"/>
                </a:solidFill>
                <a:latin typeface="Noto Sans JP" pitchFamily="34" charset="0"/>
                <a:ea typeface="Noto Sans JP" pitchFamily="34" charset="-122"/>
                <a:cs typeface="Noto Sans JP" pitchFamily="34" charset="-120"/>
              </a:rPr>
              <a:t>：ベッドサイドへの擦式消毒剤の配置が、遵守率改善の最大の要因だった（Pittet 2000）</a:t>
            </a:r>
            <a:endParaRPr lang="en-US" sz="1600" dirty="0"/>
          </a:p>
        </p:txBody>
      </p:sp>
      <p:sp>
        <p:nvSpPr>
          <p:cNvPr id="5" name="Text 3"/>
          <p:cNvSpPr/>
          <p:nvPr/>
        </p:nvSpPr>
        <p:spPr>
          <a:xfrm>
            <a:off x="609600" y="3018830"/>
            <a:ext cx="6017260" cy="655241"/>
          </a:xfrm>
          <a:prstGeom prst="rect">
            <a:avLst/>
          </a:prstGeom>
          <a:noFill/>
          <a:ln/>
        </p:spPr>
        <p:txBody>
          <a:bodyPr wrap="square" lIns="0" tIns="0" rIns="0" bIns="0" rtlCol="0" anchor="t">
            <a:normAutofit/>
          </a:bodyPr>
          <a:lstStyle/>
          <a:p>
            <a:pPr marL="0" indent="0" algn="l">
              <a:lnSpc>
                <a:spcPts val="2480"/>
              </a:lnSpc>
              <a:buNone/>
            </a:pPr>
            <a:r>
              <a:rPr lang="en-US" sz="1600" dirty="0">
                <a:solidFill>
                  <a:srgbClr val="1B2A33"/>
                </a:solidFill>
                <a:latin typeface="Noto Sans JP" pitchFamily="34" charset="0"/>
                <a:ea typeface="Noto Sans JP" pitchFamily="34" charset="-122"/>
                <a:cs typeface="Noto Sans JP" pitchFamily="34" charset="-120"/>
              </a:rPr>
              <a:t>● </a:t>
            </a:r>
            <a:r>
              <a:rPr lang="en-US" sz="1600" b="1" dirty="0">
                <a:solidFill>
                  <a:srgbClr val="1B2A33"/>
                </a:solidFill>
                <a:latin typeface="Noto Sans JP" pitchFamily="34" charset="0"/>
                <a:ea typeface="Noto Sans JP" pitchFamily="34" charset="-122"/>
                <a:cs typeface="Noto Sans JP" pitchFamily="34" charset="-120"/>
              </a:rPr>
              <a:t>見えやすさ・入口での取りやすさ</a:t>
            </a:r>
            <a:r>
              <a:rPr lang="en-US" sz="1600" dirty="0">
                <a:solidFill>
                  <a:srgbClr val="1B2A33"/>
                </a:solidFill>
                <a:latin typeface="Noto Sans JP" pitchFamily="34" charset="0"/>
                <a:ea typeface="Noto Sans JP" pitchFamily="34" charset="-122"/>
                <a:cs typeface="Noto Sans JP" pitchFamily="34" charset="-120"/>
              </a:rPr>
              <a:t>が遵守率と関連。規格をそろえる“だけ”では関連なし（Cure 2015）</a:t>
            </a:r>
            <a:endParaRPr lang="en-US" sz="1600" dirty="0"/>
          </a:p>
        </p:txBody>
      </p:sp>
      <p:sp>
        <p:nvSpPr>
          <p:cNvPr id="6" name="Text 4"/>
          <p:cNvSpPr/>
          <p:nvPr/>
        </p:nvSpPr>
        <p:spPr>
          <a:xfrm>
            <a:off x="609600" y="3813770"/>
            <a:ext cx="6017260" cy="655241"/>
          </a:xfrm>
          <a:prstGeom prst="rect">
            <a:avLst/>
          </a:prstGeom>
          <a:noFill/>
          <a:ln/>
        </p:spPr>
        <p:txBody>
          <a:bodyPr wrap="square" lIns="0" tIns="0" rIns="0" bIns="0" rtlCol="0" anchor="t">
            <a:normAutofit/>
          </a:bodyPr>
          <a:lstStyle/>
          <a:p>
            <a:pPr marL="0" indent="0" algn="l">
              <a:lnSpc>
                <a:spcPts val="2480"/>
              </a:lnSpc>
              <a:buNone/>
            </a:pPr>
            <a:r>
              <a:rPr lang="en-US" sz="1600" dirty="0">
                <a:solidFill>
                  <a:srgbClr val="1B2A33"/>
                </a:solidFill>
                <a:latin typeface="Noto Sans JP" pitchFamily="34" charset="0"/>
                <a:ea typeface="Noto Sans JP" pitchFamily="34" charset="-122"/>
                <a:cs typeface="Noto Sans JP" pitchFamily="34" charset="-120"/>
              </a:rPr>
              <a:t>● シンクを増やす“だけ”では遵守率は上がらなかった（Lankford 2003）</a:t>
            </a:r>
            <a:endParaRPr lang="en-US" sz="1600" dirty="0"/>
          </a:p>
        </p:txBody>
      </p:sp>
      <p:sp>
        <p:nvSpPr>
          <p:cNvPr id="7" name="Text 5"/>
          <p:cNvSpPr/>
          <p:nvPr/>
        </p:nvSpPr>
        <p:spPr>
          <a:xfrm>
            <a:off x="609600" y="4608711"/>
            <a:ext cx="6017260" cy="655241"/>
          </a:xfrm>
          <a:prstGeom prst="rect">
            <a:avLst/>
          </a:prstGeom>
          <a:noFill/>
          <a:ln/>
        </p:spPr>
        <p:txBody>
          <a:bodyPr wrap="square" lIns="0" tIns="0" rIns="0" bIns="0" rtlCol="0" anchor="t">
            <a:normAutofit/>
          </a:bodyPr>
          <a:lstStyle/>
          <a:p>
            <a:pPr marL="0" indent="0" algn="l">
              <a:lnSpc>
                <a:spcPts val="2480"/>
              </a:lnSpc>
              <a:buNone/>
            </a:pPr>
            <a:r>
              <a:rPr lang="en-US" sz="1600" dirty="0">
                <a:solidFill>
                  <a:srgbClr val="1B2A33"/>
                </a:solidFill>
                <a:latin typeface="Noto Sans JP" pitchFamily="34" charset="0"/>
                <a:ea typeface="Noto Sans JP" pitchFamily="34" charset="-122"/>
                <a:cs typeface="Noto Sans JP" pitchFamily="34" charset="-120"/>
              </a:rPr>
              <a:t>● 手荒れ対策（保湿成分配合の製剤・ハンドケア）も、「能力」を守るシステム変更</a:t>
            </a:r>
            <a:endParaRPr lang="en-US" sz="1600" dirty="0"/>
          </a:p>
        </p:txBody>
      </p:sp>
      <p:pic>
        <p:nvPicPr>
          <p:cNvPr id="8" name="Image 0" descr="救急外来の個人防護具置き場。消毒剤と手袋・ガウンなどが着用順の番号付きで並ぶ"/>
          <p:cNvPicPr>
            <a:picLocks noChangeAspect="1"/>
          </p:cNvPicPr>
          <p:nvPr/>
        </p:nvPicPr>
        <p:blipFill>
          <a:blip r:embed="rId3"/>
          <a:srcRect/>
          <a:stretch/>
        </p:blipFill>
        <p:spPr>
          <a:xfrm>
            <a:off x="6756400" y="1366441"/>
            <a:ext cx="4826000" cy="3619500"/>
          </a:xfrm>
          <a:prstGeom prst="rect">
            <a:avLst/>
          </a:prstGeom>
        </p:spPr>
      </p:pic>
      <p:sp>
        <p:nvSpPr>
          <p:cNvPr id="9" name="Text 6"/>
          <p:cNvSpPr/>
          <p:nvPr/>
        </p:nvSpPr>
        <p:spPr>
          <a:xfrm>
            <a:off x="6756400" y="5074841"/>
            <a:ext cx="4970780"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5B6B79"/>
                </a:solidFill>
                <a:latin typeface="Noto Sans JP" pitchFamily="34" charset="0"/>
                <a:ea typeface="Noto Sans JP" pitchFamily="34" charset="-122"/>
                <a:cs typeface="Noto Sans JP" pitchFamily="34" charset="-120"/>
              </a:rPr>
              <a:t>当院救急外来：着用する順に番号と物品を配置し、考えなくても正しい順番で取れるようにした例</a:t>
            </a:r>
            <a:endParaRPr lang="en-US" sz="1200" dirty="0"/>
          </a:p>
        </p:txBody>
      </p:sp>
      <p:sp>
        <p:nvSpPr>
          <p:cNvPr id="10" name="Text 7"/>
          <p:cNvSpPr/>
          <p:nvPr/>
        </p:nvSpPr>
        <p:spPr>
          <a:xfrm>
            <a:off x="609600" y="6365280"/>
            <a:ext cx="113019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9"/>
                </a:solidFill>
                <a:latin typeface="Noto Sans JP" pitchFamily="34" charset="0"/>
                <a:ea typeface="Noto Sans JP" pitchFamily="34" charset="-122"/>
                <a:cs typeface="Noto Sans JP" pitchFamily="34" charset="-120"/>
              </a:rPr>
              <a:t>Pittet D, et al. Lancet 2000;356:1307-12 ／ Cure L, Van Enk R. Am J Infect Control 2015;43:917-21 ／ Lankford MG, et al. Emerg Infect Dis 2003;9:217-23</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第4部 仕掛ける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職種ごとに「見えない敵」と「見える化の一手」は違う</a:t>
            </a:r>
            <a:endParaRPr lang="en-US" sz="3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4096512"/>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36415">
                  <a:extLst>
                    <a:ext uri="{9D8B030D-6E8A-4147-A177-3AD203B41FA5}">
                      <a16:colId xmlns:a16="http://schemas.microsoft.com/office/drawing/2014/main" val="20002"/>
                    </a:ext>
                  </a:extLst>
                </a:gridCol>
              </a:tblGrid>
              <a:tr h="512064">
                <a:tc>
                  <a:txBody>
                    <a:bodyPr/>
                    <a:lstStyle/>
                    <a:p>
                      <a:pPr marL="0" indent="0">
                        <a:buNone/>
                      </a:pPr>
                      <a:r>
                        <a:rPr lang="en-US" sz="2000" b="1" dirty="0">
                          <a:solidFill>
                            <a:srgbClr val="FFFFFF"/>
                          </a:solidFill>
                          <a:latin typeface="BIZ UDゴシック" pitchFamily="34" charset="0"/>
                          <a:ea typeface="BIZ UDゴシック" pitchFamily="49" charset="-128"/>
                          <a:cs typeface="BIZ UDゴシック" pitchFamily="34" charset="-120"/>
                        </a:rPr>
                        <a:t>職種</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tc>
                  <a:txBody>
                    <a:bodyPr/>
                    <a:lstStyle/>
                    <a:p>
                      <a:pPr marL="0" indent="0">
                        <a:buNone/>
                      </a:pPr>
                      <a:r>
                        <a:rPr lang="en-US" sz="2000" b="1" dirty="0">
                          <a:solidFill>
                            <a:srgbClr val="FFFFFF"/>
                          </a:solidFill>
                          <a:latin typeface="BIZ UDゴシック" pitchFamily="34" charset="0"/>
                          <a:ea typeface="BIZ UDゴシック" pitchFamily="49" charset="-128"/>
                          <a:cs typeface="BIZ UDゴシック" pitchFamily="34" charset="-120"/>
                        </a:rPr>
                        <a:t>見えない敵の例</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tc>
                  <a:txBody>
                    <a:bodyPr/>
                    <a:lstStyle/>
                    <a:p>
                      <a:pPr marL="0" indent="0">
                        <a:buNone/>
                      </a:pPr>
                      <a:r>
                        <a:rPr lang="en-US" sz="2000" b="1" dirty="0">
                          <a:solidFill>
                            <a:srgbClr val="FFFFFF"/>
                          </a:solidFill>
                          <a:latin typeface="BIZ UDゴシック" pitchFamily="34" charset="0"/>
                          <a:ea typeface="BIZ UDゴシック" pitchFamily="49" charset="-128"/>
                          <a:cs typeface="BIZ UDゴシック" pitchFamily="34" charset="-120"/>
                        </a:rPr>
                        <a:t>見える化の一手</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extLst>
                  <a:ext uri="{0D108BD9-81ED-4DB2-BD59-A6C34878D82A}">
                    <a16:rowId xmlns:a16="http://schemas.microsoft.com/office/drawing/2014/main" val="10000"/>
                  </a:ext>
                </a:extLst>
              </a:tr>
              <a:tr h="512064">
                <a:tc>
                  <a:txBody>
                    <a:bodyPr/>
                    <a:lstStyle/>
                    <a:p>
                      <a:pPr marL="0" indent="0">
                        <a:buNone/>
                      </a:pPr>
                      <a:r>
                        <a:rPr lang="en-US" sz="2000" b="1" dirty="0">
                          <a:solidFill>
                            <a:srgbClr val="1B2333"/>
                          </a:solidFill>
                          <a:latin typeface="BIZ UDゴシック" pitchFamily="34" charset="0"/>
                          <a:ea typeface="BIZ UDゴシック" pitchFamily="49" charset="-128"/>
                          <a:cs typeface="BIZ UDゴシック" pitchFamily="34" charset="-120"/>
                        </a:rPr>
                        <a:t>医師</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回診で「触れる前」が抜ける</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0B7A70"/>
                          </a:solidFill>
                          <a:latin typeface="BIZ UDゴシック" pitchFamily="34" charset="0"/>
                          <a:ea typeface="BIZ UDゴシック" pitchFamily="49" charset="-128"/>
                          <a:cs typeface="BIZ UDゴシック" pitchFamily="34" charset="-120"/>
                        </a:rPr>
                        <a:t>先頭の人が最初に手指衛生</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2000" b="1" dirty="0">
                          <a:solidFill>
                            <a:srgbClr val="1B2333"/>
                          </a:solidFill>
                          <a:latin typeface="BIZ UDゴシック" pitchFamily="34" charset="0"/>
                          <a:ea typeface="BIZ UDゴシック" pitchFamily="49" charset="-128"/>
                          <a:cs typeface="BIZ UDゴシック" pitchFamily="34" charset="-120"/>
                        </a:rPr>
                        <a:t>看護師</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繁忙時の「触れる前」のスキップ</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000" dirty="0">
                          <a:solidFill>
                            <a:srgbClr val="0B7A70"/>
                          </a:solidFill>
                          <a:latin typeface="BIZ UDゴシック" pitchFamily="34" charset="0"/>
                          <a:ea typeface="BIZ UDゴシック" pitchFamily="49" charset="-128"/>
                          <a:cs typeface="BIZ UDゴシック" pitchFamily="34" charset="-120"/>
                        </a:rPr>
                        <a:t>動線上の消毒剤＋合図</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12064">
                <a:tc>
                  <a:txBody>
                    <a:bodyPr/>
                    <a:lstStyle/>
                    <a:p>
                      <a:pPr marL="0" indent="0">
                        <a:buNone/>
                      </a:pPr>
                      <a:r>
                        <a:rPr lang="en-US" sz="2000" b="1" dirty="0">
                          <a:solidFill>
                            <a:srgbClr val="1B2333"/>
                          </a:solidFill>
                          <a:latin typeface="BIZ UDゴシック" pitchFamily="34" charset="0"/>
                          <a:ea typeface="BIZ UDゴシック" pitchFamily="49" charset="-128"/>
                          <a:cs typeface="BIZ UDゴシック" pitchFamily="34" charset="-120"/>
                        </a:rPr>
                        <a:t>薬剤師</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処方の偏りが見えない</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0B7A70"/>
                          </a:solidFill>
                          <a:latin typeface="BIZ UDゴシック" pitchFamily="34" charset="0"/>
                          <a:ea typeface="BIZ UDゴシック" pitchFamily="49" charset="-128"/>
                          <a:cs typeface="BIZ UDゴシック" pitchFamily="34" charset="-120"/>
                        </a:rPr>
                        <a:t>抗菌薬使用量を部署へ返す</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2000" b="1" dirty="0">
                          <a:solidFill>
                            <a:srgbClr val="1B2333"/>
                          </a:solidFill>
                          <a:latin typeface="BIZ UDゴシック" pitchFamily="34" charset="0"/>
                          <a:ea typeface="BIZ UDゴシック" pitchFamily="49" charset="-128"/>
                          <a:cs typeface="BIZ UDゴシック" pitchFamily="34" charset="-120"/>
                        </a:rPr>
                        <a:t>臨床検査技師</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耐性菌の広がりが見えない</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000" dirty="0">
                          <a:solidFill>
                            <a:srgbClr val="0B7A70"/>
                          </a:solidFill>
                          <a:latin typeface="BIZ UDゴシック" pitchFamily="34" charset="0"/>
                          <a:ea typeface="BIZ UDゴシック" pitchFamily="49" charset="-128"/>
                          <a:cs typeface="BIZ UDゴシック" pitchFamily="34" charset="-120"/>
                        </a:rPr>
                        <a:t>検出状況を部署別に共有</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12064">
                <a:tc>
                  <a:txBody>
                    <a:bodyPr/>
                    <a:lstStyle/>
                    <a:p>
                      <a:pPr marL="0" indent="0">
                        <a:buNone/>
                      </a:pPr>
                      <a:r>
                        <a:rPr lang="en-US" sz="2000" b="1" dirty="0">
                          <a:solidFill>
                            <a:srgbClr val="1B2333"/>
                          </a:solidFill>
                          <a:latin typeface="BIZ UDゴシック" pitchFamily="34" charset="0"/>
                          <a:ea typeface="BIZ UDゴシック" pitchFamily="49" charset="-128"/>
                          <a:cs typeface="BIZ UDゴシック" pitchFamily="34" charset="-120"/>
                        </a:rPr>
                        <a:t>リハビリ・放射線</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機器・環境に触れた後</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0B7A70"/>
                          </a:solidFill>
                          <a:latin typeface="BIZ UDゴシック" pitchFamily="34" charset="0"/>
                          <a:ea typeface="BIZ UDゴシック" pitchFamily="49" charset="-128"/>
                          <a:cs typeface="BIZ UDゴシック" pitchFamily="34" charset="-120"/>
                        </a:rPr>
                        <a:t>機器に触れたら手指衛生</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2000" b="1" dirty="0">
                          <a:solidFill>
                            <a:srgbClr val="1B2333"/>
                          </a:solidFill>
                          <a:latin typeface="BIZ UDゴシック" pitchFamily="34" charset="0"/>
                          <a:ea typeface="BIZ UDゴシック" pitchFamily="49" charset="-128"/>
                          <a:cs typeface="BIZ UDゴシック" pitchFamily="34" charset="-120"/>
                        </a:rPr>
                        <a:t>清掃・看護補助</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拭き残しが見えない</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000" dirty="0">
                          <a:solidFill>
                            <a:srgbClr val="0B7A70"/>
                          </a:solidFill>
                          <a:latin typeface="BIZ UDゴシック" pitchFamily="34" charset="0"/>
                          <a:ea typeface="BIZ UDゴシック" pitchFamily="49" charset="-128"/>
                          <a:cs typeface="BIZ UDゴシック" pitchFamily="34" charset="-120"/>
                        </a:rPr>
                        <a:t>蛍光マーカーで結果を返す</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512064">
                <a:tc>
                  <a:txBody>
                    <a:bodyPr/>
                    <a:lstStyle/>
                    <a:p>
                      <a:pPr marL="0" indent="0">
                        <a:buNone/>
                      </a:pPr>
                      <a:r>
                        <a:rPr lang="en-US" sz="2000" b="1" dirty="0">
                          <a:solidFill>
                            <a:srgbClr val="1B2333"/>
                          </a:solidFill>
                          <a:latin typeface="BIZ UDゴシック" pitchFamily="34" charset="0"/>
                          <a:ea typeface="BIZ UDゴシック" pitchFamily="49" charset="-128"/>
                          <a:cs typeface="BIZ UDゴシック" pitchFamily="34" charset="-120"/>
                        </a:rPr>
                        <a:t>事務・管理者</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1B2333"/>
                          </a:solidFill>
                          <a:latin typeface="BIZ UDゴシック" pitchFamily="34" charset="0"/>
                          <a:ea typeface="BIZ UDゴシック" pitchFamily="49" charset="-128"/>
                          <a:cs typeface="BIZ UDゴシック" pitchFamily="34" charset="-120"/>
                        </a:rPr>
                        <a:t>配置や人員の影響が見えない</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000" dirty="0">
                          <a:solidFill>
                            <a:srgbClr val="0B7A70"/>
                          </a:solidFill>
                          <a:latin typeface="BIZ UDゴシック" pitchFamily="34" charset="0"/>
                          <a:ea typeface="BIZ UDゴシック" pitchFamily="49" charset="-128"/>
                          <a:cs typeface="BIZ UDゴシック" pitchFamily="34" charset="-120"/>
                        </a:rPr>
                        <a:t>使用量・配置を定期共有</a:t>
                      </a:r>
                      <a:endParaRPr lang="en-US" sz="2000" dirty="0">
                        <a:latin typeface="BIZ UDゴシック" charset="0"/>
                        <a:ea typeface="BIZ UDゴシック" charset="0"/>
                        <a:cs typeface="BIZ UDゴシック" charset="0"/>
                      </a:endParaRPr>
                    </a:p>
                  </a:txBody>
                  <a:tcPr marL="109728" marR="109728"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39</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第4部 仕掛ける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ナッジは万能薬ではない：組み合わせて、測って、直す</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出典：Gould DJ (Cochrane) 2017; Lotfinejad N (Lancet Infect Dis) 2021</a:t>
            </a:r>
            <a:endParaRPr lang="en-US" sz="2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400800" cy="3291840"/>
        </p:xfrm>
        <a:graphic>
          <a:graphicData uri="http://schemas.openxmlformats.org/drawingml/2006/table">
            <a:tbl>
              <a:tblPr/>
              <a:tblGrid>
                <a:gridCol w="42062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548640">
                <a:tc>
                  <a:txBody>
                    <a:bodyPr/>
                    <a:lstStyle/>
                    <a:p>
                      <a:pPr marL="0" indent="0">
                        <a:buNone/>
                      </a:pPr>
                      <a:r>
                        <a:rPr lang="en-US" sz="2200" b="1" dirty="0">
                          <a:solidFill>
                            <a:srgbClr val="FFFFFF"/>
                          </a:solidFill>
                          <a:latin typeface="BIZ UDゴシック" pitchFamily="34" charset="0"/>
                          <a:ea typeface="BIZ UDゴシック" pitchFamily="49" charset="-128"/>
                          <a:cs typeface="BIZ UDゴシック" pitchFamily="34" charset="-120"/>
                        </a:rPr>
                        <a:t>介入（手指衛生）</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tc>
                  <a:txBody>
                    <a:bodyPr/>
                    <a:lstStyle/>
                    <a:p>
                      <a:pPr marL="0" indent="0">
                        <a:buNone/>
                      </a:pPr>
                      <a:r>
                        <a:rPr lang="en-US" sz="2200" b="1" dirty="0">
                          <a:solidFill>
                            <a:srgbClr val="FFFFFF"/>
                          </a:solidFill>
                          <a:latin typeface="BIZ UDゴシック" pitchFamily="34" charset="0"/>
                          <a:ea typeface="BIZ UDゴシック" pitchFamily="49" charset="-128"/>
                          <a:cs typeface="BIZ UDゴシック" pitchFamily="34" charset="-120"/>
                        </a:rPr>
                        <a:t>確実性</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131B35"/>
                    </a:solidFill>
                  </a:tcPr>
                </a:tc>
                <a:extLst>
                  <a:ext uri="{0D108BD9-81ED-4DB2-BD59-A6C34878D82A}">
                    <a16:rowId xmlns:a16="http://schemas.microsoft.com/office/drawing/2014/main" val="10000"/>
                  </a:ext>
                </a:extLst>
              </a:tr>
              <a:tr h="548640">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使用場所の近くに配置</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b="1" dirty="0">
                          <a:solidFill>
                            <a:srgbClr val="0B7A70"/>
                          </a:solidFill>
                          <a:latin typeface="BIZ UDゴシック" pitchFamily="34" charset="0"/>
                          <a:ea typeface="BIZ UDゴシック" pitchFamily="49" charset="-128"/>
                          <a:cs typeface="BIZ UDゴシック" pitchFamily="34" charset="-120"/>
                        </a:rPr>
                        <a:t>中等度</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フィードバック</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低</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48640">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教育</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低</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掲示・香りなどのきっかけ</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低</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48640">
                <a:tc>
                  <a:txBody>
                    <a:bodyPr/>
                    <a:lstStyle/>
                    <a:p>
                      <a:pPr marL="0" indent="0">
                        <a:buNone/>
                      </a:pPr>
                      <a:r>
                        <a:rPr lang="en-US" sz="2200" dirty="0">
                          <a:solidFill>
                            <a:srgbClr val="1B2333"/>
                          </a:solidFill>
                          <a:latin typeface="BIZ UDゴシック" pitchFamily="34" charset="0"/>
                          <a:ea typeface="BIZ UDゴシック" pitchFamily="49" charset="-128"/>
                          <a:cs typeface="BIZ UDゴシック" pitchFamily="34" charset="-120"/>
                        </a:rPr>
                        <a:t>WHO推奨の多角的介入</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tc>
                  <a:txBody>
                    <a:bodyPr/>
                    <a:lstStyle/>
                    <a:p>
                      <a:pPr marL="0" indent="0">
                        <a:buNone/>
                      </a:pPr>
                      <a:r>
                        <a:rPr lang="en-US" sz="2200" b="1" dirty="0">
                          <a:solidFill>
                            <a:srgbClr val="D1480E"/>
                          </a:solidFill>
                          <a:latin typeface="BIZ UDゴシック" pitchFamily="34" charset="0"/>
                          <a:ea typeface="BIZ UDゴシック" pitchFamily="49" charset="-128"/>
                          <a:cs typeface="BIZ UDゴシック" pitchFamily="34" charset="-120"/>
                        </a:rPr>
                        <a:t>低〜非常に低</a:t>
                      </a:r>
                      <a:endParaRPr lang="en-US" sz="2200" dirty="0">
                        <a:latin typeface="BIZ UDゴシック" charset="0"/>
                        <a:ea typeface="BIZ UDゴシック" charset="0"/>
                        <a:cs typeface="BIZ UDゴシック" charset="0"/>
                      </a:endParaRPr>
                    </a:p>
                  </a:txBody>
                  <a:tcPr marL="137160" marR="137160" marT="36576" marB="36576" anchor="ctr">
                    <a:lnL w="12700" cap="flat" cmpd="sng" algn="ctr">
                      <a:solidFill>
                        <a:srgbClr val="C9D2DE"/>
                      </a:solidFill>
                      <a:prstDash val="solid"/>
                      <a:round/>
                      <a:headEnd type="none" w="med" len="med"/>
                      <a:tailEnd type="none" w="med" len="med"/>
                    </a:lnL>
                    <a:lnR w="12700" cap="flat" cmpd="sng" algn="ctr">
                      <a:solidFill>
                        <a:srgbClr val="C9D2DE"/>
                      </a:solidFill>
                      <a:prstDash val="solid"/>
                      <a:round/>
                      <a:headEnd type="none" w="med" len="med"/>
                      <a:tailEnd type="none" w="med" len="med"/>
                    </a:lnR>
                    <a:lnT w="12700" cap="flat" cmpd="sng" algn="ctr">
                      <a:solidFill>
                        <a:srgbClr val="C9D2DE"/>
                      </a:solidFill>
                      <a:prstDash val="solid"/>
                      <a:round/>
                      <a:headEnd type="none" w="med" len="med"/>
                      <a:tailEnd type="none" w="med" len="med"/>
                    </a:lnT>
                    <a:lnB w="12700" cap="flat" cmpd="sng" algn="ctr">
                      <a:solidFill>
                        <a:srgbClr val="C9D2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548640" y="5349240"/>
            <a:ext cx="6400800" cy="41148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手指衛生の介入26研究のコクランレビュー</a:t>
            </a:r>
            <a:endParaRPr lang="en-US" sz="2000" dirty="0"/>
          </a:p>
        </p:txBody>
      </p:sp>
      <p:sp>
        <p:nvSpPr>
          <p:cNvPr id="9" name="Shape 5"/>
          <p:cNvSpPr/>
          <p:nvPr/>
        </p:nvSpPr>
        <p:spPr>
          <a:xfrm>
            <a:off x="7909560" y="2468880"/>
            <a:ext cx="2834640" cy="2834640"/>
          </a:xfrm>
          <a:prstGeom prst="ellipse">
            <a:avLst/>
          </a:prstGeom>
          <a:ln w="50800">
            <a:solidFill>
              <a:srgbClr val="C9D2DE"/>
            </a:solidFill>
            <a:prstDash val="solid"/>
          </a:ln>
        </p:spPr>
      </p:sp>
      <p:sp>
        <p:nvSpPr>
          <p:cNvPr id="10" name="Shape 6"/>
          <p:cNvSpPr/>
          <p:nvPr/>
        </p:nvSpPr>
        <p:spPr>
          <a:xfrm>
            <a:off x="8801100" y="1943100"/>
            <a:ext cx="1051560" cy="1051560"/>
          </a:xfrm>
          <a:prstGeom prst="ellipse">
            <a:avLst/>
          </a:prstGeom>
          <a:solidFill>
            <a:srgbClr val="0B7A70"/>
          </a:solidFill>
          <a:ln w="12700">
            <a:solidFill>
              <a:srgbClr val="0B7A70"/>
            </a:solidFill>
            <a:prstDash val="solid"/>
          </a:ln>
        </p:spPr>
      </p:sp>
      <p:sp>
        <p:nvSpPr>
          <p:cNvPr id="11" name="Text 7"/>
          <p:cNvSpPr txBox="1"/>
          <p:nvPr/>
        </p:nvSpPr>
        <p:spPr>
          <a:xfrm>
            <a:off x="8801100" y="1943100"/>
            <a:ext cx="105156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BIZ UDゴシック" pitchFamily="34" charset="0"/>
                <a:ea typeface="BIZ UDゴシック" pitchFamily="49" charset="-128"/>
                <a:cs typeface="BIZ UDゴシック" pitchFamily="34" charset="-120"/>
              </a:rPr>
              <a:t>試す</a:t>
            </a:r>
            <a:endParaRPr lang="en-US" sz="2400" dirty="0"/>
          </a:p>
        </p:txBody>
      </p:sp>
      <p:sp>
        <p:nvSpPr>
          <p:cNvPr id="12" name="Shape 8"/>
          <p:cNvSpPr/>
          <p:nvPr/>
        </p:nvSpPr>
        <p:spPr>
          <a:xfrm>
            <a:off x="10218420" y="3360420"/>
            <a:ext cx="1051560" cy="1051560"/>
          </a:xfrm>
          <a:prstGeom prst="ellipse">
            <a:avLst/>
          </a:prstGeom>
          <a:solidFill>
            <a:srgbClr val="131B35"/>
          </a:solidFill>
          <a:ln w="12700">
            <a:solidFill>
              <a:srgbClr val="131B35"/>
            </a:solidFill>
            <a:prstDash val="solid"/>
          </a:ln>
        </p:spPr>
      </p:sp>
      <p:sp>
        <p:nvSpPr>
          <p:cNvPr id="13" name="Text 9"/>
          <p:cNvSpPr txBox="1"/>
          <p:nvPr/>
        </p:nvSpPr>
        <p:spPr>
          <a:xfrm>
            <a:off x="10218420" y="3360420"/>
            <a:ext cx="105156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BIZ UDゴシック" pitchFamily="34" charset="0"/>
                <a:ea typeface="BIZ UDゴシック" pitchFamily="49" charset="-128"/>
                <a:cs typeface="BIZ UDゴシック" pitchFamily="34" charset="-120"/>
              </a:rPr>
              <a:t>測る</a:t>
            </a:r>
            <a:endParaRPr lang="en-US" sz="2400" dirty="0"/>
          </a:p>
        </p:txBody>
      </p:sp>
      <p:sp>
        <p:nvSpPr>
          <p:cNvPr id="14" name="Shape 10"/>
          <p:cNvSpPr/>
          <p:nvPr/>
        </p:nvSpPr>
        <p:spPr>
          <a:xfrm>
            <a:off x="8801100" y="4777740"/>
            <a:ext cx="1051560" cy="1051560"/>
          </a:xfrm>
          <a:prstGeom prst="ellipse">
            <a:avLst/>
          </a:prstGeom>
          <a:solidFill>
            <a:srgbClr val="0B7A70"/>
          </a:solidFill>
          <a:ln w="12700">
            <a:solidFill>
              <a:srgbClr val="0B7A70"/>
            </a:solidFill>
            <a:prstDash val="solid"/>
          </a:ln>
        </p:spPr>
      </p:sp>
      <p:sp>
        <p:nvSpPr>
          <p:cNvPr id="15" name="Text 11"/>
          <p:cNvSpPr txBox="1"/>
          <p:nvPr/>
        </p:nvSpPr>
        <p:spPr>
          <a:xfrm>
            <a:off x="8801100" y="4777740"/>
            <a:ext cx="105156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BIZ UDゴシック" pitchFamily="34" charset="0"/>
                <a:ea typeface="BIZ UDゴシック" pitchFamily="49" charset="-128"/>
                <a:cs typeface="BIZ UDゴシック" pitchFamily="34" charset="-120"/>
              </a:rPr>
              <a:t>返す</a:t>
            </a:r>
            <a:endParaRPr lang="en-US" sz="2400" dirty="0"/>
          </a:p>
        </p:txBody>
      </p:sp>
      <p:sp>
        <p:nvSpPr>
          <p:cNvPr id="16" name="Shape 12"/>
          <p:cNvSpPr/>
          <p:nvPr/>
        </p:nvSpPr>
        <p:spPr>
          <a:xfrm>
            <a:off x="7383780" y="3360420"/>
            <a:ext cx="1051560" cy="1051560"/>
          </a:xfrm>
          <a:prstGeom prst="ellipse">
            <a:avLst/>
          </a:prstGeom>
          <a:solidFill>
            <a:srgbClr val="131B35"/>
          </a:solidFill>
          <a:ln w="12700">
            <a:solidFill>
              <a:srgbClr val="131B35"/>
            </a:solidFill>
            <a:prstDash val="solid"/>
          </a:ln>
        </p:spPr>
      </p:sp>
      <p:sp>
        <p:nvSpPr>
          <p:cNvPr id="17" name="Text 13"/>
          <p:cNvSpPr txBox="1"/>
          <p:nvPr/>
        </p:nvSpPr>
        <p:spPr>
          <a:xfrm>
            <a:off x="7383780" y="3360420"/>
            <a:ext cx="1051560" cy="1051560"/>
          </a:xfrm>
          <a:prstGeom prst="rect">
            <a:avLst/>
          </a:prstGeom>
          <a:noFill/>
          <a:ln/>
        </p:spPr>
        <p:txBody>
          <a:bodyPr wrap="square" lIns="0" tIns="0" rIns="0" bIns="0" rtlCol="0" anchor="ctr"/>
          <a:lstStyle/>
          <a:p>
            <a:pPr marL="0" indent="0" algn="ctr">
              <a:buNone/>
            </a:pPr>
            <a:r>
              <a:rPr lang="en-US" sz="2400" b="1" dirty="0">
                <a:solidFill>
                  <a:srgbClr val="FFFFFF"/>
                </a:solidFill>
                <a:latin typeface="BIZ UDゴシック" pitchFamily="34" charset="0"/>
                <a:ea typeface="BIZ UDゴシック" pitchFamily="49" charset="-128"/>
                <a:cs typeface="BIZ UDゴシック" pitchFamily="34" charset="-120"/>
              </a:rPr>
              <a:t>直す</a:t>
            </a:r>
            <a:endParaRPr lang="en-US" sz="2400" dirty="0"/>
          </a:p>
        </p:txBody>
      </p:sp>
      <p:sp>
        <p:nvSpPr>
          <p:cNvPr id="18" name="Text 14"/>
          <p:cNvSpPr txBox="1"/>
          <p:nvPr/>
        </p:nvSpPr>
        <p:spPr>
          <a:xfrm>
            <a:off x="8412480" y="3611880"/>
            <a:ext cx="1828800" cy="548640"/>
          </a:xfrm>
          <a:prstGeom prst="rect">
            <a:avLst/>
          </a:prstGeom>
          <a:noFill/>
          <a:ln/>
        </p:spPr>
        <p:txBody>
          <a:bodyPr wrap="square" lIns="0" tIns="0" rIns="0" bIns="0" rtlCol="0" anchor="ctr"/>
          <a:lstStyle/>
          <a:p>
            <a:pPr marL="0" indent="0" algn="ctr">
              <a:buNone/>
            </a:pPr>
            <a:r>
              <a:rPr lang="en-US" sz="2200" b="1" dirty="0">
                <a:solidFill>
                  <a:srgbClr val="0B7A70"/>
                </a:solidFill>
                <a:latin typeface="BIZ UDゴシック" pitchFamily="34" charset="0"/>
                <a:ea typeface="BIZ UDゴシック" pitchFamily="49" charset="-128"/>
                <a:cs typeface="BIZ UDゴシック" pitchFamily="34" charset="-120"/>
              </a:rPr>
              <a:t>小さく回す</a:t>
            </a:r>
            <a:endParaRPr lang="en-US" sz="22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219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219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ワーク</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1分ワーク：あなたの職場の「見えない敵」は？</a:t>
            </a:r>
            <a:endParaRPr lang="en-US" sz="3200" dirty="0"/>
          </a:p>
        </p:txBody>
      </p:sp>
      <p:sp>
        <p:nvSpPr>
          <p:cNvPr id="6" name="Shape 3"/>
          <p:cNvSpPr/>
          <p:nvPr/>
        </p:nvSpPr>
        <p:spPr>
          <a:xfrm>
            <a:off x="548640" y="2148840"/>
            <a:ext cx="822960" cy="822960"/>
          </a:xfrm>
          <a:prstGeom prst="ellipse">
            <a:avLst/>
          </a:prstGeom>
          <a:solidFill>
            <a:srgbClr val="131B35"/>
          </a:solidFill>
          <a:ln w="12700">
            <a:solidFill>
              <a:srgbClr val="131B35"/>
            </a:solidFill>
            <a:prstDash val="solid"/>
          </a:ln>
        </p:spPr>
      </p:sp>
      <p:sp>
        <p:nvSpPr>
          <p:cNvPr id="7" name="Text 4"/>
          <p:cNvSpPr txBox="1"/>
          <p:nvPr/>
        </p:nvSpPr>
        <p:spPr>
          <a:xfrm>
            <a:off x="548640" y="2148840"/>
            <a:ext cx="822960" cy="822960"/>
          </a:xfrm>
          <a:prstGeom prst="rect">
            <a:avLst/>
          </a:prstGeom>
          <a:noFill/>
          <a:ln/>
        </p:spPr>
        <p:txBody>
          <a:bodyPr wrap="square" lIns="0" tIns="0" rIns="0" bIns="0" rtlCol="0" anchor="ctr"/>
          <a:lstStyle/>
          <a:p>
            <a:pPr marL="0" indent="0" algn="ctr">
              <a:buNone/>
            </a:pPr>
            <a:r>
              <a:rPr lang="en-US" sz="3000" b="1" dirty="0">
                <a:solidFill>
                  <a:srgbClr val="3FE8C2"/>
                </a:solidFill>
                <a:latin typeface="BIZ UDゴシック" pitchFamily="34" charset="0"/>
                <a:ea typeface="BIZ UDゴシック" pitchFamily="49" charset="-128"/>
                <a:cs typeface="BIZ UDゴシック" pitchFamily="34" charset="-120"/>
              </a:rPr>
              <a:t>1</a:t>
            </a:r>
            <a:endParaRPr lang="en-US" sz="3000" dirty="0"/>
          </a:p>
        </p:txBody>
      </p:sp>
      <p:sp>
        <p:nvSpPr>
          <p:cNvPr id="8" name="Text 5"/>
          <p:cNvSpPr txBox="1"/>
          <p:nvPr/>
        </p:nvSpPr>
        <p:spPr>
          <a:xfrm>
            <a:off x="1600200" y="2011680"/>
            <a:ext cx="3931920" cy="457200"/>
          </a:xfrm>
          <a:prstGeom prst="rect">
            <a:avLst/>
          </a:prstGeom>
          <a:noFill/>
          <a:ln/>
        </p:spPr>
        <p:txBody>
          <a:bodyPr wrap="square" lIns="0" tIns="0" rIns="0" bIns="0" rtlCol="0" anchor="t"/>
          <a:lstStyle/>
          <a:p>
            <a:pPr marL="0" indent="0">
              <a:buNone/>
            </a:pPr>
            <a:r>
              <a:rPr lang="en-US" sz="2600" b="1" dirty="0">
                <a:solidFill>
                  <a:srgbClr val="131B35"/>
                </a:solidFill>
                <a:latin typeface="BIZ UDゴシック" pitchFamily="34" charset="0"/>
                <a:ea typeface="BIZ UDゴシック" pitchFamily="49" charset="-128"/>
                <a:cs typeface="BIZ UDゴシック" pitchFamily="34" charset="-120"/>
              </a:rPr>
              <a:t>変えたい行動</a:t>
            </a:r>
            <a:endParaRPr lang="en-US" sz="2600" dirty="0"/>
          </a:p>
        </p:txBody>
      </p:sp>
      <p:sp>
        <p:nvSpPr>
          <p:cNvPr id="9" name="Text 6"/>
          <p:cNvSpPr txBox="1"/>
          <p:nvPr/>
        </p:nvSpPr>
        <p:spPr>
          <a:xfrm>
            <a:off x="1600200" y="2514600"/>
            <a:ext cx="4023360" cy="73152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誰が・いつ・どこで・何を</a:t>
            </a:r>
            <a:endParaRPr lang="en-US" sz="2000" dirty="0"/>
          </a:p>
        </p:txBody>
      </p:sp>
      <p:sp>
        <p:nvSpPr>
          <p:cNvPr id="10" name="Shape 7"/>
          <p:cNvSpPr/>
          <p:nvPr/>
        </p:nvSpPr>
        <p:spPr>
          <a:xfrm>
            <a:off x="5806440" y="2057400"/>
            <a:ext cx="5836615" cy="1051560"/>
          </a:xfrm>
          <a:prstGeom prst="roundRect">
            <a:avLst>
              <a:gd name="adj" fmla="val 10435"/>
            </a:avLst>
          </a:prstGeom>
          <a:solidFill>
            <a:srgbClr val="FFFFFF"/>
          </a:solidFill>
          <a:ln w="25400">
            <a:solidFill>
              <a:srgbClr val="8A96A8"/>
            </a:solidFill>
            <a:prstDash val="dash"/>
          </a:ln>
        </p:spPr>
      </p:sp>
      <p:sp>
        <p:nvSpPr>
          <p:cNvPr id="11" name="Shape 8"/>
          <p:cNvSpPr/>
          <p:nvPr/>
        </p:nvSpPr>
        <p:spPr>
          <a:xfrm>
            <a:off x="548640" y="3520440"/>
            <a:ext cx="822960" cy="822960"/>
          </a:xfrm>
          <a:prstGeom prst="ellipse">
            <a:avLst/>
          </a:prstGeom>
          <a:solidFill>
            <a:srgbClr val="131B35"/>
          </a:solidFill>
          <a:ln w="12700">
            <a:solidFill>
              <a:srgbClr val="131B35"/>
            </a:solidFill>
            <a:prstDash val="solid"/>
          </a:ln>
        </p:spPr>
      </p:sp>
      <p:sp>
        <p:nvSpPr>
          <p:cNvPr id="12" name="Text 9"/>
          <p:cNvSpPr txBox="1"/>
          <p:nvPr/>
        </p:nvSpPr>
        <p:spPr>
          <a:xfrm>
            <a:off x="548640" y="3520440"/>
            <a:ext cx="822960" cy="822960"/>
          </a:xfrm>
          <a:prstGeom prst="rect">
            <a:avLst/>
          </a:prstGeom>
          <a:noFill/>
          <a:ln/>
        </p:spPr>
        <p:txBody>
          <a:bodyPr wrap="square" lIns="0" tIns="0" rIns="0" bIns="0" rtlCol="0" anchor="ctr"/>
          <a:lstStyle/>
          <a:p>
            <a:pPr marL="0" indent="0" algn="ctr">
              <a:buNone/>
            </a:pPr>
            <a:r>
              <a:rPr lang="en-US" sz="3000" b="1" dirty="0">
                <a:solidFill>
                  <a:srgbClr val="3FE8C2"/>
                </a:solidFill>
                <a:latin typeface="BIZ UDゴシック" pitchFamily="34" charset="0"/>
                <a:ea typeface="BIZ UDゴシック" pitchFamily="49" charset="-128"/>
                <a:cs typeface="BIZ UDゴシック" pitchFamily="34" charset="-120"/>
              </a:rPr>
              <a:t>2</a:t>
            </a:r>
            <a:endParaRPr lang="en-US" sz="3000" dirty="0"/>
          </a:p>
        </p:txBody>
      </p:sp>
      <p:sp>
        <p:nvSpPr>
          <p:cNvPr id="13" name="Text 10"/>
          <p:cNvSpPr txBox="1"/>
          <p:nvPr/>
        </p:nvSpPr>
        <p:spPr>
          <a:xfrm>
            <a:off x="1600200" y="3383280"/>
            <a:ext cx="3931920" cy="457200"/>
          </a:xfrm>
          <a:prstGeom prst="rect">
            <a:avLst/>
          </a:prstGeom>
          <a:noFill/>
          <a:ln/>
        </p:spPr>
        <p:txBody>
          <a:bodyPr wrap="square" lIns="0" tIns="0" rIns="0" bIns="0" rtlCol="0" anchor="t"/>
          <a:lstStyle/>
          <a:p>
            <a:pPr marL="0" indent="0">
              <a:buNone/>
            </a:pPr>
            <a:r>
              <a:rPr lang="en-US" sz="2600" b="1" dirty="0">
                <a:solidFill>
                  <a:srgbClr val="131B35"/>
                </a:solidFill>
                <a:latin typeface="BIZ UDゴシック" pitchFamily="34" charset="0"/>
                <a:ea typeface="BIZ UDゴシック" pitchFamily="49" charset="-128"/>
                <a:cs typeface="BIZ UDゴシック" pitchFamily="34" charset="-120"/>
              </a:rPr>
              <a:t>見えない敵</a:t>
            </a:r>
            <a:endParaRPr lang="en-US" sz="2600" dirty="0"/>
          </a:p>
        </p:txBody>
      </p:sp>
      <p:sp>
        <p:nvSpPr>
          <p:cNvPr id="14" name="Text 11"/>
          <p:cNvSpPr txBox="1"/>
          <p:nvPr/>
        </p:nvSpPr>
        <p:spPr>
          <a:xfrm>
            <a:off x="1600200" y="3886200"/>
            <a:ext cx="4023360" cy="73152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思い込み／見られている効果</a:t>
            </a:r>
            <a:endParaRPr lang="en-US" sz="2000" dirty="0"/>
          </a:p>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疲れ／周囲の空気／環境と動線</a:t>
            </a:r>
            <a:endParaRPr lang="en-US" sz="2000" dirty="0"/>
          </a:p>
        </p:txBody>
      </p:sp>
      <p:sp>
        <p:nvSpPr>
          <p:cNvPr id="15" name="Shape 12"/>
          <p:cNvSpPr/>
          <p:nvPr/>
        </p:nvSpPr>
        <p:spPr>
          <a:xfrm>
            <a:off x="5806440" y="3429000"/>
            <a:ext cx="5836615" cy="1051560"/>
          </a:xfrm>
          <a:prstGeom prst="roundRect">
            <a:avLst>
              <a:gd name="adj" fmla="val 10435"/>
            </a:avLst>
          </a:prstGeom>
          <a:solidFill>
            <a:srgbClr val="FFFFFF"/>
          </a:solidFill>
          <a:ln w="25400">
            <a:solidFill>
              <a:srgbClr val="8A96A8"/>
            </a:solidFill>
            <a:prstDash val="dash"/>
          </a:ln>
        </p:spPr>
      </p:sp>
      <p:sp>
        <p:nvSpPr>
          <p:cNvPr id="16" name="Shape 13"/>
          <p:cNvSpPr/>
          <p:nvPr/>
        </p:nvSpPr>
        <p:spPr>
          <a:xfrm>
            <a:off x="548640" y="4892040"/>
            <a:ext cx="822960" cy="822960"/>
          </a:xfrm>
          <a:prstGeom prst="ellipse">
            <a:avLst/>
          </a:prstGeom>
          <a:solidFill>
            <a:srgbClr val="131B35"/>
          </a:solidFill>
          <a:ln w="12700">
            <a:solidFill>
              <a:srgbClr val="131B35"/>
            </a:solidFill>
            <a:prstDash val="solid"/>
          </a:ln>
        </p:spPr>
      </p:sp>
      <p:sp>
        <p:nvSpPr>
          <p:cNvPr id="17" name="Text 14"/>
          <p:cNvSpPr txBox="1"/>
          <p:nvPr/>
        </p:nvSpPr>
        <p:spPr>
          <a:xfrm>
            <a:off x="548640" y="4892040"/>
            <a:ext cx="822960" cy="822960"/>
          </a:xfrm>
          <a:prstGeom prst="rect">
            <a:avLst/>
          </a:prstGeom>
          <a:noFill/>
          <a:ln/>
        </p:spPr>
        <p:txBody>
          <a:bodyPr wrap="square" lIns="0" tIns="0" rIns="0" bIns="0" rtlCol="0" anchor="ctr"/>
          <a:lstStyle/>
          <a:p>
            <a:pPr marL="0" indent="0" algn="ctr">
              <a:buNone/>
            </a:pPr>
            <a:r>
              <a:rPr lang="en-US" sz="3000" b="1" dirty="0">
                <a:solidFill>
                  <a:srgbClr val="3FE8C2"/>
                </a:solidFill>
                <a:latin typeface="BIZ UDゴシック" pitchFamily="34" charset="0"/>
                <a:ea typeface="BIZ UDゴシック" pitchFamily="49" charset="-128"/>
                <a:cs typeface="BIZ UDゴシック" pitchFamily="34" charset="-120"/>
              </a:rPr>
              <a:t>3</a:t>
            </a:r>
            <a:endParaRPr lang="en-US" sz="3000" dirty="0"/>
          </a:p>
        </p:txBody>
      </p:sp>
      <p:sp>
        <p:nvSpPr>
          <p:cNvPr id="18" name="Text 15"/>
          <p:cNvSpPr txBox="1"/>
          <p:nvPr/>
        </p:nvSpPr>
        <p:spPr>
          <a:xfrm>
            <a:off x="1600200" y="4754880"/>
            <a:ext cx="3931920" cy="457200"/>
          </a:xfrm>
          <a:prstGeom prst="rect">
            <a:avLst/>
          </a:prstGeom>
          <a:noFill/>
          <a:ln/>
        </p:spPr>
        <p:txBody>
          <a:bodyPr wrap="square" lIns="0" tIns="0" rIns="0" bIns="0" rtlCol="0" anchor="t"/>
          <a:lstStyle/>
          <a:p>
            <a:pPr marL="0" indent="0">
              <a:buNone/>
            </a:pPr>
            <a:r>
              <a:rPr lang="en-US" sz="2600" b="1" dirty="0">
                <a:solidFill>
                  <a:srgbClr val="131B35"/>
                </a:solidFill>
                <a:latin typeface="BIZ UDゴシック" pitchFamily="34" charset="0"/>
                <a:ea typeface="BIZ UDゴシック" pitchFamily="49" charset="-128"/>
                <a:cs typeface="BIZ UDゴシック" pitchFamily="34" charset="-120"/>
              </a:rPr>
              <a:t>明日の一手</a:t>
            </a:r>
            <a:endParaRPr lang="en-US" sz="2600" dirty="0"/>
          </a:p>
        </p:txBody>
      </p:sp>
      <p:sp>
        <p:nvSpPr>
          <p:cNvPr id="19" name="Text 16"/>
          <p:cNvSpPr txBox="1"/>
          <p:nvPr/>
        </p:nvSpPr>
        <p:spPr>
          <a:xfrm>
            <a:off x="1600200" y="5257800"/>
            <a:ext cx="4023360" cy="731520"/>
          </a:xfrm>
          <a:prstGeom prst="rect">
            <a:avLst/>
          </a:prstGeom>
          <a:noFill/>
          <a:ln/>
        </p:spPr>
        <p:txBody>
          <a:bodyPr wrap="square" lIns="0" tIns="0" rIns="0" bIns="0" rtlCol="0" anchor="t"/>
          <a:lstStyle/>
          <a:p>
            <a:pPr marL="0" indent="0">
              <a:buNone/>
            </a:pPr>
            <a:r>
              <a:rPr lang="en-US" sz="2000" dirty="0">
                <a:solidFill>
                  <a:srgbClr val="4F5B6B"/>
                </a:solidFill>
                <a:latin typeface="BIZ UDゴシック" pitchFamily="34" charset="0"/>
                <a:ea typeface="BIZ UDゴシック" pitchFamily="49" charset="-128"/>
                <a:cs typeface="BIZ UDゴシック" pitchFamily="34" charset="-120"/>
              </a:rPr>
              <a:t>見せる・返す・仕掛ける</a:t>
            </a:r>
            <a:endParaRPr lang="en-US" sz="2000" dirty="0"/>
          </a:p>
        </p:txBody>
      </p:sp>
      <p:sp>
        <p:nvSpPr>
          <p:cNvPr id="20" name="Shape 17"/>
          <p:cNvSpPr/>
          <p:nvPr/>
        </p:nvSpPr>
        <p:spPr>
          <a:xfrm>
            <a:off x="5806440" y="4800600"/>
            <a:ext cx="5836615" cy="1051560"/>
          </a:xfrm>
          <a:prstGeom prst="roundRect">
            <a:avLst>
              <a:gd name="adj" fmla="val 10435"/>
            </a:avLst>
          </a:prstGeom>
          <a:solidFill>
            <a:srgbClr val="FFFFFF"/>
          </a:solidFill>
          <a:ln w="25400">
            <a:solidFill>
              <a:srgbClr val="8A96A8"/>
            </a:solidFill>
            <a:prstDash val="dash"/>
          </a:ln>
        </p:spPr>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548640" y="347472"/>
            <a:ext cx="1219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219200" cy="420624"/>
          </a:xfrm>
          <a:prstGeom prst="rect">
            <a:avLst/>
          </a:prstGeom>
          <a:noFill/>
          <a:ln/>
        </p:spPr>
        <p:txBody>
          <a:bodyPr wrap="square" lIns="0" tIns="0" rIns="0" bIns="0" rtlCol="0" anchor="ctr"/>
          <a:lstStyle/>
          <a:p>
            <a:pPr marL="0" indent="0" algn="ctr">
              <a:buNone/>
            </a:pPr>
            <a:r>
              <a:rPr lang="en-US" sz="2000" b="1" dirty="0">
                <a:solidFill>
                  <a:srgbClr val="FFFFFF"/>
                </a:solidFill>
                <a:latin typeface="BIZ UDゴシック" pitchFamily="34" charset="0"/>
                <a:ea typeface="BIZ UDゴシック" pitchFamily="49" charset="-128"/>
                <a:cs typeface="BIZ UDゴシック" pitchFamily="34" charset="-120"/>
              </a:rPr>
              <a:t>まとめ</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marL="0" indent="0">
              <a:buNone/>
            </a:pPr>
            <a:r>
              <a:rPr lang="en-US" sz="3200" b="1" dirty="0">
                <a:solidFill>
                  <a:srgbClr val="131B35"/>
                </a:solidFill>
                <a:latin typeface="BIZ UDゴシック" pitchFamily="34" charset="0"/>
                <a:ea typeface="BIZ UDゴシック" pitchFamily="49" charset="-128"/>
                <a:cs typeface="BIZ UDゴシック" pitchFamily="34" charset="-120"/>
              </a:rPr>
              <a:t>まとめ：見えない敵は、見える化すれば対処できる</a:t>
            </a:r>
            <a:endParaRPr lang="en-US" sz="3200" dirty="0"/>
          </a:p>
        </p:txBody>
      </p:sp>
      <p:sp>
        <p:nvSpPr>
          <p:cNvPr id="6" name="Shape 3"/>
          <p:cNvSpPr/>
          <p:nvPr/>
        </p:nvSpPr>
        <p:spPr>
          <a:xfrm>
            <a:off x="548640" y="2011680"/>
            <a:ext cx="11094415" cy="1188720"/>
          </a:xfrm>
          <a:prstGeom prst="roundRect">
            <a:avLst>
              <a:gd name="adj" fmla="val 9231"/>
            </a:avLst>
          </a:prstGeom>
          <a:solidFill>
            <a:srgbClr val="EEF2F7"/>
          </a:solidFill>
          <a:ln w="12700">
            <a:solidFill>
              <a:srgbClr val="EEF2F7"/>
            </a:solidFill>
            <a:prstDash val="solid"/>
          </a:ln>
        </p:spPr>
      </p:sp>
      <p:sp>
        <p:nvSpPr>
          <p:cNvPr id="7" name="Shape 4"/>
          <p:cNvSpPr/>
          <p:nvPr/>
        </p:nvSpPr>
        <p:spPr>
          <a:xfrm>
            <a:off x="777240" y="2194560"/>
            <a:ext cx="822960" cy="822960"/>
          </a:xfrm>
          <a:prstGeom prst="ellipse">
            <a:avLst/>
          </a:prstGeom>
          <a:solidFill>
            <a:srgbClr val="0B7A70"/>
          </a:solidFill>
          <a:ln w="12700">
            <a:solidFill>
              <a:srgbClr val="0B7A70"/>
            </a:solidFill>
            <a:prstDash val="solid"/>
          </a:ln>
        </p:spPr>
      </p:sp>
      <p:sp>
        <p:nvSpPr>
          <p:cNvPr id="8" name="Text 5"/>
          <p:cNvSpPr txBox="1"/>
          <p:nvPr/>
        </p:nvSpPr>
        <p:spPr>
          <a:xfrm>
            <a:off x="777240" y="2194560"/>
            <a:ext cx="82296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BIZ UDゴシック" pitchFamily="34" charset="0"/>
                <a:ea typeface="BIZ UDゴシック" pitchFamily="49" charset="-128"/>
                <a:cs typeface="BIZ UDゴシック" pitchFamily="34" charset="-120"/>
              </a:rPr>
              <a:t>1</a:t>
            </a:r>
            <a:endParaRPr lang="en-US" sz="3000" dirty="0"/>
          </a:p>
        </p:txBody>
      </p:sp>
      <p:sp>
        <p:nvSpPr>
          <p:cNvPr id="9" name="Text 6"/>
          <p:cNvSpPr txBox="1"/>
          <p:nvPr/>
        </p:nvSpPr>
        <p:spPr>
          <a:xfrm>
            <a:off x="1783080" y="2011680"/>
            <a:ext cx="4754880" cy="1188720"/>
          </a:xfrm>
          <a:prstGeom prst="rect">
            <a:avLst/>
          </a:prstGeom>
          <a:noFill/>
          <a:ln/>
        </p:spPr>
        <p:txBody>
          <a:bodyPr wrap="square" lIns="0" tIns="0" rIns="0" bIns="0" rtlCol="0" anchor="ctr"/>
          <a:lstStyle/>
          <a:p>
            <a:pPr marL="0" indent="0">
              <a:buNone/>
            </a:pPr>
            <a:r>
              <a:rPr lang="en-US" sz="2600" b="1" dirty="0">
                <a:solidFill>
                  <a:srgbClr val="131B35"/>
                </a:solidFill>
                <a:latin typeface="BIZ UDゴシック" pitchFamily="34" charset="0"/>
                <a:ea typeface="BIZ UDゴシック" pitchFamily="49" charset="-128"/>
                <a:cs typeface="BIZ UDゴシック" pitchFamily="34" charset="-120"/>
              </a:rPr>
              <a:t>行動の原因は目に見えない</a:t>
            </a:r>
            <a:endParaRPr lang="en-US" sz="2600" dirty="0"/>
          </a:p>
        </p:txBody>
      </p:sp>
      <p:sp>
        <p:nvSpPr>
          <p:cNvPr id="10" name="Shape 7"/>
          <p:cNvSpPr/>
          <p:nvPr/>
        </p:nvSpPr>
        <p:spPr>
          <a:xfrm>
            <a:off x="6537960" y="2377440"/>
            <a:ext cx="292608" cy="457200"/>
          </a:xfrm>
          <a:prstGeom prst="chevron">
            <a:avLst/>
          </a:prstGeom>
          <a:solidFill>
            <a:srgbClr val="8A96A8"/>
          </a:solidFill>
          <a:ln w="12700">
            <a:solidFill>
              <a:srgbClr val="8A96A8"/>
            </a:solidFill>
            <a:prstDash val="solid"/>
          </a:ln>
        </p:spPr>
      </p:sp>
      <p:sp>
        <p:nvSpPr>
          <p:cNvPr id="11" name="Text 8"/>
          <p:cNvSpPr txBox="1"/>
          <p:nvPr/>
        </p:nvSpPr>
        <p:spPr>
          <a:xfrm>
            <a:off x="7086600" y="2011680"/>
            <a:ext cx="4465015" cy="1188720"/>
          </a:xfrm>
          <a:prstGeom prst="rect">
            <a:avLst/>
          </a:prstGeom>
          <a:noFill/>
          <a:ln/>
        </p:spPr>
        <p:txBody>
          <a:bodyPr wrap="square" lIns="0" tIns="0" rIns="0" bIns="0" rtlCol="0" anchor="ctr"/>
          <a:lstStyle/>
          <a:p>
            <a:pPr marL="0" indent="0">
              <a:buNone/>
            </a:pPr>
            <a:r>
              <a:rPr lang="en-US" sz="2400" b="1" dirty="0">
                <a:solidFill>
                  <a:srgbClr val="0B7A70"/>
                </a:solidFill>
                <a:latin typeface="BIZ UDゴシック" pitchFamily="34" charset="0"/>
                <a:ea typeface="BIZ UDゴシック" pitchFamily="49" charset="-128"/>
                <a:cs typeface="BIZ UDゴシック" pitchFamily="34" charset="-120"/>
              </a:rPr>
              <a:t>人を責める前に、仕組みを疑う</a:t>
            </a:r>
            <a:endParaRPr lang="en-US" sz="2400" dirty="0"/>
          </a:p>
        </p:txBody>
      </p:sp>
      <p:sp>
        <p:nvSpPr>
          <p:cNvPr id="12" name="Shape 9"/>
          <p:cNvSpPr/>
          <p:nvPr/>
        </p:nvSpPr>
        <p:spPr>
          <a:xfrm>
            <a:off x="548640" y="3383280"/>
            <a:ext cx="11094415" cy="1188720"/>
          </a:xfrm>
          <a:prstGeom prst="roundRect">
            <a:avLst>
              <a:gd name="adj" fmla="val 9231"/>
            </a:avLst>
          </a:prstGeom>
          <a:solidFill>
            <a:srgbClr val="EEF2F7"/>
          </a:solidFill>
          <a:ln w="12700">
            <a:solidFill>
              <a:srgbClr val="EEF2F7"/>
            </a:solidFill>
            <a:prstDash val="solid"/>
          </a:ln>
        </p:spPr>
      </p:sp>
      <p:sp>
        <p:nvSpPr>
          <p:cNvPr id="13" name="Shape 10"/>
          <p:cNvSpPr/>
          <p:nvPr/>
        </p:nvSpPr>
        <p:spPr>
          <a:xfrm>
            <a:off x="777240" y="3566160"/>
            <a:ext cx="822960" cy="822960"/>
          </a:xfrm>
          <a:prstGeom prst="ellipse">
            <a:avLst/>
          </a:prstGeom>
          <a:solidFill>
            <a:srgbClr val="0B7A70"/>
          </a:solidFill>
          <a:ln w="12700">
            <a:solidFill>
              <a:srgbClr val="0B7A70"/>
            </a:solidFill>
            <a:prstDash val="solid"/>
          </a:ln>
        </p:spPr>
      </p:sp>
      <p:sp>
        <p:nvSpPr>
          <p:cNvPr id="14" name="Text 11"/>
          <p:cNvSpPr txBox="1"/>
          <p:nvPr/>
        </p:nvSpPr>
        <p:spPr>
          <a:xfrm>
            <a:off x="777240" y="3566160"/>
            <a:ext cx="82296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BIZ UDゴシック" pitchFamily="34" charset="0"/>
                <a:ea typeface="BIZ UDゴシック" pitchFamily="49" charset="-128"/>
                <a:cs typeface="BIZ UDゴシック" pitchFamily="34" charset="-120"/>
              </a:rPr>
              <a:t>2</a:t>
            </a:r>
            <a:endParaRPr lang="en-US" sz="3000" dirty="0"/>
          </a:p>
        </p:txBody>
      </p:sp>
      <p:sp>
        <p:nvSpPr>
          <p:cNvPr id="15" name="Text 12"/>
          <p:cNvSpPr txBox="1"/>
          <p:nvPr/>
        </p:nvSpPr>
        <p:spPr>
          <a:xfrm>
            <a:off x="1783080" y="3383280"/>
            <a:ext cx="4754880" cy="1188720"/>
          </a:xfrm>
          <a:prstGeom prst="rect">
            <a:avLst/>
          </a:prstGeom>
          <a:noFill/>
          <a:ln/>
        </p:spPr>
        <p:txBody>
          <a:bodyPr wrap="square" lIns="0" tIns="0" rIns="0" bIns="0" rtlCol="0" anchor="ctr"/>
          <a:lstStyle/>
          <a:p>
            <a:pPr marL="0" indent="0">
              <a:buNone/>
            </a:pPr>
            <a:r>
              <a:rPr lang="en-US" sz="2600" b="1" dirty="0">
                <a:solidFill>
                  <a:srgbClr val="131B35"/>
                </a:solidFill>
                <a:latin typeface="BIZ UDゴシック" pitchFamily="34" charset="0"/>
                <a:ea typeface="BIZ UDゴシック" pitchFamily="49" charset="-128"/>
                <a:cs typeface="BIZ UDゴシック" pitchFamily="34" charset="-120"/>
              </a:rPr>
              <a:t>COM-Bで原因を診断する</a:t>
            </a:r>
            <a:endParaRPr lang="en-US" sz="2600" dirty="0"/>
          </a:p>
        </p:txBody>
      </p:sp>
      <p:sp>
        <p:nvSpPr>
          <p:cNvPr id="16" name="Shape 13"/>
          <p:cNvSpPr/>
          <p:nvPr/>
        </p:nvSpPr>
        <p:spPr>
          <a:xfrm>
            <a:off x="6537960" y="3749040"/>
            <a:ext cx="292608" cy="457200"/>
          </a:xfrm>
          <a:prstGeom prst="chevron">
            <a:avLst/>
          </a:prstGeom>
          <a:solidFill>
            <a:srgbClr val="8A96A8"/>
          </a:solidFill>
          <a:ln w="12700">
            <a:solidFill>
              <a:srgbClr val="8A96A8"/>
            </a:solidFill>
            <a:prstDash val="solid"/>
          </a:ln>
        </p:spPr>
      </p:sp>
      <p:sp>
        <p:nvSpPr>
          <p:cNvPr id="17" name="Text 14"/>
          <p:cNvSpPr txBox="1"/>
          <p:nvPr/>
        </p:nvSpPr>
        <p:spPr>
          <a:xfrm>
            <a:off x="7086600" y="3383280"/>
            <a:ext cx="4465015" cy="1188720"/>
          </a:xfrm>
          <a:prstGeom prst="rect">
            <a:avLst/>
          </a:prstGeom>
          <a:noFill/>
          <a:ln/>
        </p:spPr>
        <p:txBody>
          <a:bodyPr wrap="square" lIns="0" tIns="0" rIns="0" bIns="0" rtlCol="0" anchor="ctr"/>
          <a:lstStyle/>
          <a:p>
            <a:pPr marL="0" indent="0">
              <a:buNone/>
            </a:pPr>
            <a:r>
              <a:rPr lang="en-US" sz="2400" b="1" dirty="0">
                <a:solidFill>
                  <a:srgbClr val="0B7A70"/>
                </a:solidFill>
                <a:latin typeface="BIZ UDゴシック" pitchFamily="34" charset="0"/>
                <a:ea typeface="BIZ UDゴシック" pitchFamily="49" charset="-128"/>
                <a:cs typeface="BIZ UDゴシック" pitchFamily="34" charset="-120"/>
              </a:rPr>
              <a:t>5つの見えない敵を探す</a:t>
            </a:r>
            <a:endParaRPr lang="en-US" sz="2400" dirty="0"/>
          </a:p>
        </p:txBody>
      </p:sp>
      <p:sp>
        <p:nvSpPr>
          <p:cNvPr id="18" name="Shape 15"/>
          <p:cNvSpPr/>
          <p:nvPr/>
        </p:nvSpPr>
        <p:spPr>
          <a:xfrm>
            <a:off x="548640" y="4754880"/>
            <a:ext cx="11094415" cy="1188720"/>
          </a:xfrm>
          <a:prstGeom prst="roundRect">
            <a:avLst>
              <a:gd name="adj" fmla="val 9231"/>
            </a:avLst>
          </a:prstGeom>
          <a:solidFill>
            <a:srgbClr val="EEF2F7"/>
          </a:solidFill>
          <a:ln w="12700">
            <a:solidFill>
              <a:srgbClr val="EEF2F7"/>
            </a:solidFill>
            <a:prstDash val="solid"/>
          </a:ln>
        </p:spPr>
      </p:sp>
      <p:sp>
        <p:nvSpPr>
          <p:cNvPr id="19" name="Shape 16"/>
          <p:cNvSpPr/>
          <p:nvPr/>
        </p:nvSpPr>
        <p:spPr>
          <a:xfrm>
            <a:off x="777240" y="4937760"/>
            <a:ext cx="822960" cy="822960"/>
          </a:xfrm>
          <a:prstGeom prst="ellipse">
            <a:avLst/>
          </a:prstGeom>
          <a:solidFill>
            <a:srgbClr val="0B7A70"/>
          </a:solidFill>
          <a:ln w="12700">
            <a:solidFill>
              <a:srgbClr val="0B7A70"/>
            </a:solidFill>
            <a:prstDash val="solid"/>
          </a:ln>
        </p:spPr>
      </p:sp>
      <p:sp>
        <p:nvSpPr>
          <p:cNvPr id="20" name="Text 17"/>
          <p:cNvSpPr txBox="1"/>
          <p:nvPr/>
        </p:nvSpPr>
        <p:spPr>
          <a:xfrm>
            <a:off x="777240" y="4937760"/>
            <a:ext cx="82296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BIZ UDゴシック" pitchFamily="34" charset="0"/>
                <a:ea typeface="BIZ UDゴシック" pitchFamily="49" charset="-128"/>
                <a:cs typeface="BIZ UDゴシック" pitchFamily="34" charset="-120"/>
              </a:rPr>
              <a:t>3</a:t>
            </a:r>
            <a:endParaRPr lang="en-US" sz="3000" dirty="0"/>
          </a:p>
        </p:txBody>
      </p:sp>
      <p:sp>
        <p:nvSpPr>
          <p:cNvPr id="21" name="Text 18"/>
          <p:cNvSpPr txBox="1"/>
          <p:nvPr/>
        </p:nvSpPr>
        <p:spPr>
          <a:xfrm>
            <a:off x="1783080" y="4754880"/>
            <a:ext cx="4754880" cy="1188720"/>
          </a:xfrm>
          <a:prstGeom prst="rect">
            <a:avLst/>
          </a:prstGeom>
          <a:noFill/>
          <a:ln/>
        </p:spPr>
        <p:txBody>
          <a:bodyPr wrap="square" lIns="0" tIns="0" rIns="0" bIns="0" rtlCol="0" anchor="ctr"/>
          <a:lstStyle/>
          <a:p>
            <a:pPr marL="0" indent="0">
              <a:buNone/>
            </a:pPr>
            <a:r>
              <a:rPr lang="en-US" sz="2600" b="1" dirty="0">
                <a:solidFill>
                  <a:srgbClr val="131B35"/>
                </a:solidFill>
                <a:latin typeface="BIZ UDゴシック" pitchFamily="34" charset="0"/>
                <a:ea typeface="BIZ UDゴシック" pitchFamily="49" charset="-128"/>
                <a:cs typeface="BIZ UDゴシック" pitchFamily="34" charset="-120"/>
              </a:rPr>
              <a:t>見せる・返す・仕掛ける</a:t>
            </a:r>
            <a:endParaRPr lang="en-US" sz="2600" dirty="0"/>
          </a:p>
        </p:txBody>
      </p:sp>
      <p:sp>
        <p:nvSpPr>
          <p:cNvPr id="22" name="Shape 19"/>
          <p:cNvSpPr/>
          <p:nvPr/>
        </p:nvSpPr>
        <p:spPr>
          <a:xfrm>
            <a:off x="6537960" y="5120640"/>
            <a:ext cx="292608" cy="457200"/>
          </a:xfrm>
          <a:prstGeom prst="chevron">
            <a:avLst/>
          </a:prstGeom>
          <a:solidFill>
            <a:srgbClr val="8A96A8"/>
          </a:solidFill>
          <a:ln w="12700">
            <a:solidFill>
              <a:srgbClr val="8A96A8"/>
            </a:solidFill>
            <a:prstDash val="solid"/>
          </a:ln>
        </p:spPr>
      </p:sp>
      <p:sp>
        <p:nvSpPr>
          <p:cNvPr id="23" name="Text 20"/>
          <p:cNvSpPr txBox="1"/>
          <p:nvPr/>
        </p:nvSpPr>
        <p:spPr>
          <a:xfrm>
            <a:off x="7086600" y="4754880"/>
            <a:ext cx="4465015" cy="1188720"/>
          </a:xfrm>
          <a:prstGeom prst="rect">
            <a:avLst/>
          </a:prstGeom>
          <a:noFill/>
          <a:ln/>
        </p:spPr>
        <p:txBody>
          <a:bodyPr wrap="square" lIns="0" tIns="0" rIns="0" bIns="0" rtlCol="0" anchor="ctr"/>
          <a:lstStyle/>
          <a:p>
            <a:pPr marL="0" indent="0">
              <a:buNone/>
            </a:pPr>
            <a:r>
              <a:rPr lang="en-US" sz="2400" b="1" dirty="0">
                <a:solidFill>
                  <a:srgbClr val="0B7A70"/>
                </a:solidFill>
                <a:latin typeface="BIZ UDゴシック" pitchFamily="34" charset="0"/>
                <a:ea typeface="BIZ UDゴシック" pitchFamily="49" charset="-128"/>
                <a:cs typeface="BIZ UDゴシック" pitchFamily="34" charset="-120"/>
              </a:rPr>
              <a:t>小さく始めて、測って、直す</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chemeClr val="bg1"/>
        </a:solidFill>
        <a:effectLst/>
      </p:bgPr>
    </p:bg>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184648" y="640080"/>
            <a:ext cx="1828800" cy="1828800"/>
          </a:xfrm>
          <a:prstGeom prst="rect">
            <a:avLst/>
          </a:prstGeom>
        </p:spPr>
      </p:pic>
      <p:pic>
        <p:nvPicPr>
          <p:cNvPr id="4" name="Image 1" descr="preencoded.png"/>
          <p:cNvPicPr>
            <a:picLocks noChangeAspect="1"/>
          </p:cNvPicPr>
          <p:nvPr/>
        </p:nvPicPr>
        <p:blipFill>
          <a:blip r:embed="rId4"/>
          <a:stretch>
            <a:fillRect/>
          </a:stretch>
        </p:blipFill>
        <p:spPr>
          <a:xfrm>
            <a:off x="5733288" y="1188720"/>
            <a:ext cx="731520" cy="731520"/>
          </a:xfrm>
          <a:prstGeom prst="rect">
            <a:avLst/>
          </a:prstGeom>
        </p:spPr>
      </p:pic>
      <p:sp>
        <p:nvSpPr>
          <p:cNvPr id="5" name="Text 0"/>
          <p:cNvSpPr txBox="1"/>
          <p:nvPr/>
        </p:nvSpPr>
        <p:spPr>
          <a:xfrm>
            <a:off x="822960" y="2697480"/>
            <a:ext cx="10543032" cy="1737360"/>
          </a:xfrm>
          <a:prstGeom prst="rect">
            <a:avLst/>
          </a:prstGeom>
          <a:noFill/>
          <a:ln/>
        </p:spPr>
        <p:txBody>
          <a:bodyPr wrap="square" lIns="0" tIns="0" rIns="0" bIns="0" rtlCol="0" anchor="ctr"/>
          <a:lstStyle/>
          <a:p>
            <a:pPr marL="0" indent="0" algn="ctr">
              <a:lnSpc>
                <a:spcPct val="110000"/>
              </a:lnSpc>
              <a:buNone/>
            </a:pPr>
            <a:r>
              <a:rPr lang="en-US" sz="4000" b="1" dirty="0">
                <a:latin typeface="BIZ UDゴシック" pitchFamily="34" charset="0"/>
                <a:ea typeface="BIZ UDゴシック" pitchFamily="49" charset="-128"/>
                <a:cs typeface="BIZ UDゴシック" pitchFamily="34" charset="-120"/>
              </a:rPr>
              <a:t>見えない敵は「人の中」ではなく</a:t>
            </a:r>
            <a:endParaRPr lang="en-US" sz="4000" dirty="0"/>
          </a:p>
          <a:p>
            <a:pPr marL="0" indent="0" algn="ctr">
              <a:lnSpc>
                <a:spcPct val="110000"/>
              </a:lnSpc>
              <a:buNone/>
            </a:pPr>
            <a:r>
              <a:rPr lang="en-US" sz="4000" b="1" dirty="0">
                <a:latin typeface="BIZ UDゴシック" pitchFamily="34" charset="0"/>
                <a:ea typeface="BIZ UDゴシック" pitchFamily="49" charset="-128"/>
                <a:cs typeface="BIZ UDゴシック" pitchFamily="34" charset="-120"/>
              </a:rPr>
              <a:t>「仕組みの中」にいる</a:t>
            </a:r>
            <a:endParaRPr lang="en-US" sz="4000" dirty="0"/>
          </a:p>
        </p:txBody>
      </p:sp>
      <p:sp>
        <p:nvSpPr>
          <p:cNvPr id="6" name="Text 1"/>
          <p:cNvSpPr txBox="1"/>
          <p:nvPr/>
        </p:nvSpPr>
        <p:spPr>
          <a:xfrm>
            <a:off x="822960" y="4709160"/>
            <a:ext cx="10543032" cy="640080"/>
          </a:xfrm>
          <a:prstGeom prst="rect">
            <a:avLst/>
          </a:prstGeom>
          <a:noFill/>
          <a:ln/>
        </p:spPr>
        <p:txBody>
          <a:bodyPr wrap="square" lIns="0" tIns="0" rIns="0" bIns="0" rtlCol="0" anchor="ctr"/>
          <a:lstStyle/>
          <a:p>
            <a:pPr marL="0" indent="0" algn="ctr">
              <a:buNone/>
            </a:pPr>
            <a:r>
              <a:rPr lang="en-US" sz="2800" dirty="0">
                <a:latin typeface="BIZ UDゴシック" pitchFamily="34" charset="0"/>
                <a:ea typeface="BIZ UDゴシック" pitchFamily="49" charset="-128"/>
                <a:cs typeface="BIZ UDゴシック" pitchFamily="34" charset="-120"/>
              </a:rPr>
              <a:t>明日、ひとつだけ仕掛けてみませんか。</a:t>
            </a:r>
            <a:endParaRPr lang="en-US" sz="28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 xmlns:ma14="http://schemas.microsoft.com/office/mac/drawingml/2011/main" val="0"/>
            </a:ext>
          </a:extLst>
        </p:spPr>
        <p:txBody>
          <a:bodyPr/>
          <a:lstStyle>
            <a:lvl1pPr>
              <a:defRPr sz="2000">
                <a:solidFill>
                  <a:srgbClr val="8FA0C0"/>
                </a:solidFill>
                <a:latin typeface="BIZ UDゴシック"/>
                <a:ea typeface="BIZ UDゴシック"/>
                <a:cs typeface="BIZ UDゴシック"/>
              </a:defRPr>
            </a:lvl1pPr>
          </a:lstStyle>
          <a:p>
            <a:pPr algn="r"/>
            <a:fld id="{F7021451-1387-4CA6-816F-3879F97B5CBC}" type="slidenum">
              <a:rPr lang="en-US" b="0">
                <a:solidFill>
                  <a:schemeClr val="tx1"/>
                </a:solidFill>
              </a:rPr>
              <a:t>44</a:t>
            </a:fld>
            <a:endParaRPr lang="en-US">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2F6FA8"/>
          </a:solidFill>
          <a:ln w="12700">
            <a:solidFill>
              <a:srgbClr val="2F6FA8"/>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ナッジって何？</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人を動かす4つの道具。ナッジは「選ぶ自由」を残す</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出典：Thaler RH, Sunstein CR. 2008; Michie S, et al. Implement Sci 2011</a:t>
            </a:r>
            <a:endParaRPr lang="en-US" sz="2000" dirty="0"/>
          </a:p>
        </p:txBody>
      </p:sp>
      <p:sp>
        <p:nvSpPr>
          <p:cNvPr id="7" name="Shape 4"/>
          <p:cNvSpPr/>
          <p:nvPr/>
        </p:nvSpPr>
        <p:spPr>
          <a:xfrm>
            <a:off x="548640" y="1965960"/>
            <a:ext cx="2606040" cy="3383280"/>
          </a:xfrm>
          <a:prstGeom prst="roundRect">
            <a:avLst>
              <a:gd name="adj" fmla="val 4211"/>
            </a:avLst>
          </a:prstGeom>
          <a:solidFill>
            <a:srgbClr val="EEF2F7"/>
          </a:solidFill>
          <a:ln w="12700">
            <a:solidFill>
              <a:srgbClr val="EEF2F7"/>
            </a:solidFill>
            <a:prstDash val="solid"/>
          </a:ln>
        </p:spPr>
      </p:sp>
      <p:sp>
        <p:nvSpPr>
          <p:cNvPr id="8" name="Shape 5"/>
          <p:cNvSpPr/>
          <p:nvPr/>
        </p:nvSpPr>
        <p:spPr>
          <a:xfrm>
            <a:off x="1440180" y="2148840"/>
            <a:ext cx="822960" cy="822960"/>
          </a:xfrm>
          <a:prstGeom prst="ellipse">
            <a:avLst/>
          </a:prstGeom>
          <a:solidFill>
            <a:srgbClr val="131B35"/>
          </a:solidFill>
          <a:ln w="12700">
            <a:solidFill>
              <a:srgbClr val="131B35"/>
            </a:solidFill>
            <a:prstDash val="solid"/>
          </a:ln>
        </p:spPr>
      </p:sp>
      <p:pic>
        <p:nvPicPr>
          <p:cNvPr id="9" name="Image 0" descr="preencoded.png">    </p:cNvPr>
          <p:cNvPicPr>
            <a:picLocks noChangeAspect="1"/>
          </p:cNvPicPr>
          <p:nvPr/>
        </p:nvPicPr>
        <p:blipFill>
          <a:blip r:embed="rId1"/>
          <a:stretch>
            <a:fillRect/>
          </a:stretch>
        </p:blipFill>
        <p:spPr>
          <a:xfrm>
            <a:off x="1637690" y="2346350"/>
            <a:ext cx="427939" cy="427939"/>
          </a:xfrm>
          <a:prstGeom prst="rect">
            <a:avLst/>
          </a:prstGeom>
        </p:spPr>
      </p:pic>
      <p:sp>
        <p:nvSpPr>
          <p:cNvPr id="10" name="Text 6"/>
          <p:cNvSpPr txBox="1"/>
          <p:nvPr/>
        </p:nvSpPr>
        <p:spPr>
          <a:xfrm>
            <a:off x="548640" y="3063240"/>
            <a:ext cx="2606040" cy="502920"/>
          </a:xfrm>
          <a:prstGeom prst="rect">
            <a:avLst/>
          </a:prstGeom>
          <a:noFill/>
          <a:ln/>
        </p:spPr>
        <p:txBody>
          <a:bodyPr wrap="square" lIns="0" tIns="0" rIns="0" bIns="0" rtlCol="0" anchor="ctr"/>
          <a:lstStyle/>
          <a:p>
            <a:pPr algn="ctr" indent="0" marL="0">
              <a:buNone/>
            </a:pPr>
            <a:r>
              <a:rPr lang="en-US" sz="2800" b="1" dirty="0">
                <a:solidFill>
                  <a:srgbClr val="131B35"/>
                </a:solidFill>
                <a:latin typeface="BIZ UDゴシック" pitchFamily="34" charset="0"/>
                <a:ea typeface="BIZ UDゴシック" pitchFamily="49" charset="-128"/>
                <a:cs typeface="BIZ UDゴシック" pitchFamily="34" charset="-120"/>
              </a:rPr>
              <a:t>ルール</a:t>
            </a:r>
            <a:endParaRPr lang="en-US" sz="2800" dirty="0"/>
          </a:p>
        </p:txBody>
      </p:sp>
      <p:sp>
        <p:nvSpPr>
          <p:cNvPr id="11" name="Text 7"/>
          <p:cNvSpPr txBox="1"/>
          <p:nvPr/>
        </p:nvSpPr>
        <p:spPr>
          <a:xfrm>
            <a:off x="685800" y="3611880"/>
            <a:ext cx="2331720" cy="457200"/>
          </a:xfrm>
          <a:prstGeom prst="rect">
            <a:avLst/>
          </a:prstGeom>
          <a:noFill/>
          <a:ln/>
        </p:spPr>
        <p:txBody>
          <a:bodyPr wrap="square" lIns="0" tIns="0" rIns="0" bIns="0" rtlCol="0" anchor="t"/>
          <a:lstStyle/>
          <a:p>
            <a:pPr algn="ctr" indent="0" marL="0">
              <a:buNone/>
            </a:pPr>
            <a:r>
              <a:rPr lang="en-US" sz="2000" b="1" dirty="0">
                <a:solidFill>
                  <a:srgbClr val="1B2333"/>
                </a:solidFill>
                <a:latin typeface="BIZ UDゴシック" pitchFamily="34" charset="0"/>
                <a:ea typeface="BIZ UDゴシック" pitchFamily="49" charset="-128"/>
                <a:cs typeface="BIZ UDゴシック" pitchFamily="34" charset="-120"/>
              </a:rPr>
              <a:t>義務・禁止</a:t>
            </a:r>
            <a:endParaRPr lang="en-US" sz="2000" dirty="0"/>
          </a:p>
        </p:txBody>
      </p:sp>
      <p:sp>
        <p:nvSpPr>
          <p:cNvPr id="12" name="Text 8"/>
          <p:cNvSpPr txBox="1"/>
          <p:nvPr/>
        </p:nvSpPr>
        <p:spPr>
          <a:xfrm>
            <a:off x="685800" y="4206240"/>
            <a:ext cx="2331720" cy="1051560"/>
          </a:xfrm>
          <a:prstGeom prst="rect">
            <a:avLst/>
          </a:prstGeom>
          <a:noFill/>
          <a:ln/>
        </p:spPr>
        <p:txBody>
          <a:bodyPr wrap="square" lIns="0" tIns="0" rIns="0" bIns="0" rtlCol="0" anchor="t"/>
          <a:lstStyle/>
          <a:p>
            <a:pPr algn="ctr" indent="0" marL="0">
              <a:buNone/>
            </a:pPr>
            <a:r>
              <a:rPr lang="en-US" sz="2000" dirty="0">
                <a:solidFill>
                  <a:srgbClr val="4F5B6B"/>
                </a:solidFill>
                <a:latin typeface="BIZ UDゴシック" pitchFamily="34" charset="0"/>
                <a:ea typeface="BIZ UDゴシック" pitchFamily="49" charset="-128"/>
                <a:cs typeface="BIZ UDゴシック" pitchFamily="34" charset="-120"/>
              </a:rPr>
              <a:t>例（手指衛生）</a:t>
            </a:r>
            <a:endParaRPr lang="en-US" sz="2000" dirty="0"/>
          </a:p>
          <a:p>
            <a:pPr algn="ctr" indent="0" marL="0">
              <a:buNone/>
            </a:pPr>
            <a:r>
              <a:rPr lang="en-US" sz="2000" dirty="0">
                <a:solidFill>
                  <a:srgbClr val="4F5B6B"/>
                </a:solidFill>
                <a:latin typeface="BIZ UDゴシック" pitchFamily="34" charset="0"/>
                <a:ea typeface="BIZ UDゴシック" pitchFamily="49" charset="-128"/>
                <a:cs typeface="BIZ UDゴシック" pitchFamily="34" charset="-120"/>
              </a:rPr>
              <a:t>手順を決める</a:t>
            </a:r>
            <a:endParaRPr lang="en-US" sz="2000" dirty="0"/>
          </a:p>
        </p:txBody>
      </p:sp>
      <p:sp>
        <p:nvSpPr>
          <p:cNvPr id="13" name="Shape 9"/>
          <p:cNvSpPr/>
          <p:nvPr/>
        </p:nvSpPr>
        <p:spPr>
          <a:xfrm>
            <a:off x="3378098" y="1965960"/>
            <a:ext cx="2606040" cy="3383280"/>
          </a:xfrm>
          <a:prstGeom prst="roundRect">
            <a:avLst>
              <a:gd name="adj" fmla="val 4211"/>
            </a:avLst>
          </a:prstGeom>
          <a:solidFill>
            <a:srgbClr val="EEF2F7"/>
          </a:solidFill>
          <a:ln w="12700">
            <a:solidFill>
              <a:srgbClr val="EEF2F7"/>
            </a:solidFill>
            <a:prstDash val="solid"/>
          </a:ln>
        </p:spPr>
      </p:sp>
      <p:sp>
        <p:nvSpPr>
          <p:cNvPr id="14" name="Shape 10"/>
          <p:cNvSpPr/>
          <p:nvPr/>
        </p:nvSpPr>
        <p:spPr>
          <a:xfrm>
            <a:off x="4269638" y="2148840"/>
            <a:ext cx="822960" cy="822960"/>
          </a:xfrm>
          <a:prstGeom prst="ellipse">
            <a:avLst/>
          </a:prstGeom>
          <a:solidFill>
            <a:srgbClr val="131B35"/>
          </a:solidFill>
          <a:ln w="12700">
            <a:solidFill>
              <a:srgbClr val="131B35"/>
            </a:solidFill>
            <a:prstDash val="solid"/>
          </a:ln>
        </p:spPr>
      </p:sp>
      <p:pic>
        <p:nvPicPr>
          <p:cNvPr id="15" name="Image 1" descr="preencoded.png">    </p:cNvPr>
          <p:cNvPicPr>
            <a:picLocks noChangeAspect="1"/>
          </p:cNvPicPr>
          <p:nvPr/>
        </p:nvPicPr>
        <p:blipFill>
          <a:blip r:embed="rId2"/>
          <a:stretch>
            <a:fillRect/>
          </a:stretch>
        </p:blipFill>
        <p:spPr>
          <a:xfrm>
            <a:off x="4467149" y="2346350"/>
            <a:ext cx="427939" cy="427939"/>
          </a:xfrm>
          <a:prstGeom prst="rect">
            <a:avLst/>
          </a:prstGeom>
        </p:spPr>
      </p:pic>
      <p:sp>
        <p:nvSpPr>
          <p:cNvPr id="16" name="Text 11"/>
          <p:cNvSpPr txBox="1"/>
          <p:nvPr/>
        </p:nvSpPr>
        <p:spPr>
          <a:xfrm>
            <a:off x="3378098" y="3063240"/>
            <a:ext cx="2606040" cy="502920"/>
          </a:xfrm>
          <a:prstGeom prst="rect">
            <a:avLst/>
          </a:prstGeom>
          <a:noFill/>
          <a:ln/>
        </p:spPr>
        <p:txBody>
          <a:bodyPr wrap="square" lIns="0" tIns="0" rIns="0" bIns="0" rtlCol="0" anchor="ctr"/>
          <a:lstStyle/>
          <a:p>
            <a:pPr algn="ctr" indent="0" marL="0">
              <a:buNone/>
            </a:pPr>
            <a:r>
              <a:rPr lang="en-US" sz="2800" b="1" dirty="0">
                <a:solidFill>
                  <a:srgbClr val="131B35"/>
                </a:solidFill>
                <a:latin typeface="BIZ UDゴシック" pitchFamily="34" charset="0"/>
                <a:ea typeface="BIZ UDゴシック" pitchFamily="49" charset="-128"/>
                <a:cs typeface="BIZ UDゴシック" pitchFamily="34" charset="-120"/>
              </a:rPr>
              <a:t>お金</a:t>
            </a:r>
            <a:endParaRPr lang="en-US" sz="2800" dirty="0"/>
          </a:p>
        </p:txBody>
      </p:sp>
      <p:sp>
        <p:nvSpPr>
          <p:cNvPr id="17" name="Text 12"/>
          <p:cNvSpPr txBox="1"/>
          <p:nvPr/>
        </p:nvSpPr>
        <p:spPr>
          <a:xfrm>
            <a:off x="3515258" y="3611880"/>
            <a:ext cx="2331720" cy="457200"/>
          </a:xfrm>
          <a:prstGeom prst="rect">
            <a:avLst/>
          </a:prstGeom>
          <a:noFill/>
          <a:ln/>
        </p:spPr>
        <p:txBody>
          <a:bodyPr wrap="square" lIns="0" tIns="0" rIns="0" bIns="0" rtlCol="0" anchor="t"/>
          <a:lstStyle/>
          <a:p>
            <a:pPr algn="ctr" indent="0" marL="0">
              <a:buNone/>
            </a:pPr>
            <a:r>
              <a:rPr lang="en-US" sz="2000" b="1" dirty="0">
                <a:solidFill>
                  <a:srgbClr val="1B2333"/>
                </a:solidFill>
                <a:latin typeface="BIZ UDゴシック" pitchFamily="34" charset="0"/>
                <a:ea typeface="BIZ UDゴシック" pitchFamily="49" charset="-128"/>
                <a:cs typeface="BIZ UDゴシック" pitchFamily="34" charset="-120"/>
              </a:rPr>
              <a:t>ごほうび・罰金</a:t>
            </a:r>
            <a:endParaRPr lang="en-US" sz="2000" dirty="0"/>
          </a:p>
        </p:txBody>
      </p:sp>
      <p:sp>
        <p:nvSpPr>
          <p:cNvPr id="18" name="Text 13"/>
          <p:cNvSpPr txBox="1"/>
          <p:nvPr/>
        </p:nvSpPr>
        <p:spPr>
          <a:xfrm>
            <a:off x="3515258" y="4206240"/>
            <a:ext cx="2331720" cy="1051560"/>
          </a:xfrm>
          <a:prstGeom prst="rect">
            <a:avLst/>
          </a:prstGeom>
          <a:noFill/>
          <a:ln/>
        </p:spPr>
        <p:txBody>
          <a:bodyPr wrap="square" lIns="0" tIns="0" rIns="0" bIns="0" rtlCol="0" anchor="t"/>
          <a:lstStyle/>
          <a:p>
            <a:pPr algn="ctr" indent="0" marL="0">
              <a:buNone/>
            </a:pPr>
            <a:r>
              <a:rPr lang="en-US" sz="2000" dirty="0">
                <a:solidFill>
                  <a:srgbClr val="4F5B6B"/>
                </a:solidFill>
                <a:latin typeface="BIZ UDゴシック" pitchFamily="34" charset="0"/>
                <a:ea typeface="BIZ UDゴシック" pitchFamily="49" charset="-128"/>
                <a:cs typeface="BIZ UDゴシック" pitchFamily="34" charset="-120"/>
              </a:rPr>
              <a:t>例（手指衛生）</a:t>
            </a:r>
            <a:endParaRPr lang="en-US" sz="2000" dirty="0"/>
          </a:p>
          <a:p>
            <a:pPr algn="ctr" indent="0" marL="0">
              <a:buNone/>
            </a:pPr>
            <a:r>
              <a:rPr lang="en-US" sz="2000" dirty="0">
                <a:solidFill>
                  <a:srgbClr val="4F5B6B"/>
                </a:solidFill>
                <a:latin typeface="BIZ UDゴシック" pitchFamily="34" charset="0"/>
                <a:ea typeface="BIZ UDゴシック" pitchFamily="49" charset="-128"/>
                <a:cs typeface="BIZ UDゴシック" pitchFamily="34" charset="-120"/>
              </a:rPr>
              <a:t>表彰・手当</a:t>
            </a:r>
            <a:endParaRPr lang="en-US" sz="2000" dirty="0"/>
          </a:p>
        </p:txBody>
      </p:sp>
      <p:sp>
        <p:nvSpPr>
          <p:cNvPr id="19" name="Shape 14"/>
          <p:cNvSpPr/>
          <p:nvPr/>
        </p:nvSpPr>
        <p:spPr>
          <a:xfrm>
            <a:off x="6207557" y="1965960"/>
            <a:ext cx="2606040" cy="3383280"/>
          </a:xfrm>
          <a:prstGeom prst="roundRect">
            <a:avLst>
              <a:gd name="adj" fmla="val 4211"/>
            </a:avLst>
          </a:prstGeom>
          <a:solidFill>
            <a:srgbClr val="EEF2F7"/>
          </a:solidFill>
          <a:ln w="12700">
            <a:solidFill>
              <a:srgbClr val="EEF2F7"/>
            </a:solidFill>
            <a:prstDash val="solid"/>
          </a:ln>
        </p:spPr>
      </p:sp>
      <p:sp>
        <p:nvSpPr>
          <p:cNvPr id="20" name="Shape 15"/>
          <p:cNvSpPr/>
          <p:nvPr/>
        </p:nvSpPr>
        <p:spPr>
          <a:xfrm>
            <a:off x="7099097" y="2148840"/>
            <a:ext cx="822960" cy="822960"/>
          </a:xfrm>
          <a:prstGeom prst="ellipse">
            <a:avLst/>
          </a:prstGeom>
          <a:solidFill>
            <a:srgbClr val="131B35"/>
          </a:solidFill>
          <a:ln w="12700">
            <a:solidFill>
              <a:srgbClr val="131B35"/>
            </a:solidFill>
            <a:prstDash val="solid"/>
          </a:ln>
        </p:spPr>
      </p:sp>
      <p:pic>
        <p:nvPicPr>
          <p:cNvPr id="21" name="Image 2" descr="preencoded.png">    </p:cNvPr>
          <p:cNvPicPr>
            <a:picLocks noChangeAspect="1"/>
          </p:cNvPicPr>
          <p:nvPr/>
        </p:nvPicPr>
        <p:blipFill>
          <a:blip r:embed="rId3"/>
          <a:stretch>
            <a:fillRect/>
          </a:stretch>
        </p:blipFill>
        <p:spPr>
          <a:xfrm>
            <a:off x="7296607" y="2346350"/>
            <a:ext cx="427939" cy="427939"/>
          </a:xfrm>
          <a:prstGeom prst="rect">
            <a:avLst/>
          </a:prstGeom>
        </p:spPr>
      </p:pic>
      <p:sp>
        <p:nvSpPr>
          <p:cNvPr id="22" name="Text 16"/>
          <p:cNvSpPr txBox="1"/>
          <p:nvPr/>
        </p:nvSpPr>
        <p:spPr>
          <a:xfrm>
            <a:off x="6207557" y="3063240"/>
            <a:ext cx="2606040" cy="502920"/>
          </a:xfrm>
          <a:prstGeom prst="rect">
            <a:avLst/>
          </a:prstGeom>
          <a:noFill/>
          <a:ln/>
        </p:spPr>
        <p:txBody>
          <a:bodyPr wrap="square" lIns="0" tIns="0" rIns="0" bIns="0" rtlCol="0" anchor="ctr"/>
          <a:lstStyle/>
          <a:p>
            <a:pPr algn="ctr" indent="0" marL="0">
              <a:buNone/>
            </a:pPr>
            <a:r>
              <a:rPr lang="en-US" sz="2800" b="1" dirty="0">
                <a:solidFill>
                  <a:srgbClr val="131B35"/>
                </a:solidFill>
                <a:latin typeface="BIZ UDゴシック" pitchFamily="34" charset="0"/>
                <a:ea typeface="BIZ UDゴシック" pitchFamily="49" charset="-128"/>
                <a:cs typeface="BIZ UDゴシック" pitchFamily="34" charset="-120"/>
              </a:rPr>
              <a:t>教育</a:t>
            </a:r>
            <a:endParaRPr lang="en-US" sz="2800" dirty="0"/>
          </a:p>
        </p:txBody>
      </p:sp>
      <p:sp>
        <p:nvSpPr>
          <p:cNvPr id="23" name="Text 17"/>
          <p:cNvSpPr txBox="1"/>
          <p:nvPr/>
        </p:nvSpPr>
        <p:spPr>
          <a:xfrm>
            <a:off x="6344717" y="3611880"/>
            <a:ext cx="2331720" cy="457200"/>
          </a:xfrm>
          <a:prstGeom prst="rect">
            <a:avLst/>
          </a:prstGeom>
          <a:noFill/>
          <a:ln/>
        </p:spPr>
        <p:txBody>
          <a:bodyPr wrap="square" lIns="0" tIns="0" rIns="0" bIns="0" rtlCol="0" anchor="t"/>
          <a:lstStyle/>
          <a:p>
            <a:pPr algn="ctr" indent="0" marL="0">
              <a:buNone/>
            </a:pPr>
            <a:r>
              <a:rPr lang="en-US" sz="2000" b="1" dirty="0">
                <a:solidFill>
                  <a:srgbClr val="1B2333"/>
                </a:solidFill>
                <a:latin typeface="BIZ UDゴシック" pitchFamily="34" charset="0"/>
                <a:ea typeface="BIZ UDゴシック" pitchFamily="49" charset="-128"/>
                <a:cs typeface="BIZ UDゴシック" pitchFamily="34" charset="-120"/>
              </a:rPr>
              <a:t>知識を伝える</a:t>
            </a:r>
            <a:endParaRPr lang="en-US" sz="2000" dirty="0"/>
          </a:p>
        </p:txBody>
      </p:sp>
      <p:sp>
        <p:nvSpPr>
          <p:cNvPr id="24" name="Text 18"/>
          <p:cNvSpPr txBox="1"/>
          <p:nvPr/>
        </p:nvSpPr>
        <p:spPr>
          <a:xfrm>
            <a:off x="6344717" y="4206240"/>
            <a:ext cx="2331720" cy="1051560"/>
          </a:xfrm>
          <a:prstGeom prst="rect">
            <a:avLst/>
          </a:prstGeom>
          <a:noFill/>
          <a:ln/>
        </p:spPr>
        <p:txBody>
          <a:bodyPr wrap="square" lIns="0" tIns="0" rIns="0" bIns="0" rtlCol="0" anchor="t"/>
          <a:lstStyle/>
          <a:p>
            <a:pPr algn="ctr" indent="0" marL="0">
              <a:buNone/>
            </a:pPr>
            <a:r>
              <a:rPr lang="en-US" sz="2000" dirty="0">
                <a:solidFill>
                  <a:srgbClr val="4F5B6B"/>
                </a:solidFill>
                <a:latin typeface="BIZ UDゴシック" pitchFamily="34" charset="0"/>
                <a:ea typeface="BIZ UDゴシック" pitchFamily="49" charset="-128"/>
                <a:cs typeface="BIZ UDゴシック" pitchFamily="34" charset="-120"/>
              </a:rPr>
              <a:t>例（手指衛生）</a:t>
            </a:r>
            <a:endParaRPr lang="en-US" sz="2000" dirty="0"/>
          </a:p>
          <a:p>
            <a:pPr algn="ctr" indent="0" marL="0">
              <a:buNone/>
            </a:pPr>
            <a:r>
              <a:rPr lang="en-US" sz="2000" dirty="0">
                <a:solidFill>
                  <a:srgbClr val="4F5B6B"/>
                </a:solidFill>
                <a:latin typeface="BIZ UDゴシック" pitchFamily="34" charset="0"/>
                <a:ea typeface="BIZ UDゴシック" pitchFamily="49" charset="-128"/>
                <a:cs typeface="BIZ UDゴシック" pitchFamily="34" charset="-120"/>
              </a:rPr>
              <a:t>研修・マニュアル</a:t>
            </a:r>
            <a:endParaRPr lang="en-US" sz="2000" dirty="0"/>
          </a:p>
        </p:txBody>
      </p:sp>
      <p:sp>
        <p:nvSpPr>
          <p:cNvPr id="25" name="Shape 19"/>
          <p:cNvSpPr/>
          <p:nvPr/>
        </p:nvSpPr>
        <p:spPr>
          <a:xfrm>
            <a:off x="9037015" y="1965960"/>
            <a:ext cx="2606040" cy="3383280"/>
          </a:xfrm>
          <a:prstGeom prst="roundRect">
            <a:avLst>
              <a:gd name="adj" fmla="val 4211"/>
            </a:avLst>
          </a:prstGeom>
          <a:solidFill>
            <a:srgbClr val="2F6FA8"/>
          </a:solidFill>
          <a:ln w="12700">
            <a:solidFill>
              <a:srgbClr val="2F6FA8"/>
            </a:solidFill>
            <a:prstDash val="solid"/>
          </a:ln>
        </p:spPr>
      </p:sp>
      <p:sp>
        <p:nvSpPr>
          <p:cNvPr id="26" name="Shape 20"/>
          <p:cNvSpPr/>
          <p:nvPr/>
        </p:nvSpPr>
        <p:spPr>
          <a:xfrm>
            <a:off x="9928555" y="2148840"/>
            <a:ext cx="822960" cy="822960"/>
          </a:xfrm>
          <a:prstGeom prst="ellipse">
            <a:avLst/>
          </a:prstGeom>
          <a:solidFill>
            <a:srgbClr val="FFFFFF"/>
          </a:solidFill>
          <a:ln w="12700">
            <a:solidFill>
              <a:srgbClr val="FFFFFF"/>
            </a:solidFill>
            <a:prstDash val="solid"/>
          </a:ln>
        </p:spPr>
      </p:sp>
      <p:pic>
        <p:nvPicPr>
          <p:cNvPr id="27" name="Image 3" descr="preencoded.png">    </p:cNvPr>
          <p:cNvPicPr>
            <a:picLocks noChangeAspect="1"/>
          </p:cNvPicPr>
          <p:nvPr/>
        </p:nvPicPr>
        <p:blipFill>
          <a:blip r:embed="rId4"/>
          <a:stretch>
            <a:fillRect/>
          </a:stretch>
        </p:blipFill>
        <p:spPr>
          <a:xfrm>
            <a:off x="10126066" y="2346350"/>
            <a:ext cx="427939" cy="427939"/>
          </a:xfrm>
          <a:prstGeom prst="rect">
            <a:avLst/>
          </a:prstGeom>
        </p:spPr>
      </p:pic>
      <p:sp>
        <p:nvSpPr>
          <p:cNvPr id="28" name="Text 21"/>
          <p:cNvSpPr txBox="1"/>
          <p:nvPr/>
        </p:nvSpPr>
        <p:spPr>
          <a:xfrm>
            <a:off x="9037015" y="3063240"/>
            <a:ext cx="260604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BIZ UDゴシック" pitchFamily="34" charset="0"/>
                <a:ea typeface="BIZ UDゴシック" pitchFamily="49" charset="-128"/>
                <a:cs typeface="BIZ UDゴシック" pitchFamily="34" charset="-120"/>
              </a:rPr>
              <a:t>ナッジ</a:t>
            </a:r>
            <a:endParaRPr lang="en-US" sz="2800" dirty="0"/>
          </a:p>
        </p:txBody>
      </p:sp>
      <p:sp>
        <p:nvSpPr>
          <p:cNvPr id="29" name="Text 22"/>
          <p:cNvSpPr txBox="1"/>
          <p:nvPr/>
        </p:nvSpPr>
        <p:spPr>
          <a:xfrm>
            <a:off x="9174175" y="3611880"/>
            <a:ext cx="2331720"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選び方を設計する</a:t>
            </a:r>
            <a:endParaRPr lang="en-US" sz="2000" dirty="0"/>
          </a:p>
        </p:txBody>
      </p:sp>
      <p:sp>
        <p:nvSpPr>
          <p:cNvPr id="30" name="Text 23"/>
          <p:cNvSpPr txBox="1"/>
          <p:nvPr/>
        </p:nvSpPr>
        <p:spPr>
          <a:xfrm>
            <a:off x="9174175" y="4206240"/>
            <a:ext cx="2331720" cy="1051560"/>
          </a:xfrm>
          <a:prstGeom prst="rect">
            <a:avLst/>
          </a:prstGeom>
          <a:noFill/>
          <a:ln/>
        </p:spPr>
        <p:txBody>
          <a:bodyPr wrap="square" lIns="0" tIns="0" rIns="0" bIns="0" rtlCol="0" anchor="t"/>
          <a:lstStyle/>
          <a:p>
            <a:pPr algn="ctr" indent="0" marL="0">
              <a:buNone/>
            </a:pPr>
            <a:r>
              <a:rPr lang="en-US" sz="2000" dirty="0">
                <a:solidFill>
                  <a:srgbClr val="FFFFFF"/>
                </a:solidFill>
                <a:latin typeface="BIZ UDゴシック" pitchFamily="34" charset="0"/>
                <a:ea typeface="BIZ UDゴシック" pitchFamily="49" charset="-128"/>
                <a:cs typeface="BIZ UDゴシック" pitchFamily="34" charset="-120"/>
              </a:rPr>
              <a:t>例（手指衛生）</a:t>
            </a:r>
            <a:endParaRPr lang="en-US" sz="2000" dirty="0"/>
          </a:p>
          <a:p>
            <a:pPr algn="ctr" indent="0" marL="0">
              <a:buNone/>
            </a:pPr>
            <a:r>
              <a:rPr lang="en-US" sz="2000" dirty="0">
                <a:solidFill>
                  <a:srgbClr val="FFFFFF"/>
                </a:solidFill>
                <a:latin typeface="BIZ UDゴシック" pitchFamily="34" charset="0"/>
                <a:ea typeface="BIZ UDゴシック" pitchFamily="49" charset="-128"/>
                <a:cs typeface="BIZ UDゴシック" pitchFamily="34" charset="-120"/>
              </a:rPr>
              <a:t>入口に消毒剤</a:t>
            </a:r>
            <a:endParaRPr lang="en-US" sz="2000" dirty="0"/>
          </a:p>
          <a:p>
            <a:pPr algn="ctr" indent="0" marL="0">
              <a:buNone/>
            </a:pPr>
            <a:r>
              <a:rPr lang="en-US" sz="2000" dirty="0">
                <a:solidFill>
                  <a:srgbClr val="FFFFFF"/>
                </a:solidFill>
                <a:latin typeface="BIZ UDゴシック" pitchFamily="34" charset="0"/>
                <a:ea typeface="BIZ UDゴシック" pitchFamily="49" charset="-128"/>
                <a:cs typeface="BIZ UDゴシック" pitchFamily="34" charset="-120"/>
              </a:rPr>
              <a:t>足あとで誘導</a:t>
            </a:r>
            <a:endParaRPr lang="en-US" sz="2000" dirty="0"/>
          </a:p>
        </p:txBody>
      </p:sp>
      <p:sp>
        <p:nvSpPr>
          <p:cNvPr id="31" name="Text 24"/>
          <p:cNvSpPr txBox="1"/>
          <p:nvPr/>
        </p:nvSpPr>
        <p:spPr>
          <a:xfrm>
            <a:off x="548640" y="5486400"/>
            <a:ext cx="11094415" cy="594360"/>
          </a:xfrm>
          <a:prstGeom prst="rect">
            <a:avLst/>
          </a:prstGeom>
          <a:noFill/>
          <a:ln/>
        </p:spPr>
        <p:txBody>
          <a:bodyPr wrap="square" lIns="0" tIns="0" rIns="0" bIns="0" rtlCol="0" anchor="ctr"/>
          <a:lstStyle/>
          <a:p>
            <a:pPr algn="ctr" indent="0" marL="0">
              <a:buNone/>
            </a:pPr>
            <a:r>
              <a:rPr lang="en-US" sz="2400" b="1" dirty="0">
                <a:solidFill>
                  <a:srgbClr val="0B7A70"/>
                </a:solidFill>
                <a:latin typeface="BIZ UDゴシック" pitchFamily="34" charset="0"/>
                <a:ea typeface="BIZ UDゴシック" pitchFamily="49" charset="-128"/>
                <a:cs typeface="BIZ UDゴシック" pitchFamily="34" charset="-120"/>
              </a:rPr>
              <a:t>ナッジは代わりではなく、ルール・教育と組み合わせて使う</a:t>
            </a:r>
            <a:endParaRPr lang="en-US" sz="24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2F6FA8"/>
          </a:solidFill>
          <a:ln w="12700">
            <a:solidFill>
              <a:srgbClr val="2F6FA8"/>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ナッジって何？</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最初から「選ばれている」ものを、人はそのまま選ぶ</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出典：Johnson EJ, Goldstein D. Science 2003</a:t>
            </a:r>
            <a:endParaRPr lang="en-US" sz="2000" dirty="0"/>
          </a:p>
        </p:txBody>
      </p:sp>
      <p:sp>
        <p:nvSpPr>
          <p:cNvPr id="7" name="Text 4"/>
          <p:cNvSpPr txBox="1"/>
          <p:nvPr/>
        </p:nvSpPr>
        <p:spPr>
          <a:xfrm>
            <a:off x="548640" y="1783080"/>
            <a:ext cx="6035040" cy="365760"/>
          </a:xfrm>
          <a:prstGeom prst="rect">
            <a:avLst/>
          </a:prstGeom>
          <a:noFill/>
          <a:ln/>
        </p:spPr>
        <p:txBody>
          <a:bodyPr wrap="square" lIns="0" tIns="0" rIns="0" bIns="0" rtlCol="0" anchor="t"/>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臓器提供に同意した人の割合（オンライン実験）</a:t>
            </a:r>
            <a:endParaRPr lang="en-US" sz="2000" dirty="0"/>
          </a:p>
        </p:txBody>
      </p:sp>
      <p:graphicFrame>
        <p:nvGraphicFramePr>
          <p:cNvPr id="8" name="Chart 0" descr=""/>
          <p:cNvGraphicFramePr/>
          <p:nvPr/>
        </p:nvGraphicFramePr>
        <p:xfrm>
          <a:off x="548640" y="2148840"/>
          <a:ext cx="5577840" cy="38862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492240" y="2011680"/>
            <a:ext cx="5150815" cy="3931920"/>
          </a:xfrm>
          <a:prstGeom prst="roundRect">
            <a:avLst>
              <a:gd name="adj" fmla="val 2791"/>
            </a:avLst>
          </a:prstGeom>
          <a:solidFill>
            <a:srgbClr val="EEF2F7"/>
          </a:solidFill>
          <a:ln w="12700">
            <a:solidFill>
              <a:srgbClr val="EEF2F7"/>
            </a:solidFill>
            <a:prstDash val="solid"/>
          </a:ln>
        </p:spPr>
      </p:sp>
      <p:sp>
        <p:nvSpPr>
          <p:cNvPr id="10" name="Text 6"/>
          <p:cNvSpPr txBox="1"/>
          <p:nvPr/>
        </p:nvSpPr>
        <p:spPr>
          <a:xfrm>
            <a:off x="6748272" y="2240280"/>
            <a:ext cx="4638751" cy="3474720"/>
          </a:xfrm>
          <a:prstGeom prst="rect">
            <a:avLst/>
          </a:prstGeom>
          <a:noFill/>
          <a:ln/>
        </p:spPr>
        <p:txBody>
          <a:bodyPr wrap="square" lIns="0" tIns="0" rIns="0" bIns="0" rtlCol="0" anchor="ctr"/>
          <a:lstStyle/>
          <a:p>
            <a:pPr indent="0" marL="0">
              <a:spcAft>
                <a:spcPts val="1400"/>
              </a:spcAft>
              <a:buNone/>
            </a:pPr>
            <a:r>
              <a:rPr lang="en-US" sz="2000" b="1" dirty="0">
                <a:solidFill>
                  <a:srgbClr val="131B35"/>
                </a:solidFill>
                <a:latin typeface="BIZ UDゴシック" pitchFamily="34" charset="0"/>
                <a:ea typeface="BIZ UDゴシック" pitchFamily="49" charset="-128"/>
                <a:cs typeface="BIZ UDゴシック" pitchFamily="34" charset="-120"/>
              </a:rPr>
              <a:t>初期設定（デフォルト）の力</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変えたのは「最初の設定」だけ</a:t>
            </a:r>
            <a:endParaRPr lang="en-US" sz="2000" dirty="0"/>
          </a:p>
          <a:p>
            <a:pPr indent="0" marL="0">
              <a:spcAft>
                <a:spcPts val="1400"/>
              </a:spcAft>
              <a:buNone/>
            </a:pPr>
            <a:r>
              <a:rPr lang="en-US" sz="2000" dirty="0">
                <a:solidFill>
                  <a:srgbClr val="1B2333"/>
                </a:solidFill>
                <a:latin typeface="BIZ UDゴシック" pitchFamily="34" charset="0"/>
                <a:ea typeface="BIZ UDゴシック" pitchFamily="49" charset="-128"/>
                <a:cs typeface="BIZ UDゴシック" pitchFamily="34" charset="-120"/>
              </a:rPr>
              <a:t>選ぶ自由はどちらも同じ</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国別でも、同意が初期設定の国は</a:t>
            </a:r>
            <a:endParaRPr lang="en-US" sz="2000" dirty="0"/>
          </a:p>
          <a:p>
            <a:pPr indent="0" marL="0">
              <a:spcAft>
                <a:spcPts val="1400"/>
              </a:spcAft>
              <a:buNone/>
            </a:pPr>
            <a:r>
              <a:rPr lang="en-US" sz="2000" dirty="0">
                <a:solidFill>
                  <a:srgbClr val="1B2333"/>
                </a:solidFill>
                <a:latin typeface="BIZ UDゴシック" pitchFamily="34" charset="0"/>
                <a:ea typeface="BIZ UDゴシック" pitchFamily="49" charset="-128"/>
                <a:cs typeface="BIZ UDゴシック" pitchFamily="34" charset="-120"/>
              </a:rPr>
              <a:t>同意率90%超が多い</a:t>
            </a:r>
            <a:endParaRPr lang="en-US" sz="2000" dirty="0"/>
          </a:p>
          <a:p>
            <a:pPr indent="0" marL="0">
              <a:buNone/>
            </a:pPr>
            <a:r>
              <a:rPr lang="en-US" sz="2000" b="1" dirty="0">
                <a:solidFill>
                  <a:srgbClr val="0B7A70"/>
                </a:solidFill>
                <a:latin typeface="BIZ UDゴシック" pitchFamily="34" charset="0"/>
                <a:ea typeface="BIZ UDゴシック" pitchFamily="49" charset="-128"/>
                <a:cs typeface="BIZ UDゴシック" pitchFamily="34" charset="-120"/>
              </a:rPr>
              <a:t>→ 人は、最初から選ばれて</a:t>
            </a:r>
            <a:endParaRPr lang="en-US" sz="2000" dirty="0"/>
          </a:p>
          <a:p>
            <a:pPr indent="0" marL="0">
              <a:spcAft>
                <a:spcPts val="1400"/>
              </a:spcAft>
              <a:buNone/>
            </a:pPr>
            <a:r>
              <a:rPr lang="en-US" sz="2000" b="1" dirty="0">
                <a:solidFill>
                  <a:srgbClr val="0B7A70"/>
                </a:solidFill>
                <a:latin typeface="BIZ UDゴシック" pitchFamily="34" charset="0"/>
                <a:ea typeface="BIZ UDゴシック" pitchFamily="49" charset="-128"/>
                <a:cs typeface="BIZ UDゴシック" pitchFamily="34" charset="-120"/>
              </a:rPr>
              <a:t>いるものを選びやすい</a:t>
            </a:r>
            <a:endParaRPr lang="en-US" sz="20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3</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2F6FA8"/>
          </a:solidFill>
          <a:ln w="12700">
            <a:solidFill>
              <a:srgbClr val="2F6FA8"/>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ナッジって何？</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予防接種も、最初から「予約済み」にすると増える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出典：Chapman GB, et al. JAMA 2010; Dai H, et al. Nature 2021</a:t>
            </a:r>
            <a:endParaRPr lang="en-US" sz="2000" dirty="0"/>
          </a:p>
        </p:txBody>
      </p:sp>
      <p:sp>
        <p:nvSpPr>
          <p:cNvPr id="7" name="Text 4"/>
          <p:cNvSpPr txBox="1"/>
          <p:nvPr/>
        </p:nvSpPr>
        <p:spPr>
          <a:xfrm>
            <a:off x="548640" y="1783080"/>
            <a:ext cx="6035040" cy="365760"/>
          </a:xfrm>
          <a:prstGeom prst="rect">
            <a:avLst/>
          </a:prstGeom>
          <a:noFill/>
          <a:ln/>
        </p:spPr>
        <p:txBody>
          <a:bodyPr wrap="square" lIns="0" tIns="0" rIns="0" bIns="0" rtlCol="0" anchor="t"/>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インフルエンザワクチン接種率（職員478名）</a:t>
            </a:r>
            <a:endParaRPr lang="en-US" sz="2000" dirty="0"/>
          </a:p>
        </p:txBody>
      </p:sp>
      <p:graphicFrame>
        <p:nvGraphicFramePr>
          <p:cNvPr id="8" name="Chart 0" descr=""/>
          <p:cNvGraphicFramePr/>
          <p:nvPr/>
        </p:nvGraphicFramePr>
        <p:xfrm>
          <a:off x="548640" y="2148840"/>
          <a:ext cx="5577840" cy="38862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492240" y="2011680"/>
            <a:ext cx="5150815" cy="1737360"/>
          </a:xfrm>
          <a:prstGeom prst="roundRect">
            <a:avLst>
              <a:gd name="adj" fmla="val 6316"/>
            </a:avLst>
          </a:prstGeom>
          <a:solidFill>
            <a:srgbClr val="EEF2F7"/>
          </a:solidFill>
          <a:ln w="12700">
            <a:solidFill>
              <a:srgbClr val="EEF2F7"/>
            </a:solidFill>
            <a:prstDash val="solid"/>
          </a:ln>
        </p:spPr>
      </p:sp>
      <p:sp>
        <p:nvSpPr>
          <p:cNvPr id="10" name="Shape 6"/>
          <p:cNvSpPr/>
          <p:nvPr/>
        </p:nvSpPr>
        <p:spPr>
          <a:xfrm>
            <a:off x="6720840" y="2240280"/>
            <a:ext cx="731520" cy="731520"/>
          </a:xfrm>
          <a:prstGeom prst="ellipse">
            <a:avLst/>
          </a:prstGeom>
          <a:solidFill>
            <a:srgbClr val="2F6FA8"/>
          </a:solidFill>
          <a:ln w="12700">
            <a:solidFill>
              <a:srgbClr val="2F6FA8"/>
            </a:solidFill>
            <a:prstDash val="solid"/>
          </a:ln>
        </p:spPr>
      </p:sp>
      <p:pic>
        <p:nvPicPr>
          <p:cNvPr id="11" name="Image 0" descr="preencoded.png">    </p:cNvPr>
          <p:cNvPicPr>
            <a:picLocks noChangeAspect="1"/>
          </p:cNvPicPr>
          <p:nvPr/>
        </p:nvPicPr>
        <p:blipFill>
          <a:blip r:embed="rId2"/>
          <a:stretch>
            <a:fillRect/>
          </a:stretch>
        </p:blipFill>
        <p:spPr>
          <a:xfrm>
            <a:off x="6896405" y="2415845"/>
            <a:ext cx="380390" cy="380390"/>
          </a:xfrm>
          <a:prstGeom prst="rect">
            <a:avLst/>
          </a:prstGeom>
        </p:spPr>
      </p:pic>
      <p:sp>
        <p:nvSpPr>
          <p:cNvPr id="12" name="Text 7"/>
          <p:cNvSpPr txBox="1"/>
          <p:nvPr/>
        </p:nvSpPr>
        <p:spPr>
          <a:xfrm>
            <a:off x="7635240" y="2194560"/>
            <a:ext cx="3870655" cy="1371600"/>
          </a:xfrm>
          <a:prstGeom prst="rect">
            <a:avLst/>
          </a:prstGeom>
          <a:noFill/>
          <a:ln/>
        </p:spPr>
        <p:txBody>
          <a:bodyPr wrap="square" lIns="0" tIns="0" rIns="0" bIns="0" rtlCol="0" anchor="ctr"/>
          <a:lstStyle/>
          <a:p>
            <a:pPr indent="0" marL="0">
              <a:buNone/>
            </a:pPr>
            <a:r>
              <a:rPr lang="en-US" sz="2200" b="1" dirty="0">
                <a:solidFill>
                  <a:srgbClr val="131B35"/>
                </a:solidFill>
                <a:latin typeface="BIZ UDゴシック" pitchFamily="34" charset="0"/>
                <a:ea typeface="BIZ UDゴシック" pitchFamily="49" charset="-128"/>
                <a:cs typeface="BIZ UDゴシック" pitchFamily="34" charset="-120"/>
              </a:rPr>
              <a:t>予約を取り消した</a:t>
            </a:r>
            <a:endParaRPr lang="en-US" sz="2200" dirty="0"/>
          </a:p>
          <a:p>
            <a:pPr indent="0" marL="0">
              <a:buNone/>
            </a:pPr>
            <a:r>
              <a:rPr lang="en-US" sz="2200" b="1" dirty="0">
                <a:solidFill>
                  <a:srgbClr val="131B35"/>
                </a:solidFill>
                <a:latin typeface="BIZ UDゴシック" pitchFamily="34" charset="0"/>
                <a:ea typeface="BIZ UDゴシック" pitchFamily="49" charset="-128"/>
                <a:cs typeface="BIZ UDゴシック" pitchFamily="34" charset="-120"/>
              </a:rPr>
              <a:t>のは8%だけ</a:t>
            </a:r>
            <a:endParaRPr lang="en-US" sz="2200" dirty="0"/>
          </a:p>
        </p:txBody>
      </p:sp>
      <p:sp>
        <p:nvSpPr>
          <p:cNvPr id="13" name="Shape 8"/>
          <p:cNvSpPr/>
          <p:nvPr/>
        </p:nvSpPr>
        <p:spPr>
          <a:xfrm>
            <a:off x="6492240" y="3931920"/>
            <a:ext cx="5150815" cy="2011680"/>
          </a:xfrm>
          <a:prstGeom prst="roundRect">
            <a:avLst>
              <a:gd name="adj" fmla="val 5455"/>
            </a:avLst>
          </a:prstGeom>
          <a:solidFill>
            <a:srgbClr val="EEF2F7"/>
          </a:solidFill>
          <a:ln w="12700">
            <a:solidFill>
              <a:srgbClr val="EEF2F7"/>
            </a:solidFill>
            <a:prstDash val="solid"/>
          </a:ln>
        </p:spPr>
      </p:sp>
      <p:sp>
        <p:nvSpPr>
          <p:cNvPr id="14" name="Shape 9"/>
          <p:cNvSpPr/>
          <p:nvPr/>
        </p:nvSpPr>
        <p:spPr>
          <a:xfrm>
            <a:off x="6720840" y="4160520"/>
            <a:ext cx="731520" cy="731520"/>
          </a:xfrm>
          <a:prstGeom prst="ellipse">
            <a:avLst/>
          </a:prstGeom>
          <a:solidFill>
            <a:srgbClr val="2F6FA8"/>
          </a:solidFill>
          <a:ln w="12700">
            <a:solidFill>
              <a:srgbClr val="2F6FA8"/>
            </a:solidFill>
            <a:prstDash val="solid"/>
          </a:ln>
        </p:spPr>
      </p:sp>
      <p:pic>
        <p:nvPicPr>
          <p:cNvPr id="15" name="Image 1" descr="preencoded.png">    </p:cNvPr>
          <p:cNvPicPr>
            <a:picLocks noChangeAspect="1"/>
          </p:cNvPicPr>
          <p:nvPr/>
        </p:nvPicPr>
        <p:blipFill>
          <a:blip r:embed="rId3"/>
          <a:stretch>
            <a:fillRect/>
          </a:stretch>
        </p:blipFill>
        <p:spPr>
          <a:xfrm>
            <a:off x="6896405" y="4336085"/>
            <a:ext cx="380390" cy="380390"/>
          </a:xfrm>
          <a:prstGeom prst="rect">
            <a:avLst/>
          </a:prstGeom>
        </p:spPr>
      </p:pic>
      <p:sp>
        <p:nvSpPr>
          <p:cNvPr id="16" name="Text 10"/>
          <p:cNvSpPr txBox="1"/>
          <p:nvPr/>
        </p:nvSpPr>
        <p:spPr>
          <a:xfrm>
            <a:off x="7635240" y="4069080"/>
            <a:ext cx="3870655" cy="1783080"/>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「あなたのワクチンが</a:t>
            </a:r>
            <a:endParaRPr lang="en-US" sz="2000" dirty="0"/>
          </a:p>
          <a:p>
            <a:pPr indent="0" marL="0">
              <a:spcAft>
                <a:spcPts val="600"/>
              </a:spcAft>
              <a:buNone/>
            </a:pPr>
            <a:r>
              <a:rPr lang="en-US" sz="2000" b="1" dirty="0">
                <a:solidFill>
                  <a:srgbClr val="131B35"/>
                </a:solidFill>
                <a:latin typeface="BIZ UDゴシック" pitchFamily="34" charset="0"/>
                <a:ea typeface="BIZ UDゴシック" pitchFamily="49" charset="-128"/>
                <a:cs typeface="BIZ UDゴシック" pitchFamily="34" charset="-120"/>
              </a:rPr>
              <a:t>用意されています」</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SMSで接種率＋3.57ポイント</a:t>
            </a:r>
            <a:endParaRPr lang="en-US" sz="2000" dirty="0"/>
          </a:p>
          <a:p>
            <a:pPr indent="0" marL="0">
              <a:spcAft>
                <a:spcPts val="600"/>
              </a:spcAft>
              <a:buNone/>
            </a:pPr>
            <a:r>
              <a:rPr lang="en-US" sz="2000" dirty="0">
                <a:solidFill>
                  <a:srgbClr val="1B2333"/>
                </a:solidFill>
                <a:latin typeface="BIZ UDゴシック" pitchFamily="34" charset="0"/>
                <a:ea typeface="BIZ UDゴシック" pitchFamily="49" charset="-128"/>
                <a:cs typeface="BIZ UDゴシック" pitchFamily="34" charset="-120"/>
              </a:rPr>
              <a:t>（新型コロナ・約9.3万人）</a:t>
            </a:r>
            <a:endParaRPr lang="en-US" sz="20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4</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092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092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第1部</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頭の中には「速い思考」と「遅い思考」がある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出典：Kahneman D. Am Psychol 2003; Frederick S. J Econ Perspect 2005</a:t>
            </a:r>
            <a:endParaRPr lang="en-US" sz="2000" dirty="0"/>
          </a:p>
        </p:txBody>
      </p:sp>
      <p:sp>
        <p:nvSpPr>
          <p:cNvPr id="7" name="Shape 4"/>
          <p:cNvSpPr/>
          <p:nvPr/>
        </p:nvSpPr>
        <p:spPr>
          <a:xfrm>
            <a:off x="548640" y="1965960"/>
            <a:ext cx="5029200" cy="4023360"/>
          </a:xfrm>
          <a:prstGeom prst="roundRect">
            <a:avLst>
              <a:gd name="adj" fmla="val 2727"/>
            </a:avLst>
          </a:prstGeom>
          <a:solidFill>
            <a:srgbClr val="EEF2F7"/>
          </a:solidFill>
          <a:ln w="12700">
            <a:solidFill>
              <a:srgbClr val="EEF2F7"/>
            </a:solidFill>
            <a:prstDash val="solid"/>
          </a:ln>
        </p:spPr>
      </p:sp>
      <p:sp>
        <p:nvSpPr>
          <p:cNvPr id="8" name="Text 5"/>
          <p:cNvSpPr txBox="1"/>
          <p:nvPr/>
        </p:nvSpPr>
        <p:spPr>
          <a:xfrm>
            <a:off x="822960" y="2148840"/>
            <a:ext cx="4480560" cy="457200"/>
          </a:xfrm>
          <a:prstGeom prst="rect">
            <a:avLst/>
          </a:prstGeom>
          <a:noFill/>
          <a:ln/>
        </p:spPr>
        <p:txBody>
          <a:bodyPr wrap="square" lIns="0" tIns="0" rIns="0" bIns="0" rtlCol="0" anchor="t"/>
          <a:lstStyle/>
          <a:p>
            <a:pPr indent="0" marL="0">
              <a:buNone/>
            </a:pPr>
            <a:r>
              <a:rPr lang="en-US" sz="2400" b="1" dirty="0">
                <a:solidFill>
                  <a:srgbClr val="D1480E"/>
                </a:solidFill>
                <a:latin typeface="BIZ UDゴシック" pitchFamily="34" charset="0"/>
                <a:ea typeface="BIZ UDゴシック" pitchFamily="49" charset="-128"/>
                <a:cs typeface="BIZ UDゴシック" pitchFamily="34" charset="-120"/>
              </a:rPr>
              <a:t>クイズ</a:t>
            </a:r>
            <a:endParaRPr lang="en-US" sz="2400" dirty="0"/>
          </a:p>
        </p:txBody>
      </p:sp>
      <p:sp>
        <p:nvSpPr>
          <p:cNvPr id="9" name="Text 6"/>
          <p:cNvSpPr txBox="1"/>
          <p:nvPr/>
        </p:nvSpPr>
        <p:spPr>
          <a:xfrm>
            <a:off x="822960" y="2697480"/>
            <a:ext cx="4480560" cy="1371600"/>
          </a:xfrm>
          <a:prstGeom prst="rect">
            <a:avLst/>
          </a:prstGeom>
          <a:noFill/>
          <a:ln/>
        </p:spPr>
        <p:txBody>
          <a:bodyPr wrap="square" lIns="0" tIns="0" rIns="0" bIns="0" rtlCol="0" anchor="t"/>
          <a:lstStyle/>
          <a:p>
            <a:pPr indent="0" marL="0">
              <a:spcAft>
                <a:spcPts val="400"/>
              </a:spcAft>
              <a:buNone/>
            </a:pPr>
            <a:r>
              <a:rPr lang="en-US" sz="2200" dirty="0">
                <a:solidFill>
                  <a:srgbClr val="1B2333"/>
                </a:solidFill>
                <a:latin typeface="BIZ UDゴシック" pitchFamily="34" charset="0"/>
                <a:ea typeface="BIZ UDゴシック" pitchFamily="49" charset="-128"/>
                <a:cs typeface="BIZ UDゴシック" pitchFamily="34" charset="-120"/>
              </a:rPr>
              <a:t>バットとボールで合計1,100円</a:t>
            </a:r>
            <a:endParaRPr lang="en-US" sz="2200" dirty="0"/>
          </a:p>
          <a:p>
            <a:pPr indent="0" marL="0">
              <a:spcAft>
                <a:spcPts val="400"/>
              </a:spcAft>
              <a:buNone/>
            </a:pPr>
            <a:r>
              <a:rPr lang="en-US" sz="2200" dirty="0">
                <a:solidFill>
                  <a:srgbClr val="1B2333"/>
                </a:solidFill>
                <a:latin typeface="BIZ UDゴシック" pitchFamily="34" charset="0"/>
                <a:ea typeface="BIZ UDゴシック" pitchFamily="49" charset="-128"/>
                <a:cs typeface="BIZ UDゴシック" pitchFamily="34" charset="-120"/>
              </a:rPr>
              <a:t>バットはボールより1,000円高い</a:t>
            </a:r>
            <a:endParaRPr lang="en-US" sz="2200" dirty="0"/>
          </a:p>
          <a:p>
            <a:pPr indent="0" marL="0">
              <a:spcAft>
                <a:spcPts val="400"/>
              </a:spcAft>
              <a:buNone/>
            </a:pPr>
            <a:r>
              <a:rPr lang="en-US" sz="2200" b="1" dirty="0">
                <a:solidFill>
                  <a:srgbClr val="131B35"/>
                </a:solidFill>
                <a:latin typeface="BIZ UDゴシック" pitchFamily="34" charset="0"/>
                <a:ea typeface="BIZ UDゴシック" pitchFamily="49" charset="-128"/>
                <a:cs typeface="BIZ UDゴシック" pitchFamily="34" charset="-120"/>
              </a:rPr>
              <a:t>ボールはいくら？</a:t>
            </a:r>
            <a:endParaRPr lang="en-US" sz="2200" dirty="0"/>
          </a:p>
        </p:txBody>
      </p:sp>
      <p:sp>
        <p:nvSpPr>
          <p:cNvPr id="10" name="Text 7"/>
          <p:cNvSpPr txBox="1"/>
          <p:nvPr/>
        </p:nvSpPr>
        <p:spPr>
          <a:xfrm>
            <a:off x="822960" y="4434840"/>
            <a:ext cx="4480560" cy="1188720"/>
          </a:xfrm>
          <a:prstGeom prst="rect">
            <a:avLst/>
          </a:prstGeom>
          <a:noFill/>
          <a:ln/>
        </p:spPr>
        <p:txBody>
          <a:bodyPr wrap="square" lIns="0" tIns="0" rIns="0" bIns="0" rtlCol="0" anchor="ctr"/>
          <a:lstStyle/>
          <a:p>
            <a:pPr indent="0" marL="0">
              <a:spcAft>
                <a:spcPts val="800"/>
              </a:spcAft>
              <a:buNone/>
            </a:pPr>
            <a:r>
              <a:rPr lang="en-US" sz="2000" dirty="0">
                <a:solidFill>
                  <a:srgbClr val="1B2333"/>
                </a:solidFill>
                <a:latin typeface="BIZ UDゴシック" pitchFamily="34" charset="0"/>
                <a:ea typeface="BIZ UDゴシック" pitchFamily="49" charset="-128"/>
                <a:cs typeface="BIZ UDゴシック" pitchFamily="34" charset="-120"/>
              </a:rPr>
              <a:t>とっさに「100円」→ 速い思考</a:t>
            </a:r>
            <a:endParaRPr lang="en-US" sz="2000" dirty="0"/>
          </a:p>
          <a:p>
            <a:pPr indent="0" marL="0">
              <a:spcAft>
                <a:spcPts val="800"/>
              </a:spcAft>
              <a:buNone/>
            </a:pPr>
            <a:r>
              <a:rPr lang="en-US" sz="2000" b="1" dirty="0">
                <a:solidFill>
                  <a:srgbClr val="0B7A70"/>
                </a:solidFill>
                <a:latin typeface="BIZ UDゴシック" pitchFamily="34" charset="0"/>
                <a:ea typeface="BIZ UDゴシック" pitchFamily="49" charset="-128"/>
                <a:cs typeface="BIZ UDゴシック" pitchFamily="34" charset="-120"/>
              </a:rPr>
              <a:t>正解は「50円」→ 遅い思考</a:t>
            </a:r>
            <a:endParaRPr lang="en-US" sz="2000" dirty="0"/>
          </a:p>
        </p:txBody>
      </p:sp>
      <p:sp>
        <p:nvSpPr>
          <p:cNvPr id="11" name="Shape 8"/>
          <p:cNvSpPr/>
          <p:nvPr/>
        </p:nvSpPr>
        <p:spPr>
          <a:xfrm>
            <a:off x="5852160" y="1965960"/>
            <a:ext cx="5790895" cy="1920240"/>
          </a:xfrm>
          <a:prstGeom prst="roundRect">
            <a:avLst>
              <a:gd name="adj" fmla="val 5714"/>
            </a:avLst>
          </a:prstGeom>
          <a:solidFill>
            <a:srgbClr val="FCEBE3"/>
          </a:solidFill>
          <a:ln w="12700">
            <a:solidFill>
              <a:srgbClr val="FCEBE3"/>
            </a:solidFill>
            <a:prstDash val="solid"/>
          </a:ln>
        </p:spPr>
      </p:sp>
      <p:sp>
        <p:nvSpPr>
          <p:cNvPr id="12" name="Shape 9"/>
          <p:cNvSpPr/>
          <p:nvPr/>
        </p:nvSpPr>
        <p:spPr>
          <a:xfrm>
            <a:off x="6080760" y="2194560"/>
            <a:ext cx="777240" cy="777240"/>
          </a:xfrm>
          <a:prstGeom prst="ellipse">
            <a:avLst/>
          </a:prstGeom>
          <a:solidFill>
            <a:srgbClr val="D1480E"/>
          </a:solidFill>
          <a:ln w="12700">
            <a:solidFill>
              <a:srgbClr val="D1480E"/>
            </a:solidFill>
            <a:prstDash val="solid"/>
          </a:ln>
        </p:spPr>
      </p:sp>
      <p:pic>
        <p:nvPicPr>
          <p:cNvPr id="13" name="Image 0" descr="preencoded.png">    </p:cNvPr>
          <p:cNvPicPr>
            <a:picLocks noChangeAspect="1"/>
          </p:cNvPicPr>
          <p:nvPr/>
        </p:nvPicPr>
        <p:blipFill>
          <a:blip r:embed="rId1"/>
          <a:stretch>
            <a:fillRect/>
          </a:stretch>
        </p:blipFill>
        <p:spPr>
          <a:xfrm>
            <a:off x="6267298" y="2381098"/>
            <a:ext cx="404165" cy="404165"/>
          </a:xfrm>
          <a:prstGeom prst="rect">
            <a:avLst/>
          </a:prstGeom>
        </p:spPr>
      </p:pic>
      <p:sp>
        <p:nvSpPr>
          <p:cNvPr id="14" name="Text 10"/>
          <p:cNvSpPr txBox="1"/>
          <p:nvPr/>
        </p:nvSpPr>
        <p:spPr>
          <a:xfrm>
            <a:off x="7040880" y="2194560"/>
            <a:ext cx="4465015" cy="777240"/>
          </a:xfrm>
          <a:prstGeom prst="rect">
            <a:avLst/>
          </a:prstGeom>
          <a:noFill/>
          <a:ln/>
        </p:spPr>
        <p:txBody>
          <a:bodyPr wrap="square" lIns="0" tIns="0" rIns="0" bIns="0" rtlCol="0" anchor="ctr"/>
          <a:lstStyle/>
          <a:p>
            <a:pPr indent="0" marL="0">
              <a:buNone/>
            </a:pPr>
            <a:r>
              <a:rPr lang="en-US" sz="2400" b="1" dirty="0">
                <a:solidFill>
                  <a:srgbClr val="D1480E"/>
                </a:solidFill>
                <a:latin typeface="BIZ UDゴシック" pitchFamily="34" charset="0"/>
                <a:ea typeface="BIZ UDゴシック" pitchFamily="49" charset="-128"/>
                <a:cs typeface="BIZ UDゴシック" pitchFamily="34" charset="-120"/>
              </a:rPr>
              <a:t>システム1：速い思考</a:t>
            </a:r>
            <a:endParaRPr lang="en-US" sz="2400" dirty="0"/>
          </a:p>
        </p:txBody>
      </p:sp>
      <p:sp>
        <p:nvSpPr>
          <p:cNvPr id="15" name="Text 11"/>
          <p:cNvSpPr txBox="1"/>
          <p:nvPr/>
        </p:nvSpPr>
        <p:spPr>
          <a:xfrm>
            <a:off x="6126480" y="3017520"/>
            <a:ext cx="5333695" cy="777240"/>
          </a:xfrm>
          <a:prstGeom prst="rect">
            <a:avLst/>
          </a:prstGeom>
          <a:noFill/>
          <a:ln/>
        </p:spPr>
        <p:txBody>
          <a:bodyPr wrap="square" lIns="0" tIns="0" rIns="0" bIns="0" rtlCol="0" anchor="ctr"/>
          <a:lstStyle/>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自動的・直感的・努力いらず</a:t>
            </a:r>
            <a:endParaRPr lang="en-US" sz="2000" dirty="0"/>
          </a:p>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例：慣れた手順、忙しい時の判断</a:t>
            </a:r>
            <a:endParaRPr lang="en-US" sz="2000" dirty="0"/>
          </a:p>
        </p:txBody>
      </p:sp>
      <p:sp>
        <p:nvSpPr>
          <p:cNvPr id="16" name="Shape 12"/>
          <p:cNvSpPr/>
          <p:nvPr/>
        </p:nvSpPr>
        <p:spPr>
          <a:xfrm>
            <a:off x="5852160" y="4023360"/>
            <a:ext cx="5790895" cy="1920240"/>
          </a:xfrm>
          <a:prstGeom prst="roundRect">
            <a:avLst>
              <a:gd name="adj" fmla="val 5714"/>
            </a:avLst>
          </a:prstGeom>
          <a:solidFill>
            <a:srgbClr val="E3F7F2"/>
          </a:solidFill>
          <a:ln w="12700">
            <a:solidFill>
              <a:srgbClr val="E3F7F2"/>
            </a:solidFill>
            <a:prstDash val="solid"/>
          </a:ln>
        </p:spPr>
      </p:sp>
      <p:sp>
        <p:nvSpPr>
          <p:cNvPr id="17" name="Shape 13"/>
          <p:cNvSpPr/>
          <p:nvPr/>
        </p:nvSpPr>
        <p:spPr>
          <a:xfrm>
            <a:off x="6080760" y="4251960"/>
            <a:ext cx="777240" cy="777240"/>
          </a:xfrm>
          <a:prstGeom prst="ellipse">
            <a:avLst/>
          </a:prstGeom>
          <a:solidFill>
            <a:srgbClr val="0B7A70"/>
          </a:solidFill>
          <a:ln w="12700">
            <a:solidFill>
              <a:srgbClr val="0B7A70"/>
            </a:solidFill>
            <a:prstDash val="solid"/>
          </a:ln>
        </p:spPr>
      </p:sp>
      <p:pic>
        <p:nvPicPr>
          <p:cNvPr id="18" name="Image 1" descr="preencoded.png">    </p:cNvPr>
          <p:cNvPicPr>
            <a:picLocks noChangeAspect="1"/>
          </p:cNvPicPr>
          <p:nvPr/>
        </p:nvPicPr>
        <p:blipFill>
          <a:blip r:embed="rId2"/>
          <a:stretch>
            <a:fillRect/>
          </a:stretch>
        </p:blipFill>
        <p:spPr>
          <a:xfrm>
            <a:off x="6267298" y="4438498"/>
            <a:ext cx="404165" cy="404165"/>
          </a:xfrm>
          <a:prstGeom prst="rect">
            <a:avLst/>
          </a:prstGeom>
        </p:spPr>
      </p:pic>
      <p:sp>
        <p:nvSpPr>
          <p:cNvPr id="19" name="Text 14"/>
          <p:cNvSpPr txBox="1"/>
          <p:nvPr/>
        </p:nvSpPr>
        <p:spPr>
          <a:xfrm>
            <a:off x="7040880" y="4251960"/>
            <a:ext cx="4465015" cy="777240"/>
          </a:xfrm>
          <a:prstGeom prst="rect">
            <a:avLst/>
          </a:prstGeom>
          <a:noFill/>
          <a:ln/>
        </p:spPr>
        <p:txBody>
          <a:bodyPr wrap="square" lIns="0" tIns="0" rIns="0" bIns="0" rtlCol="0" anchor="ctr"/>
          <a:lstStyle/>
          <a:p>
            <a:pPr indent="0" marL="0">
              <a:buNone/>
            </a:pPr>
            <a:r>
              <a:rPr lang="en-US" sz="2400" b="1" dirty="0">
                <a:solidFill>
                  <a:srgbClr val="0B7A70"/>
                </a:solidFill>
                <a:latin typeface="BIZ UDゴシック" pitchFamily="34" charset="0"/>
                <a:ea typeface="BIZ UDゴシック" pitchFamily="49" charset="-128"/>
                <a:cs typeface="BIZ UDゴシック" pitchFamily="34" charset="-120"/>
              </a:rPr>
              <a:t>システム2：遅い思考</a:t>
            </a:r>
            <a:endParaRPr lang="en-US" sz="2400" dirty="0"/>
          </a:p>
        </p:txBody>
      </p:sp>
      <p:sp>
        <p:nvSpPr>
          <p:cNvPr id="20" name="Text 15"/>
          <p:cNvSpPr txBox="1"/>
          <p:nvPr/>
        </p:nvSpPr>
        <p:spPr>
          <a:xfrm>
            <a:off x="6126480" y="5074920"/>
            <a:ext cx="5333695" cy="777240"/>
          </a:xfrm>
          <a:prstGeom prst="rect">
            <a:avLst/>
          </a:prstGeom>
          <a:noFill/>
          <a:ln/>
        </p:spPr>
        <p:txBody>
          <a:bodyPr wrap="square" lIns="0" tIns="0" rIns="0" bIns="0" rtlCol="0" anchor="ctr"/>
          <a:lstStyle/>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意識的・論理的・疲れやすい</a:t>
            </a:r>
            <a:endParaRPr lang="en-US" sz="2000" dirty="0"/>
          </a:p>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例：研修で学ぶ、ルールを考える</a:t>
            </a:r>
            <a:endParaRPr lang="en-US" sz="20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1</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1092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1092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第1部</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研修は「遅い思考」に届くが、現場は「速い思考」で動く</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出典：Whitby M, et al. ICHE 2006; Erasmus V, et al. ICHE 2010</a:t>
            </a:r>
            <a:endParaRPr lang="en-US" sz="2000" dirty="0"/>
          </a:p>
        </p:txBody>
      </p:sp>
      <p:sp>
        <p:nvSpPr>
          <p:cNvPr id="7" name="Text 4"/>
          <p:cNvSpPr txBox="1"/>
          <p:nvPr/>
        </p:nvSpPr>
        <p:spPr>
          <a:xfrm>
            <a:off x="548640" y="1783080"/>
            <a:ext cx="5852160" cy="365760"/>
          </a:xfrm>
          <a:prstGeom prst="rect">
            <a:avLst/>
          </a:prstGeom>
          <a:noFill/>
          <a:ln/>
        </p:spPr>
        <p:txBody>
          <a:bodyPr wrap="square" lIns="0" tIns="0" rIns="0" bIns="0" rtlCol="0" anchor="t"/>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手指衛生の遵守率（中央値）</a:t>
            </a:r>
            <a:endParaRPr lang="en-US" sz="2000" dirty="0"/>
          </a:p>
        </p:txBody>
      </p:sp>
      <p:graphicFrame>
        <p:nvGraphicFramePr>
          <p:cNvPr id="8" name="Chart 0" descr=""/>
          <p:cNvGraphicFramePr/>
          <p:nvPr/>
        </p:nvGraphicFramePr>
        <p:xfrm>
          <a:off x="548640" y="2148840"/>
          <a:ext cx="5577840" cy="38862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492240" y="2011680"/>
            <a:ext cx="5150815" cy="3931920"/>
          </a:xfrm>
          <a:prstGeom prst="roundRect">
            <a:avLst>
              <a:gd name="adj" fmla="val 2791"/>
            </a:avLst>
          </a:prstGeom>
          <a:solidFill>
            <a:srgbClr val="EEF2F7"/>
          </a:solidFill>
          <a:ln w="12700">
            <a:solidFill>
              <a:srgbClr val="EEF2F7"/>
            </a:solidFill>
            <a:prstDash val="solid"/>
          </a:ln>
        </p:spPr>
      </p:sp>
      <p:sp>
        <p:nvSpPr>
          <p:cNvPr id="10" name="Text 6"/>
          <p:cNvSpPr txBox="1"/>
          <p:nvPr/>
        </p:nvSpPr>
        <p:spPr>
          <a:xfrm>
            <a:off x="6748272" y="2240280"/>
            <a:ext cx="4638751" cy="3474720"/>
          </a:xfrm>
          <a:prstGeom prst="rect">
            <a:avLst/>
          </a:prstGeom>
          <a:noFill/>
          <a:ln/>
        </p:spPr>
        <p:txBody>
          <a:bodyPr wrap="square" lIns="0" tIns="0" rIns="0" bIns="0" rtlCol="0" anchor="ctr"/>
          <a:lstStyle/>
          <a:p>
            <a:pPr indent="0" marL="0">
              <a:buNone/>
            </a:pPr>
            <a:r>
              <a:rPr lang="en-US" sz="2000" b="1" dirty="0">
                <a:solidFill>
                  <a:srgbClr val="D1480E"/>
                </a:solidFill>
                <a:latin typeface="BIZ UDゴシック" pitchFamily="34" charset="0"/>
                <a:ea typeface="BIZ UDゴシック" pitchFamily="49" charset="-128"/>
                <a:cs typeface="BIZ UDゴシック" pitchFamily="34" charset="-120"/>
              </a:rPr>
              <a:t>「汚れた」と感じると</a:t>
            </a:r>
            <a:endParaRPr lang="en-US" sz="2000" dirty="0"/>
          </a:p>
          <a:p>
            <a:pPr indent="0" marL="0">
              <a:spcAft>
                <a:spcPts val="1400"/>
              </a:spcAft>
              <a:buNone/>
            </a:pPr>
            <a:r>
              <a:rPr lang="en-US" sz="2000" b="1" dirty="0">
                <a:solidFill>
                  <a:srgbClr val="D1480E"/>
                </a:solidFill>
                <a:latin typeface="BIZ UDゴシック" pitchFamily="34" charset="0"/>
                <a:ea typeface="BIZ UDゴシック" pitchFamily="49" charset="-128"/>
                <a:cs typeface="BIZ UDゴシック" pitchFamily="34" charset="-120"/>
              </a:rPr>
              <a:t>速い思考で手が動く</a:t>
            </a:r>
            <a:endParaRPr lang="en-US" sz="2000" dirty="0"/>
          </a:p>
          <a:p>
            <a:pPr indent="0" marL="0">
              <a:buNone/>
            </a:pPr>
            <a:r>
              <a:rPr lang="en-US" sz="2000" b="1" dirty="0">
                <a:solidFill>
                  <a:srgbClr val="0B7A70"/>
                </a:solidFill>
                <a:latin typeface="BIZ UDゴシック" pitchFamily="34" charset="0"/>
                <a:ea typeface="BIZ UDゴシック" pitchFamily="49" charset="-128"/>
                <a:cs typeface="BIZ UDゴシック" pitchFamily="34" charset="-120"/>
              </a:rPr>
              <a:t>「触れる前」は</a:t>
            </a:r>
            <a:endParaRPr lang="en-US" sz="2000" dirty="0"/>
          </a:p>
          <a:p>
            <a:pPr indent="0" marL="0">
              <a:buNone/>
            </a:pPr>
            <a:r>
              <a:rPr lang="en-US" sz="2000" b="1" dirty="0">
                <a:solidFill>
                  <a:srgbClr val="0B7A70"/>
                </a:solidFill>
                <a:latin typeface="BIZ UDゴシック" pitchFamily="34" charset="0"/>
                <a:ea typeface="BIZ UDゴシック" pitchFamily="49" charset="-128"/>
                <a:cs typeface="BIZ UDゴシック" pitchFamily="34" charset="-120"/>
              </a:rPr>
              <a:t>遅い思考で意識しないと</a:t>
            </a:r>
            <a:endParaRPr lang="en-US" sz="2000" dirty="0"/>
          </a:p>
          <a:p>
            <a:pPr indent="0" marL="0">
              <a:spcAft>
                <a:spcPts val="1400"/>
              </a:spcAft>
              <a:buNone/>
            </a:pPr>
            <a:r>
              <a:rPr lang="en-US" sz="2000" b="1" dirty="0">
                <a:solidFill>
                  <a:srgbClr val="0B7A70"/>
                </a:solidFill>
                <a:latin typeface="BIZ UDゴシック" pitchFamily="34" charset="0"/>
                <a:ea typeface="BIZ UDゴシック" pitchFamily="49" charset="-128"/>
                <a:cs typeface="BIZ UDゴシック" pitchFamily="34" charset="-120"/>
              </a:rPr>
              <a:t>できない</a:t>
            </a:r>
            <a:endParaRPr lang="en-US" sz="2000" dirty="0"/>
          </a:p>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 研修（知る）に加えて</a:t>
            </a:r>
            <a:endParaRPr lang="en-US" sz="2000" dirty="0"/>
          </a:p>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速い思考に働きかける</a:t>
            </a:r>
            <a:endParaRPr lang="en-US" sz="2000" dirty="0"/>
          </a:p>
          <a:p>
            <a:pPr indent="0" marL="0">
              <a:spcAft>
                <a:spcPts val="1400"/>
              </a:spcAft>
              <a:buNone/>
            </a:pPr>
            <a:r>
              <a:rPr lang="en-US" sz="2000" b="1" dirty="0">
                <a:solidFill>
                  <a:srgbClr val="131B35"/>
                </a:solidFill>
                <a:latin typeface="BIZ UDゴシック" pitchFamily="34" charset="0"/>
                <a:ea typeface="BIZ UDゴシック" pitchFamily="49" charset="-128"/>
                <a:cs typeface="BIZ UDゴシック" pitchFamily="34" charset="-120"/>
              </a:rPr>
              <a:t>環境づくり（ナッジ）を</a:t>
            </a:r>
            <a:endParaRPr lang="en-US" sz="20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2F6FA8"/>
          </a:solidFill>
          <a:ln w="12700">
            <a:solidFill>
              <a:srgbClr val="2F6FA8"/>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ナッジって何？</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ナッジ＝ひじで「そっと押す」。禁止も強制もしない</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出典：Thaler RH, Sunstein CR. Nudge. Yale Univ Press 2008</a:t>
            </a:r>
            <a:endParaRPr lang="en-US" sz="2000" dirty="0"/>
          </a:p>
        </p:txBody>
      </p:sp>
      <p:sp>
        <p:nvSpPr>
          <p:cNvPr id="7" name="Shape 4"/>
          <p:cNvSpPr/>
          <p:nvPr/>
        </p:nvSpPr>
        <p:spPr>
          <a:xfrm>
            <a:off x="548640" y="1965960"/>
            <a:ext cx="5120640" cy="3977640"/>
          </a:xfrm>
          <a:prstGeom prst="roundRect">
            <a:avLst>
              <a:gd name="adj" fmla="val 2759"/>
            </a:avLst>
          </a:prstGeom>
          <a:solidFill>
            <a:srgbClr val="131B35"/>
          </a:solidFill>
          <a:ln w="12700">
            <a:solidFill>
              <a:srgbClr val="131B35"/>
            </a:solidFill>
            <a:prstDash val="solid"/>
          </a:ln>
        </p:spPr>
      </p:sp>
      <p:sp>
        <p:nvSpPr>
          <p:cNvPr id="8" name="Shape 5"/>
          <p:cNvSpPr/>
          <p:nvPr/>
        </p:nvSpPr>
        <p:spPr>
          <a:xfrm>
            <a:off x="868680" y="2240280"/>
            <a:ext cx="914400" cy="914400"/>
          </a:xfrm>
          <a:prstGeom prst="ellipse">
            <a:avLst/>
          </a:prstGeom>
          <a:solidFill>
            <a:srgbClr val="1E2A4F"/>
          </a:solidFill>
          <a:ln w="12700">
            <a:solidFill>
              <a:srgbClr val="1E2A4F"/>
            </a:solidFill>
            <a:prstDash val="solid"/>
          </a:ln>
        </p:spPr>
      </p:sp>
      <p:pic>
        <p:nvPicPr>
          <p:cNvPr id="9" name="Image 0" descr="preencoded.png">    </p:cNvPr>
          <p:cNvPicPr>
            <a:picLocks noChangeAspect="1"/>
          </p:cNvPicPr>
          <p:nvPr/>
        </p:nvPicPr>
        <p:blipFill>
          <a:blip r:embed="rId1"/>
          <a:stretch>
            <a:fillRect/>
          </a:stretch>
        </p:blipFill>
        <p:spPr>
          <a:xfrm>
            <a:off x="1088136" y="2459736"/>
            <a:ext cx="475488" cy="475488"/>
          </a:xfrm>
          <a:prstGeom prst="rect">
            <a:avLst/>
          </a:prstGeom>
        </p:spPr>
      </p:pic>
      <p:sp>
        <p:nvSpPr>
          <p:cNvPr id="10" name="Text 6"/>
          <p:cNvSpPr txBox="1"/>
          <p:nvPr/>
        </p:nvSpPr>
        <p:spPr>
          <a:xfrm>
            <a:off x="2011680" y="2240280"/>
            <a:ext cx="3566160" cy="914400"/>
          </a:xfrm>
          <a:prstGeom prst="rect">
            <a:avLst/>
          </a:prstGeom>
          <a:noFill/>
          <a:ln/>
        </p:spPr>
        <p:txBody>
          <a:bodyPr wrap="square" lIns="0" tIns="0" rIns="0" bIns="0" rtlCol="0" anchor="ctr"/>
          <a:lstStyle/>
          <a:p>
            <a:pPr indent="0" marL="0">
              <a:buNone/>
            </a:pPr>
            <a:r>
              <a:rPr lang="en-US" sz="2200" b="1" dirty="0">
                <a:solidFill>
                  <a:srgbClr val="3FE8C2"/>
                </a:solidFill>
                <a:latin typeface="BIZ UDゴシック" pitchFamily="34" charset="0"/>
                <a:ea typeface="BIZ UDゴシック" pitchFamily="49" charset="-128"/>
                <a:cs typeface="BIZ UDゴシック" pitchFamily="34" charset="-120"/>
              </a:rPr>
              <a:t>nudge（ナッジ）</a:t>
            </a:r>
            <a:endParaRPr lang="en-US" sz="2200" dirty="0"/>
          </a:p>
          <a:p>
            <a:pPr indent="0" marL="0">
              <a:buNone/>
            </a:pPr>
            <a:r>
              <a:rPr lang="en-US" sz="2200" b="1" dirty="0">
                <a:solidFill>
                  <a:srgbClr val="3FE8C2"/>
                </a:solidFill>
                <a:latin typeface="BIZ UDゴシック" pitchFamily="34" charset="0"/>
                <a:ea typeface="BIZ UDゴシック" pitchFamily="49" charset="-128"/>
                <a:cs typeface="BIZ UDゴシック" pitchFamily="34" charset="-120"/>
              </a:rPr>
              <a:t>＝ひじで軽くつつく</a:t>
            </a:r>
            <a:endParaRPr lang="en-US" sz="2200" dirty="0"/>
          </a:p>
        </p:txBody>
      </p:sp>
      <p:sp>
        <p:nvSpPr>
          <p:cNvPr id="11" name="Text 7"/>
          <p:cNvSpPr txBox="1"/>
          <p:nvPr/>
        </p:nvSpPr>
        <p:spPr>
          <a:xfrm>
            <a:off x="868680" y="3291840"/>
            <a:ext cx="4572000" cy="1371600"/>
          </a:xfrm>
          <a:prstGeom prst="rect">
            <a:avLst/>
          </a:prstGeom>
          <a:noFill/>
          <a:ln/>
        </p:spPr>
        <p:txBody>
          <a:bodyPr wrap="square" lIns="0" tIns="0" rIns="0" bIns="0" rtlCol="0" anchor="t"/>
          <a:lstStyle/>
          <a:p>
            <a:pPr indent="0" marL="0">
              <a:spcAft>
                <a:spcPts val="400"/>
              </a:spcAft>
              <a:buNone/>
            </a:pPr>
            <a:r>
              <a:rPr lang="en-US" sz="2600" dirty="0">
                <a:solidFill>
                  <a:srgbClr val="FFFFFF"/>
                </a:solidFill>
                <a:latin typeface="BIZ UDゴシック" pitchFamily="34" charset="0"/>
                <a:ea typeface="BIZ UDゴシック" pitchFamily="49" charset="-128"/>
                <a:cs typeface="BIZ UDゴシック" pitchFamily="34" charset="-120"/>
              </a:rPr>
              <a:t>選ぶ自由は残したまま、</a:t>
            </a:r>
            <a:endParaRPr lang="en-US" sz="2600" dirty="0"/>
          </a:p>
          <a:p>
            <a:pPr indent="0" marL="0">
              <a:spcAft>
                <a:spcPts val="400"/>
              </a:spcAft>
              <a:buNone/>
            </a:pPr>
            <a:r>
              <a:rPr lang="en-US" sz="2600" dirty="0">
                <a:solidFill>
                  <a:srgbClr val="FFFFFF"/>
                </a:solidFill>
                <a:latin typeface="BIZ UDゴシック" pitchFamily="34" charset="0"/>
                <a:ea typeface="BIZ UDゴシック" pitchFamily="49" charset="-128"/>
                <a:cs typeface="BIZ UDゴシック" pitchFamily="34" charset="-120"/>
              </a:rPr>
              <a:t>望ましい行動を</a:t>
            </a:r>
            <a:endParaRPr lang="en-US" sz="2600" dirty="0"/>
          </a:p>
          <a:p>
            <a:pPr indent="0" marL="0">
              <a:spcAft>
                <a:spcPts val="400"/>
              </a:spcAft>
              <a:buNone/>
            </a:pPr>
            <a:r>
              <a:rPr lang="en-US" sz="2600" b="1" dirty="0">
                <a:solidFill>
                  <a:srgbClr val="3FE8C2"/>
                </a:solidFill>
                <a:latin typeface="BIZ UDゴシック" pitchFamily="34" charset="0"/>
                <a:ea typeface="BIZ UDゴシック" pitchFamily="49" charset="-128"/>
                <a:cs typeface="BIZ UDゴシック" pitchFamily="34" charset="-120"/>
              </a:rPr>
              <a:t>「選びやすく」する工夫</a:t>
            </a:r>
            <a:endParaRPr lang="en-US" sz="2600" dirty="0"/>
          </a:p>
        </p:txBody>
      </p:sp>
      <p:sp>
        <p:nvSpPr>
          <p:cNvPr id="12" name="Text 8"/>
          <p:cNvSpPr txBox="1"/>
          <p:nvPr/>
        </p:nvSpPr>
        <p:spPr>
          <a:xfrm>
            <a:off x="868680" y="4754880"/>
            <a:ext cx="4572000" cy="457200"/>
          </a:xfrm>
          <a:prstGeom prst="rect">
            <a:avLst/>
          </a:prstGeom>
          <a:noFill/>
          <a:ln/>
        </p:spPr>
        <p:txBody>
          <a:bodyPr wrap="square" lIns="0" tIns="0" rIns="0" bIns="0" rtlCol="0" anchor="ctr"/>
          <a:lstStyle/>
          <a:p>
            <a:pPr indent="0" marL="0">
              <a:buNone/>
            </a:pPr>
            <a:r>
              <a:rPr lang="en-US" sz="2000" dirty="0">
                <a:solidFill>
                  <a:srgbClr val="C9D4E8"/>
                </a:solidFill>
                <a:latin typeface="BIZ UDゴシック" pitchFamily="34" charset="0"/>
                <a:ea typeface="BIZ UDゴシック" pitchFamily="49" charset="-128"/>
                <a:cs typeface="BIZ UDゴシック" pitchFamily="34" charset="-120"/>
              </a:rPr>
              <a:t>× 禁止・強制　× ごほうび・罰金</a:t>
            </a:r>
            <a:endParaRPr lang="en-US" sz="2000" dirty="0"/>
          </a:p>
        </p:txBody>
      </p:sp>
      <p:sp>
        <p:nvSpPr>
          <p:cNvPr id="13" name="Text 9"/>
          <p:cNvSpPr txBox="1"/>
          <p:nvPr/>
        </p:nvSpPr>
        <p:spPr>
          <a:xfrm>
            <a:off x="868680" y="5257800"/>
            <a:ext cx="4572000" cy="457200"/>
          </a:xfrm>
          <a:prstGeom prst="rect">
            <a:avLst/>
          </a:prstGeom>
          <a:noFill/>
          <a:ln/>
        </p:spPr>
        <p:txBody>
          <a:bodyPr wrap="square" lIns="0" tIns="0" rIns="0" bIns="0" rtlCol="0" anchor="ctr"/>
          <a:lstStyle/>
          <a:p>
            <a:pPr indent="0" marL="0">
              <a:buNone/>
            </a:pPr>
            <a:r>
              <a:rPr lang="en-US" sz="2000" b="1" dirty="0">
                <a:solidFill>
                  <a:srgbClr val="3FE8C2"/>
                </a:solidFill>
                <a:latin typeface="BIZ UDゴシック" pitchFamily="34" charset="0"/>
                <a:ea typeface="BIZ UDゴシック" pitchFamily="49" charset="-128"/>
                <a:cs typeface="BIZ UDゴシック" pitchFamily="34" charset="-120"/>
              </a:rPr>
              <a:t>→ 主に「速い思考」に働きかける</a:t>
            </a:r>
            <a:endParaRPr lang="en-US" sz="2000" dirty="0"/>
          </a:p>
        </p:txBody>
      </p:sp>
      <p:sp>
        <p:nvSpPr>
          <p:cNvPr id="14" name="Text 10"/>
          <p:cNvSpPr txBox="1"/>
          <p:nvPr/>
        </p:nvSpPr>
        <p:spPr>
          <a:xfrm>
            <a:off x="6035040" y="1965960"/>
            <a:ext cx="5608015" cy="457200"/>
          </a:xfrm>
          <a:prstGeom prst="rect">
            <a:avLst/>
          </a:prstGeom>
          <a:noFill/>
          <a:ln/>
        </p:spPr>
        <p:txBody>
          <a:bodyPr wrap="square" lIns="0" tIns="0" rIns="0" bIns="0" rtlCol="0" anchor="t"/>
          <a:lstStyle/>
          <a:p>
            <a:pPr indent="0" marL="0">
              <a:buNone/>
            </a:pPr>
            <a:r>
              <a:rPr lang="en-US" sz="2400" b="1" dirty="0">
                <a:solidFill>
                  <a:srgbClr val="131B35"/>
                </a:solidFill>
                <a:latin typeface="BIZ UDゴシック" pitchFamily="34" charset="0"/>
                <a:ea typeface="BIZ UDゴシック" pitchFamily="49" charset="-128"/>
                <a:cs typeface="BIZ UDゴシック" pitchFamily="34" charset="-120"/>
              </a:rPr>
              <a:t>身近なナッジ</a:t>
            </a:r>
            <a:endParaRPr lang="en-US" sz="2400" dirty="0"/>
          </a:p>
        </p:txBody>
      </p:sp>
      <p:sp>
        <p:nvSpPr>
          <p:cNvPr id="15" name="Shape 11"/>
          <p:cNvSpPr/>
          <p:nvPr/>
        </p:nvSpPr>
        <p:spPr>
          <a:xfrm>
            <a:off x="6035040" y="2560320"/>
            <a:ext cx="5608015" cy="1005840"/>
          </a:xfrm>
          <a:prstGeom prst="roundRect">
            <a:avLst>
              <a:gd name="adj" fmla="val 10909"/>
            </a:avLst>
          </a:prstGeom>
          <a:solidFill>
            <a:srgbClr val="EEF2F7"/>
          </a:solidFill>
          <a:ln w="12700">
            <a:solidFill>
              <a:srgbClr val="EEF2F7"/>
            </a:solidFill>
            <a:prstDash val="solid"/>
          </a:ln>
        </p:spPr>
      </p:sp>
      <p:sp>
        <p:nvSpPr>
          <p:cNvPr id="16" name="Shape 12"/>
          <p:cNvSpPr/>
          <p:nvPr/>
        </p:nvSpPr>
        <p:spPr>
          <a:xfrm>
            <a:off x="6217920" y="2715768"/>
            <a:ext cx="694944" cy="694944"/>
          </a:xfrm>
          <a:prstGeom prst="ellipse">
            <a:avLst/>
          </a:prstGeom>
          <a:solidFill>
            <a:srgbClr val="2F6FA8"/>
          </a:solidFill>
          <a:ln w="12700">
            <a:solidFill>
              <a:srgbClr val="2F6FA8"/>
            </a:solidFill>
            <a:prstDash val="solid"/>
          </a:ln>
        </p:spPr>
      </p:sp>
      <p:pic>
        <p:nvPicPr>
          <p:cNvPr id="17" name="Image 1" descr="preencoded.png">    </p:cNvPr>
          <p:cNvPicPr>
            <a:picLocks noChangeAspect="1"/>
          </p:cNvPicPr>
          <p:nvPr/>
        </p:nvPicPr>
        <p:blipFill>
          <a:blip r:embed="rId2"/>
          <a:stretch>
            <a:fillRect/>
          </a:stretch>
        </p:blipFill>
        <p:spPr>
          <a:xfrm>
            <a:off x="6384707" y="2882555"/>
            <a:ext cx="361371" cy="361371"/>
          </a:xfrm>
          <a:prstGeom prst="rect">
            <a:avLst/>
          </a:prstGeom>
        </p:spPr>
      </p:pic>
      <p:sp>
        <p:nvSpPr>
          <p:cNvPr id="18" name="Text 13"/>
          <p:cNvSpPr txBox="1"/>
          <p:nvPr/>
        </p:nvSpPr>
        <p:spPr>
          <a:xfrm>
            <a:off x="7086600" y="2633472"/>
            <a:ext cx="4465015" cy="859536"/>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レジ前の足あとマーク</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 自然と間隔をあけて並ぶ</a:t>
            </a:r>
            <a:endParaRPr lang="en-US" sz="2000" dirty="0"/>
          </a:p>
        </p:txBody>
      </p:sp>
      <p:sp>
        <p:nvSpPr>
          <p:cNvPr id="19" name="Shape 14"/>
          <p:cNvSpPr/>
          <p:nvPr/>
        </p:nvSpPr>
        <p:spPr>
          <a:xfrm>
            <a:off x="6035040" y="3703320"/>
            <a:ext cx="5608015" cy="1005840"/>
          </a:xfrm>
          <a:prstGeom prst="roundRect">
            <a:avLst>
              <a:gd name="adj" fmla="val 10909"/>
            </a:avLst>
          </a:prstGeom>
          <a:solidFill>
            <a:srgbClr val="EEF2F7"/>
          </a:solidFill>
          <a:ln w="12700">
            <a:solidFill>
              <a:srgbClr val="EEF2F7"/>
            </a:solidFill>
            <a:prstDash val="solid"/>
          </a:ln>
        </p:spPr>
      </p:sp>
      <p:sp>
        <p:nvSpPr>
          <p:cNvPr id="20" name="Shape 15"/>
          <p:cNvSpPr/>
          <p:nvPr/>
        </p:nvSpPr>
        <p:spPr>
          <a:xfrm>
            <a:off x="6217920" y="3858768"/>
            <a:ext cx="694944" cy="694944"/>
          </a:xfrm>
          <a:prstGeom prst="ellipse">
            <a:avLst/>
          </a:prstGeom>
          <a:solidFill>
            <a:srgbClr val="2F6FA8"/>
          </a:solidFill>
          <a:ln w="12700">
            <a:solidFill>
              <a:srgbClr val="2F6FA8"/>
            </a:solidFill>
            <a:prstDash val="solid"/>
          </a:ln>
        </p:spPr>
      </p:sp>
      <p:pic>
        <p:nvPicPr>
          <p:cNvPr id="21" name="Image 2" descr="preencoded.png">    </p:cNvPr>
          <p:cNvPicPr>
            <a:picLocks noChangeAspect="1"/>
          </p:cNvPicPr>
          <p:nvPr/>
        </p:nvPicPr>
        <p:blipFill>
          <a:blip r:embed="rId3"/>
          <a:stretch>
            <a:fillRect/>
          </a:stretch>
        </p:blipFill>
        <p:spPr>
          <a:xfrm>
            <a:off x="6384707" y="4025555"/>
            <a:ext cx="361371" cy="361371"/>
          </a:xfrm>
          <a:prstGeom prst="rect">
            <a:avLst/>
          </a:prstGeom>
        </p:spPr>
      </p:pic>
      <p:sp>
        <p:nvSpPr>
          <p:cNvPr id="22" name="Text 16"/>
          <p:cNvSpPr txBox="1"/>
          <p:nvPr/>
        </p:nvSpPr>
        <p:spPr>
          <a:xfrm>
            <a:off x="7086600" y="3776472"/>
            <a:ext cx="4465015" cy="859536"/>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「一番人気」の表示</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 みんなと同じものを選ぶ</a:t>
            </a:r>
            <a:endParaRPr lang="en-US" sz="2000" dirty="0"/>
          </a:p>
        </p:txBody>
      </p:sp>
      <p:sp>
        <p:nvSpPr>
          <p:cNvPr id="23" name="Shape 17"/>
          <p:cNvSpPr/>
          <p:nvPr/>
        </p:nvSpPr>
        <p:spPr>
          <a:xfrm>
            <a:off x="6035040" y="4846320"/>
            <a:ext cx="5608015" cy="1005840"/>
          </a:xfrm>
          <a:prstGeom prst="roundRect">
            <a:avLst>
              <a:gd name="adj" fmla="val 10909"/>
            </a:avLst>
          </a:prstGeom>
          <a:solidFill>
            <a:srgbClr val="EEF2F7"/>
          </a:solidFill>
          <a:ln w="12700">
            <a:solidFill>
              <a:srgbClr val="EEF2F7"/>
            </a:solidFill>
            <a:prstDash val="solid"/>
          </a:ln>
        </p:spPr>
      </p:sp>
      <p:sp>
        <p:nvSpPr>
          <p:cNvPr id="24" name="Shape 18"/>
          <p:cNvSpPr/>
          <p:nvPr/>
        </p:nvSpPr>
        <p:spPr>
          <a:xfrm>
            <a:off x="6217920" y="5001768"/>
            <a:ext cx="694944" cy="694944"/>
          </a:xfrm>
          <a:prstGeom prst="ellipse">
            <a:avLst/>
          </a:prstGeom>
          <a:solidFill>
            <a:srgbClr val="2F6FA8"/>
          </a:solidFill>
          <a:ln w="12700">
            <a:solidFill>
              <a:srgbClr val="2F6FA8"/>
            </a:solidFill>
            <a:prstDash val="solid"/>
          </a:ln>
        </p:spPr>
      </p:sp>
      <p:pic>
        <p:nvPicPr>
          <p:cNvPr id="25" name="Image 3" descr="preencoded.png">    </p:cNvPr>
          <p:cNvPicPr>
            <a:picLocks noChangeAspect="1"/>
          </p:cNvPicPr>
          <p:nvPr/>
        </p:nvPicPr>
        <p:blipFill>
          <a:blip r:embed="rId4"/>
          <a:stretch>
            <a:fillRect/>
          </a:stretch>
        </p:blipFill>
        <p:spPr>
          <a:xfrm>
            <a:off x="6384707" y="5168555"/>
            <a:ext cx="361371" cy="361371"/>
          </a:xfrm>
          <a:prstGeom prst="rect">
            <a:avLst/>
          </a:prstGeom>
        </p:spPr>
      </p:pic>
      <p:sp>
        <p:nvSpPr>
          <p:cNvPr id="26" name="Text 19"/>
          <p:cNvSpPr txBox="1"/>
          <p:nvPr/>
        </p:nvSpPr>
        <p:spPr>
          <a:xfrm>
            <a:off x="7086600" y="4919472"/>
            <a:ext cx="4465015" cy="859536"/>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最初からチェック済みの欄</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 そのままにしがち</a:t>
            </a:r>
            <a:endParaRPr lang="en-US" sz="20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3</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3124200" cy="420624"/>
          </a:xfrm>
          <a:prstGeom prst="roundRect">
            <a:avLst>
              <a:gd name="adj" fmla="val 50000"/>
            </a:avLst>
          </a:prstGeom>
          <a:solidFill>
            <a:srgbClr val="0B7A70"/>
          </a:solidFill>
          <a:ln w="12700">
            <a:solidFill>
              <a:srgbClr val="0B7A70"/>
            </a:solidFill>
            <a:prstDash val="solid"/>
          </a:ln>
        </p:spPr>
      </p:sp>
      <p:sp>
        <p:nvSpPr>
          <p:cNvPr id="3" name="Text 1"/>
          <p:cNvSpPr txBox="1"/>
          <p:nvPr/>
        </p:nvSpPr>
        <p:spPr>
          <a:xfrm>
            <a:off x="548640" y="347472"/>
            <a:ext cx="3124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見える化② 当院の実践</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当院の実践：3つのナッジで「思わず」消毒する場をつくる</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出典：鈴木徳洋, 他. 日本外科感染症学会（ポスター発表）</a:t>
            </a:r>
            <a:endParaRPr lang="en-US" sz="2000" dirty="0"/>
          </a:p>
        </p:txBody>
      </p:sp>
      <p:sp>
        <p:nvSpPr>
          <p:cNvPr id="7" name="Shape 4"/>
          <p:cNvSpPr/>
          <p:nvPr/>
        </p:nvSpPr>
        <p:spPr>
          <a:xfrm>
            <a:off x="548640" y="1783080"/>
            <a:ext cx="548640" cy="548640"/>
          </a:xfrm>
          <a:prstGeom prst="ellipse">
            <a:avLst/>
          </a:prstGeom>
          <a:solidFill>
            <a:srgbClr val="0B7A70"/>
          </a:solidFill>
          <a:ln w="12700">
            <a:solidFill>
              <a:srgbClr val="0B7A70"/>
            </a:solidFill>
            <a:prstDash val="solid"/>
          </a:ln>
        </p:spPr>
      </p:sp>
      <p:sp>
        <p:nvSpPr>
          <p:cNvPr id="8" name="Text 5"/>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BIZ UDゴシック" pitchFamily="34" charset="0"/>
                <a:ea typeface="BIZ UDゴシック" pitchFamily="49" charset="-128"/>
                <a:cs typeface="BIZ UDゴシック" pitchFamily="34" charset="-120"/>
              </a:rPr>
              <a:t>1</a:t>
            </a:r>
            <a:endParaRPr lang="en-US" sz="2400" dirty="0"/>
          </a:p>
        </p:txBody>
      </p:sp>
      <p:pic>
        <p:nvPicPr>
          <p:cNvPr id="9" name="Image 0" descr="photos/p1.jpg">    </p:cNvPr>
          <p:cNvPicPr>
            <a:picLocks noChangeAspect="1"/>
          </p:cNvPicPr>
          <p:nvPr/>
        </p:nvPicPr>
        <p:blipFill>
          <a:blip r:embed="rId1"/>
          <a:stretch>
            <a:fillRect/>
          </a:stretch>
        </p:blipFill>
        <p:spPr>
          <a:xfrm>
            <a:off x="1165860" y="1783080"/>
            <a:ext cx="2743200" cy="3017520"/>
          </a:xfrm>
          <a:prstGeom prst="rect">
            <a:avLst/>
          </a:prstGeom>
        </p:spPr>
      </p:pic>
      <p:sp>
        <p:nvSpPr>
          <p:cNvPr id="10" name="Text 6"/>
          <p:cNvSpPr txBox="1"/>
          <p:nvPr/>
        </p:nvSpPr>
        <p:spPr>
          <a:xfrm>
            <a:off x="548640" y="4846320"/>
            <a:ext cx="3611880" cy="384048"/>
          </a:xfrm>
          <a:prstGeom prst="rect">
            <a:avLst/>
          </a:prstGeom>
          <a:noFill/>
          <a:ln/>
        </p:spPr>
        <p:txBody>
          <a:bodyPr wrap="square" lIns="0" tIns="0" rIns="0" bIns="0" rtlCol="0" anchor="ctr"/>
          <a:lstStyle/>
          <a:p>
            <a:pPr algn="ctr" indent="0" marL="0">
              <a:buNone/>
            </a:pPr>
            <a:r>
              <a:rPr lang="en-US" sz="2200" b="1" dirty="0">
                <a:solidFill>
                  <a:srgbClr val="131B35"/>
                </a:solidFill>
                <a:latin typeface="BIZ UDゴシック" pitchFamily="34" charset="0"/>
                <a:ea typeface="BIZ UDゴシック" pitchFamily="49" charset="-128"/>
                <a:cs typeface="BIZ UDゴシック" pitchFamily="34" charset="-120"/>
              </a:rPr>
              <a:t>入口へ誘導する</a:t>
            </a:r>
            <a:endParaRPr lang="en-US" sz="2200" dirty="0"/>
          </a:p>
        </p:txBody>
      </p:sp>
      <p:sp>
        <p:nvSpPr>
          <p:cNvPr id="11" name="Text 7"/>
          <p:cNvSpPr txBox="1"/>
          <p:nvPr/>
        </p:nvSpPr>
        <p:spPr>
          <a:xfrm>
            <a:off x="548640" y="5230368"/>
            <a:ext cx="3611880" cy="365760"/>
          </a:xfrm>
          <a:prstGeom prst="rect">
            <a:avLst/>
          </a:prstGeom>
          <a:noFill/>
          <a:ln/>
        </p:spPr>
        <p:txBody>
          <a:bodyPr wrap="square" lIns="0" tIns="0" rIns="0" bIns="0" rtlCol="0" anchor="ctr"/>
          <a:lstStyle/>
          <a:p>
            <a:pPr algn="ctr" indent="0" marL="0">
              <a:buNone/>
            </a:pPr>
            <a:r>
              <a:rPr lang="en-US" sz="2000" dirty="0">
                <a:solidFill>
                  <a:srgbClr val="1B2333"/>
                </a:solidFill>
                <a:latin typeface="BIZ UDゴシック" pitchFamily="34" charset="0"/>
                <a:ea typeface="BIZ UDゴシック" pitchFamily="49" charset="-128"/>
                <a:cs typeface="BIZ UDゴシック" pitchFamily="34" charset="-120"/>
              </a:rPr>
              <a:t>足あとで消毒剤へ（救急外来）</a:t>
            </a:r>
            <a:endParaRPr lang="en-US" sz="2000" dirty="0"/>
          </a:p>
        </p:txBody>
      </p:sp>
      <p:sp>
        <p:nvSpPr>
          <p:cNvPr id="12" name="Shape 8"/>
          <p:cNvSpPr/>
          <p:nvPr/>
        </p:nvSpPr>
        <p:spPr>
          <a:xfrm>
            <a:off x="4289908" y="1783080"/>
            <a:ext cx="548640" cy="548640"/>
          </a:xfrm>
          <a:prstGeom prst="ellipse">
            <a:avLst/>
          </a:prstGeom>
          <a:solidFill>
            <a:srgbClr val="0B7A70"/>
          </a:solidFill>
          <a:ln w="12700">
            <a:solidFill>
              <a:srgbClr val="0B7A70"/>
            </a:solidFill>
            <a:prstDash val="solid"/>
          </a:ln>
        </p:spPr>
      </p:sp>
      <p:sp>
        <p:nvSpPr>
          <p:cNvPr id="13" name="Text 9"/>
          <p:cNvSpPr txBox="1"/>
          <p:nvPr/>
        </p:nvSpPr>
        <p:spPr>
          <a:xfrm>
            <a:off x="4289908" y="178308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BIZ UDゴシック" pitchFamily="34" charset="0"/>
                <a:ea typeface="BIZ UDゴシック" pitchFamily="49" charset="-128"/>
                <a:cs typeface="BIZ UDゴシック" pitchFamily="34" charset="-120"/>
              </a:rPr>
              <a:t>2</a:t>
            </a:r>
            <a:endParaRPr lang="en-US" sz="2400" dirty="0"/>
          </a:p>
        </p:txBody>
      </p:sp>
      <p:pic>
        <p:nvPicPr>
          <p:cNvPr id="14" name="Image 1" descr="photos/p2.jpg">    </p:cNvPr>
          <p:cNvPicPr>
            <a:picLocks noChangeAspect="1"/>
          </p:cNvPicPr>
          <p:nvPr/>
        </p:nvPicPr>
        <p:blipFill>
          <a:blip r:embed="rId2"/>
          <a:stretch>
            <a:fillRect/>
          </a:stretch>
        </p:blipFill>
        <p:spPr>
          <a:xfrm>
            <a:off x="4907128" y="1783080"/>
            <a:ext cx="2743200" cy="3017520"/>
          </a:xfrm>
          <a:prstGeom prst="rect">
            <a:avLst/>
          </a:prstGeom>
        </p:spPr>
      </p:pic>
      <p:sp>
        <p:nvSpPr>
          <p:cNvPr id="15" name="Text 10"/>
          <p:cNvSpPr txBox="1"/>
          <p:nvPr/>
        </p:nvSpPr>
        <p:spPr>
          <a:xfrm>
            <a:off x="4289908" y="4846320"/>
            <a:ext cx="3611880" cy="384048"/>
          </a:xfrm>
          <a:prstGeom prst="rect">
            <a:avLst/>
          </a:prstGeom>
          <a:noFill/>
          <a:ln/>
        </p:spPr>
        <p:txBody>
          <a:bodyPr wrap="square" lIns="0" tIns="0" rIns="0" bIns="0" rtlCol="0" anchor="ctr"/>
          <a:lstStyle/>
          <a:p>
            <a:pPr algn="ctr" indent="0" marL="0">
              <a:buNone/>
            </a:pPr>
            <a:r>
              <a:rPr lang="en-US" sz="2200" b="1" dirty="0">
                <a:solidFill>
                  <a:srgbClr val="131B35"/>
                </a:solidFill>
                <a:latin typeface="BIZ UDゴシック" pitchFamily="34" charset="0"/>
                <a:ea typeface="BIZ UDゴシック" pitchFamily="49" charset="-128"/>
                <a:cs typeface="BIZ UDゴシック" pitchFamily="34" charset="-120"/>
              </a:rPr>
              <a:t>確認を合図にする</a:t>
            </a:r>
            <a:endParaRPr lang="en-US" sz="2200" dirty="0"/>
          </a:p>
        </p:txBody>
      </p:sp>
      <p:sp>
        <p:nvSpPr>
          <p:cNvPr id="16" name="Text 11"/>
          <p:cNvSpPr txBox="1"/>
          <p:nvPr/>
        </p:nvSpPr>
        <p:spPr>
          <a:xfrm>
            <a:off x="4289908" y="5230368"/>
            <a:ext cx="3611880" cy="365760"/>
          </a:xfrm>
          <a:prstGeom prst="rect">
            <a:avLst/>
          </a:prstGeom>
          <a:noFill/>
          <a:ln/>
        </p:spPr>
        <p:txBody>
          <a:bodyPr wrap="square" lIns="0" tIns="0" rIns="0" bIns="0" rtlCol="0" anchor="ctr"/>
          <a:lstStyle/>
          <a:p>
            <a:pPr algn="ctr" indent="0" marL="0">
              <a:buNone/>
            </a:pPr>
            <a:r>
              <a:rPr lang="en-US" sz="2000" dirty="0">
                <a:solidFill>
                  <a:srgbClr val="1B2333"/>
                </a:solidFill>
                <a:latin typeface="BIZ UDゴシック" pitchFamily="34" charset="0"/>
                <a:ea typeface="BIZ UDゴシック" pitchFamily="49" charset="-128"/>
                <a:cs typeface="BIZ UDゴシック" pitchFamily="34" charset="-120"/>
              </a:rPr>
              <a:t>氏名確認→消毒2プッシュ</a:t>
            </a:r>
            <a:endParaRPr lang="en-US" sz="2000" dirty="0"/>
          </a:p>
        </p:txBody>
      </p:sp>
      <p:sp>
        <p:nvSpPr>
          <p:cNvPr id="17" name="Shape 12"/>
          <p:cNvSpPr/>
          <p:nvPr/>
        </p:nvSpPr>
        <p:spPr>
          <a:xfrm>
            <a:off x="8031175" y="1783080"/>
            <a:ext cx="548640" cy="548640"/>
          </a:xfrm>
          <a:prstGeom prst="ellipse">
            <a:avLst/>
          </a:prstGeom>
          <a:solidFill>
            <a:srgbClr val="0B7A70"/>
          </a:solidFill>
          <a:ln w="12700">
            <a:solidFill>
              <a:srgbClr val="0B7A70"/>
            </a:solidFill>
            <a:prstDash val="solid"/>
          </a:ln>
        </p:spPr>
      </p:sp>
      <p:sp>
        <p:nvSpPr>
          <p:cNvPr id="18" name="Text 13"/>
          <p:cNvSpPr txBox="1"/>
          <p:nvPr/>
        </p:nvSpPr>
        <p:spPr>
          <a:xfrm>
            <a:off x="8031175" y="178308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BIZ UDゴシック" pitchFamily="34" charset="0"/>
                <a:ea typeface="BIZ UDゴシック" pitchFamily="49" charset="-128"/>
                <a:cs typeface="BIZ UDゴシック" pitchFamily="34" charset="-120"/>
              </a:rPr>
              <a:t>3</a:t>
            </a:r>
            <a:endParaRPr lang="en-US" sz="2400" dirty="0"/>
          </a:p>
        </p:txBody>
      </p:sp>
      <p:pic>
        <p:nvPicPr>
          <p:cNvPr id="19" name="Image 2" descr="photos/p3.jpg">    </p:cNvPr>
          <p:cNvPicPr>
            <a:picLocks noChangeAspect="1"/>
          </p:cNvPicPr>
          <p:nvPr/>
        </p:nvPicPr>
        <p:blipFill>
          <a:blip r:embed="rId3"/>
          <a:stretch>
            <a:fillRect/>
          </a:stretch>
        </p:blipFill>
        <p:spPr>
          <a:xfrm>
            <a:off x="8648395" y="1783080"/>
            <a:ext cx="2743200" cy="3017520"/>
          </a:xfrm>
          <a:prstGeom prst="rect">
            <a:avLst/>
          </a:prstGeom>
        </p:spPr>
      </p:pic>
      <p:sp>
        <p:nvSpPr>
          <p:cNvPr id="20" name="Text 14"/>
          <p:cNvSpPr txBox="1"/>
          <p:nvPr/>
        </p:nvSpPr>
        <p:spPr>
          <a:xfrm>
            <a:off x="8031175" y="4846320"/>
            <a:ext cx="3611880" cy="384048"/>
          </a:xfrm>
          <a:prstGeom prst="rect">
            <a:avLst/>
          </a:prstGeom>
          <a:noFill/>
          <a:ln/>
        </p:spPr>
        <p:txBody>
          <a:bodyPr wrap="square" lIns="0" tIns="0" rIns="0" bIns="0" rtlCol="0" anchor="ctr"/>
          <a:lstStyle/>
          <a:p>
            <a:pPr algn="ctr" indent="0" marL="0">
              <a:buNone/>
            </a:pPr>
            <a:r>
              <a:rPr lang="en-US" sz="2200" b="1" dirty="0">
                <a:solidFill>
                  <a:srgbClr val="131B35"/>
                </a:solidFill>
                <a:latin typeface="BIZ UDゴシック" pitchFamily="34" charset="0"/>
                <a:ea typeface="BIZ UDゴシック" pitchFamily="49" charset="-128"/>
                <a:cs typeface="BIZ UDゴシック" pitchFamily="34" charset="-120"/>
              </a:rPr>
              <a:t>宣言して約束する</a:t>
            </a:r>
            <a:endParaRPr lang="en-US" sz="2200" dirty="0"/>
          </a:p>
        </p:txBody>
      </p:sp>
      <p:sp>
        <p:nvSpPr>
          <p:cNvPr id="21" name="Text 15"/>
          <p:cNvSpPr txBox="1"/>
          <p:nvPr/>
        </p:nvSpPr>
        <p:spPr>
          <a:xfrm>
            <a:off x="8031175" y="5230368"/>
            <a:ext cx="3611880" cy="365760"/>
          </a:xfrm>
          <a:prstGeom prst="rect">
            <a:avLst/>
          </a:prstGeom>
          <a:noFill/>
          <a:ln/>
        </p:spPr>
        <p:txBody>
          <a:bodyPr wrap="square" lIns="0" tIns="0" rIns="0" bIns="0" rtlCol="0" anchor="ctr"/>
          <a:lstStyle/>
          <a:p>
            <a:pPr algn="ctr" indent="0" marL="0">
              <a:buNone/>
            </a:pPr>
            <a:r>
              <a:rPr lang="en-US" sz="2000" dirty="0">
                <a:solidFill>
                  <a:srgbClr val="1B2333"/>
                </a:solidFill>
                <a:latin typeface="BIZ UDゴシック" pitchFamily="34" charset="0"/>
                <a:ea typeface="BIZ UDゴシック" pitchFamily="49" charset="-128"/>
                <a:cs typeface="BIZ UDゴシック" pitchFamily="34" charset="-120"/>
              </a:rPr>
              <a:t>スタッフが患者さんに宣言</a:t>
            </a:r>
            <a:endParaRPr lang="en-US" sz="2000" dirty="0"/>
          </a:p>
        </p:txBody>
      </p:sp>
      <p:sp>
        <p:nvSpPr>
          <p:cNvPr id="22" name="Shape 16"/>
          <p:cNvSpPr/>
          <p:nvPr/>
        </p:nvSpPr>
        <p:spPr>
          <a:xfrm>
            <a:off x="548640" y="5669280"/>
            <a:ext cx="11094415" cy="475488"/>
          </a:xfrm>
          <a:prstGeom prst="roundRect">
            <a:avLst>
              <a:gd name="adj" fmla="val 15385"/>
            </a:avLst>
          </a:prstGeom>
          <a:solidFill>
            <a:srgbClr val="E3F7F2"/>
          </a:solidFill>
          <a:ln w="12700">
            <a:solidFill>
              <a:srgbClr val="E3F7F2"/>
            </a:solidFill>
            <a:prstDash val="solid"/>
          </a:ln>
        </p:spPr>
      </p:sp>
      <p:sp>
        <p:nvSpPr>
          <p:cNvPr id="23" name="Text 17"/>
          <p:cNvSpPr txBox="1"/>
          <p:nvPr/>
        </p:nvSpPr>
        <p:spPr>
          <a:xfrm>
            <a:off x="548640" y="5669280"/>
            <a:ext cx="11094415" cy="475488"/>
          </a:xfrm>
          <a:prstGeom prst="rect">
            <a:avLst/>
          </a:prstGeom>
          <a:noFill/>
          <a:ln/>
        </p:spPr>
        <p:txBody>
          <a:bodyPr wrap="square" lIns="0" tIns="0" rIns="0" bIns="0" rtlCol="0" anchor="ctr"/>
          <a:lstStyle/>
          <a:p>
            <a:pPr algn="ctr" indent="0" marL="0">
              <a:buNone/>
            </a:pPr>
            <a:r>
              <a:rPr lang="en-US" sz="2000" b="1" dirty="0">
                <a:solidFill>
                  <a:srgbClr val="0B7A70"/>
                </a:solidFill>
                <a:latin typeface="BIZ UDゴシック" pitchFamily="34" charset="0"/>
                <a:ea typeface="BIZ UDゴシック" pitchFamily="49" charset="-128"/>
                <a:cs typeface="BIZ UDゴシック" pitchFamily="34" charset="-120"/>
              </a:rPr>
              <a:t>このほか：防護具の手順の番号化／使用量シール → 全部署へ共有</a:t>
            </a:r>
            <a:endParaRPr lang="en-US" sz="20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4</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2235200" cy="420624"/>
          </a:xfrm>
          <a:prstGeom prst="roundRect">
            <a:avLst>
              <a:gd name="adj" fmla="val 50000"/>
            </a:avLst>
          </a:prstGeom>
          <a:solidFill>
            <a:srgbClr val="131B35"/>
          </a:solidFill>
          <a:ln w="12700">
            <a:solidFill>
              <a:srgbClr val="131B35"/>
            </a:solidFill>
            <a:prstDash val="solid"/>
          </a:ln>
        </p:spPr>
      </p:sp>
      <p:sp>
        <p:nvSpPr>
          <p:cNvPr id="3" name="Text 1"/>
          <p:cNvSpPr txBox="1"/>
          <p:nvPr/>
        </p:nvSpPr>
        <p:spPr>
          <a:xfrm>
            <a:off x="548640" y="347472"/>
            <a:ext cx="2235200"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BIZ UDゴシック" pitchFamily="34" charset="0"/>
                <a:ea typeface="BIZ UDゴシック" pitchFamily="49" charset="-128"/>
                <a:cs typeface="BIZ UDゴシック" pitchFamily="34" charset="-120"/>
              </a:rPr>
              <a:t>第4部 仕掛ける</a:t>
            </a:r>
            <a:endParaRPr lang="en-US" sz="2000" dirty="0"/>
          </a:p>
        </p:txBody>
      </p:sp>
      <p:sp>
        <p:nvSpPr>
          <p:cNvPr id="4" name="Text 2"/>
          <p:cNvSpPr txBox="1"/>
          <p:nvPr/>
        </p:nvSpPr>
        <p:spPr>
          <a:xfrm>
            <a:off x="548640" y="868680"/>
            <a:ext cx="11094415" cy="777240"/>
          </a:xfrm>
          <a:prstGeom prst="rect">
            <a:avLst/>
          </a:prstGeom>
          <a:noFill/>
          <a:ln/>
        </p:spPr>
        <p:txBody>
          <a:bodyPr wrap="square" lIns="0" tIns="0" rIns="0" bIns="0" rtlCol="0" anchor="ctr"/>
          <a:lstStyle/>
          <a:p>
            <a:pPr indent="0" marL="0">
              <a:buNone/>
            </a:pPr>
            <a:r>
              <a:rPr lang="en-US" sz="3200" b="1" dirty="0">
                <a:solidFill>
                  <a:srgbClr val="131B35"/>
                </a:solidFill>
                <a:latin typeface="BIZ UDゴシック" pitchFamily="34" charset="0"/>
                <a:ea typeface="BIZ UDゴシック" pitchFamily="49" charset="-128"/>
                <a:cs typeface="BIZ UDゴシック" pitchFamily="34" charset="-120"/>
              </a:rPr>
              <a:t>成功の鍵は、チェックリストの裏の「見えない社会の力」</a:t>
            </a:r>
            <a:endParaRPr lang="en-US" sz="3200" dirty="0"/>
          </a:p>
        </p:txBody>
      </p:sp>
      <p:sp>
        <p:nvSpPr>
          <p:cNvPr id="5" name="Text 3"/>
          <p:cNvSpPr txBox="1"/>
          <p:nvPr/>
        </p:nvSpPr>
        <p:spPr>
          <a:xfrm>
            <a:off x="548640" y="6217920"/>
            <a:ext cx="10058400" cy="384048"/>
          </a:xfrm>
          <a:prstGeom prst="rect">
            <a:avLst/>
          </a:prstGeom>
          <a:noFill/>
          <a:ln/>
        </p:spPr>
        <p:txBody>
          <a:bodyPr wrap="square" lIns="0" tIns="0" rIns="0" bIns="0" rtlCol="0" anchor="ctr"/>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出典：Pronovost P, et al. NEJM 2006; Dixon-Woods M, et al. Milbank Q 2011</a:t>
            </a:r>
            <a:endParaRPr lang="en-US" sz="2000" dirty="0"/>
          </a:p>
        </p:txBody>
      </p:sp>
      <p:sp>
        <p:nvSpPr>
          <p:cNvPr id="7" name="Shape 4"/>
          <p:cNvSpPr/>
          <p:nvPr/>
        </p:nvSpPr>
        <p:spPr>
          <a:xfrm>
            <a:off x="548640" y="1920240"/>
            <a:ext cx="5212080" cy="4114800"/>
          </a:xfrm>
          <a:prstGeom prst="roundRect">
            <a:avLst>
              <a:gd name="adj" fmla="val 2667"/>
            </a:avLst>
          </a:prstGeom>
          <a:solidFill>
            <a:srgbClr val="EEF2F7"/>
          </a:solidFill>
          <a:ln w="12700">
            <a:solidFill>
              <a:srgbClr val="EEF2F7"/>
            </a:solidFill>
            <a:prstDash val="solid"/>
          </a:ln>
        </p:spPr>
      </p:sp>
      <p:sp>
        <p:nvSpPr>
          <p:cNvPr id="8" name="Text 5"/>
          <p:cNvSpPr txBox="1"/>
          <p:nvPr/>
        </p:nvSpPr>
        <p:spPr>
          <a:xfrm>
            <a:off x="822960" y="2057400"/>
            <a:ext cx="4754880" cy="457200"/>
          </a:xfrm>
          <a:prstGeom prst="rect">
            <a:avLst/>
          </a:prstGeom>
          <a:noFill/>
          <a:ln/>
        </p:spPr>
        <p:txBody>
          <a:bodyPr wrap="square" lIns="0" tIns="0" rIns="0" bIns="0" rtlCol="0" anchor="t"/>
          <a:lstStyle/>
          <a:p>
            <a:pPr indent="0" marL="0">
              <a:buNone/>
            </a:pPr>
            <a:r>
              <a:rPr lang="en-US" sz="2200" b="1" dirty="0">
                <a:solidFill>
                  <a:srgbClr val="131B35"/>
                </a:solidFill>
                <a:latin typeface="BIZ UDゴシック" pitchFamily="34" charset="0"/>
                <a:ea typeface="BIZ UDゴシック" pitchFamily="49" charset="-128"/>
                <a:cs typeface="BIZ UDゴシック" pitchFamily="34" charset="-120"/>
              </a:rPr>
              <a:t>やったこと：5つの基本対策</a:t>
            </a:r>
            <a:endParaRPr lang="en-US" sz="2200" dirty="0"/>
          </a:p>
        </p:txBody>
      </p:sp>
      <p:sp>
        <p:nvSpPr>
          <p:cNvPr id="9" name="Text 6"/>
          <p:cNvSpPr txBox="1"/>
          <p:nvPr/>
        </p:nvSpPr>
        <p:spPr>
          <a:xfrm>
            <a:off x="822960" y="2560320"/>
            <a:ext cx="4754880" cy="1874520"/>
          </a:xfrm>
          <a:prstGeom prst="rect">
            <a:avLst/>
          </a:prstGeom>
          <a:noFill/>
          <a:ln/>
        </p:spPr>
        <p:txBody>
          <a:bodyPr wrap="square" lIns="0" tIns="0" rIns="0" bIns="0" rtlCol="0" anchor="t"/>
          <a:lstStyle/>
          <a:p>
            <a:pPr indent="0" marL="0">
              <a:spcAft>
                <a:spcPts val="200"/>
              </a:spcAft>
              <a:buNone/>
            </a:pPr>
            <a:r>
              <a:rPr lang="en-US" sz="2000" dirty="0">
                <a:solidFill>
                  <a:srgbClr val="1B2333"/>
                </a:solidFill>
                <a:latin typeface="BIZ UDゴシック" pitchFamily="34" charset="0"/>
                <a:ea typeface="BIZ UDゴシック" pitchFamily="49" charset="-128"/>
                <a:cs typeface="BIZ UDゴシック" pitchFamily="34" charset="-120"/>
              </a:rPr>
              <a:t>① 手指衛生</a:t>
            </a:r>
            <a:endParaRPr lang="en-US" sz="2000" dirty="0"/>
          </a:p>
          <a:p>
            <a:pPr indent="0" marL="0">
              <a:spcAft>
                <a:spcPts val="200"/>
              </a:spcAft>
              <a:buNone/>
            </a:pPr>
            <a:r>
              <a:rPr lang="en-US" sz="2000" dirty="0">
                <a:solidFill>
                  <a:srgbClr val="1B2333"/>
                </a:solidFill>
                <a:latin typeface="BIZ UDゴシック" pitchFamily="34" charset="0"/>
                <a:ea typeface="BIZ UDゴシック" pitchFamily="49" charset="-128"/>
                <a:cs typeface="BIZ UDゴシック" pitchFamily="34" charset="-120"/>
              </a:rPr>
              <a:t>② 挿入時のマキシマル・バリア</a:t>
            </a:r>
            <a:endParaRPr lang="en-US" sz="2000" dirty="0"/>
          </a:p>
          <a:p>
            <a:pPr indent="0" marL="0">
              <a:spcAft>
                <a:spcPts val="200"/>
              </a:spcAft>
              <a:buNone/>
            </a:pPr>
            <a:r>
              <a:rPr lang="en-US" sz="2000" dirty="0">
                <a:solidFill>
                  <a:srgbClr val="1B2333"/>
                </a:solidFill>
                <a:latin typeface="BIZ UDゴシック" pitchFamily="34" charset="0"/>
                <a:ea typeface="BIZ UDゴシック" pitchFamily="49" charset="-128"/>
                <a:cs typeface="BIZ UDゴシック" pitchFamily="34" charset="-120"/>
              </a:rPr>
              <a:t>③ クロルヘキシジンで皮膚消毒</a:t>
            </a:r>
            <a:endParaRPr lang="en-US" sz="2000" dirty="0"/>
          </a:p>
          <a:p>
            <a:pPr indent="0" marL="0">
              <a:spcAft>
                <a:spcPts val="200"/>
              </a:spcAft>
              <a:buNone/>
            </a:pPr>
            <a:r>
              <a:rPr lang="en-US" sz="2000" dirty="0">
                <a:solidFill>
                  <a:srgbClr val="1B2333"/>
                </a:solidFill>
                <a:latin typeface="BIZ UDゴシック" pitchFamily="34" charset="0"/>
                <a:ea typeface="BIZ UDゴシック" pitchFamily="49" charset="-128"/>
                <a:cs typeface="BIZ UDゴシック" pitchFamily="34" charset="-120"/>
              </a:rPr>
              <a:t>④ できるだけ大腿部を避ける</a:t>
            </a:r>
            <a:endParaRPr lang="en-US" sz="2000" dirty="0"/>
          </a:p>
          <a:p>
            <a:pPr indent="0" marL="0">
              <a:spcAft>
                <a:spcPts val="200"/>
              </a:spcAft>
              <a:buNone/>
            </a:pPr>
            <a:r>
              <a:rPr lang="en-US" sz="2000" dirty="0">
                <a:solidFill>
                  <a:srgbClr val="1B2333"/>
                </a:solidFill>
                <a:latin typeface="BIZ UDゴシック" pitchFamily="34" charset="0"/>
                <a:ea typeface="BIZ UDゴシック" pitchFamily="49" charset="-128"/>
                <a:cs typeface="BIZ UDゴシック" pitchFamily="34" charset="-120"/>
              </a:rPr>
              <a:t>⑤ 不要なカテーテルを抜く</a:t>
            </a:r>
            <a:endParaRPr lang="en-US" sz="2000" dirty="0"/>
          </a:p>
        </p:txBody>
      </p:sp>
      <p:sp>
        <p:nvSpPr>
          <p:cNvPr id="10" name="Text 7"/>
          <p:cNvSpPr txBox="1"/>
          <p:nvPr/>
        </p:nvSpPr>
        <p:spPr>
          <a:xfrm>
            <a:off x="822960" y="4434840"/>
            <a:ext cx="4754880" cy="365760"/>
          </a:xfrm>
          <a:prstGeom prst="rect">
            <a:avLst/>
          </a:prstGeom>
          <a:noFill/>
          <a:ln/>
        </p:spPr>
        <p:txBody>
          <a:bodyPr wrap="square" lIns="0" tIns="0" rIns="0" bIns="0" rtlCol="0" anchor="t"/>
          <a:lstStyle/>
          <a:p>
            <a:pPr indent="0" marL="0">
              <a:buNone/>
            </a:pPr>
            <a:r>
              <a:rPr lang="en-US" sz="2000" dirty="0">
                <a:solidFill>
                  <a:srgbClr val="4F5B6B"/>
                </a:solidFill>
                <a:latin typeface="BIZ UDゴシック" pitchFamily="34" charset="0"/>
                <a:ea typeface="BIZ UDゴシック" pitchFamily="49" charset="-128"/>
                <a:cs typeface="BIZ UDゴシック" pitchFamily="34" charset="-120"/>
              </a:rPr>
              <a:t>＋物品カート・チェックリスト</a:t>
            </a:r>
            <a:endParaRPr lang="en-US" sz="2000" dirty="0"/>
          </a:p>
        </p:txBody>
      </p:sp>
      <p:sp>
        <p:nvSpPr>
          <p:cNvPr id="11" name="Shape 8"/>
          <p:cNvSpPr/>
          <p:nvPr/>
        </p:nvSpPr>
        <p:spPr>
          <a:xfrm>
            <a:off x="777240" y="4892040"/>
            <a:ext cx="4754880" cy="1005840"/>
          </a:xfrm>
          <a:prstGeom prst="roundRect">
            <a:avLst>
              <a:gd name="adj" fmla="val 10909"/>
            </a:avLst>
          </a:prstGeom>
          <a:solidFill>
            <a:srgbClr val="FFFFFF"/>
          </a:solidFill>
          <a:ln w="12700">
            <a:solidFill>
              <a:srgbClr val="FFFFFF"/>
            </a:solidFill>
            <a:prstDash val="solid"/>
          </a:ln>
        </p:spPr>
      </p:sp>
      <p:sp>
        <p:nvSpPr>
          <p:cNvPr id="12" name="Text 9"/>
          <p:cNvSpPr txBox="1"/>
          <p:nvPr/>
        </p:nvSpPr>
        <p:spPr>
          <a:xfrm>
            <a:off x="868680" y="4937760"/>
            <a:ext cx="4572000" cy="914400"/>
          </a:xfrm>
          <a:prstGeom prst="rect">
            <a:avLst/>
          </a:prstGeom>
          <a:noFill/>
          <a:ln/>
        </p:spPr>
        <p:txBody>
          <a:bodyPr wrap="square" lIns="0" tIns="0" rIns="0" bIns="0" rtlCol="0" anchor="ctr"/>
          <a:lstStyle/>
          <a:p>
            <a:pPr indent="0" marL="0">
              <a:buNone/>
            </a:pPr>
            <a:r>
              <a:rPr lang="en-US" sz="2000" b="1" dirty="0">
                <a:solidFill>
                  <a:srgbClr val="0B7A70"/>
                </a:solidFill>
                <a:latin typeface="BIZ UDゴシック" pitchFamily="34" charset="0"/>
                <a:ea typeface="BIZ UDゴシック" pitchFamily="49" charset="-128"/>
                <a:cs typeface="BIZ UDゴシック" pitchFamily="34" charset="-120"/>
              </a:rPr>
              <a:t>血流感染 最大66%減（103 ICU）</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平均7.7→1.4／1000カテーテル日</a:t>
            </a:r>
            <a:endParaRPr lang="en-US" sz="2000" dirty="0"/>
          </a:p>
        </p:txBody>
      </p:sp>
      <p:sp>
        <p:nvSpPr>
          <p:cNvPr id="13" name="Text 10"/>
          <p:cNvSpPr txBox="1"/>
          <p:nvPr/>
        </p:nvSpPr>
        <p:spPr>
          <a:xfrm>
            <a:off x="6080760" y="1920240"/>
            <a:ext cx="5562295" cy="457200"/>
          </a:xfrm>
          <a:prstGeom prst="rect">
            <a:avLst/>
          </a:prstGeom>
          <a:noFill/>
          <a:ln/>
        </p:spPr>
        <p:txBody>
          <a:bodyPr wrap="square" lIns="0" tIns="0" rIns="0" bIns="0" rtlCol="0" anchor="t"/>
          <a:lstStyle/>
          <a:p>
            <a:pPr indent="0" marL="0">
              <a:buNone/>
            </a:pPr>
            <a:r>
              <a:rPr lang="en-US" sz="2200" b="1" dirty="0">
                <a:solidFill>
                  <a:srgbClr val="D1480E"/>
                </a:solidFill>
                <a:latin typeface="BIZ UDゴシック" pitchFamily="34" charset="0"/>
                <a:ea typeface="BIZ UDゴシック" pitchFamily="49" charset="-128"/>
                <a:cs typeface="BIZ UDゴシック" pitchFamily="34" charset="-120"/>
              </a:rPr>
              <a:t>なぜ成功したか（事後の社会学的分析）</a:t>
            </a:r>
            <a:endParaRPr lang="en-US" sz="2200" dirty="0"/>
          </a:p>
        </p:txBody>
      </p:sp>
      <p:sp>
        <p:nvSpPr>
          <p:cNvPr id="14" name="Shape 11"/>
          <p:cNvSpPr/>
          <p:nvPr/>
        </p:nvSpPr>
        <p:spPr>
          <a:xfrm>
            <a:off x="6080760" y="2514600"/>
            <a:ext cx="658368" cy="658368"/>
          </a:xfrm>
          <a:prstGeom prst="ellipse">
            <a:avLst/>
          </a:prstGeom>
          <a:solidFill>
            <a:srgbClr val="D1480E"/>
          </a:solidFill>
          <a:ln w="12700">
            <a:solidFill>
              <a:srgbClr val="D1480E"/>
            </a:solidFill>
            <a:prstDash val="solid"/>
          </a:ln>
        </p:spPr>
      </p:sp>
      <p:pic>
        <p:nvPicPr>
          <p:cNvPr id="15" name="Image 0" descr="preencoded.png">    </p:cNvPr>
          <p:cNvPicPr>
            <a:picLocks noChangeAspect="1"/>
          </p:cNvPicPr>
          <p:nvPr/>
        </p:nvPicPr>
        <p:blipFill>
          <a:blip r:embed="rId1"/>
          <a:stretch>
            <a:fillRect/>
          </a:stretch>
        </p:blipFill>
        <p:spPr>
          <a:xfrm>
            <a:off x="6238768" y="2672608"/>
            <a:ext cx="342351" cy="342351"/>
          </a:xfrm>
          <a:prstGeom prst="rect">
            <a:avLst/>
          </a:prstGeom>
        </p:spPr>
      </p:pic>
      <p:sp>
        <p:nvSpPr>
          <p:cNvPr id="16" name="Text 12"/>
          <p:cNvSpPr txBox="1"/>
          <p:nvPr/>
        </p:nvSpPr>
        <p:spPr>
          <a:xfrm>
            <a:off x="6903720" y="2468880"/>
            <a:ext cx="4739335" cy="777240"/>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仲間のネットワーク</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ICU同士がつながり、規範に</a:t>
            </a:r>
            <a:endParaRPr lang="en-US" sz="2000" dirty="0"/>
          </a:p>
        </p:txBody>
      </p:sp>
      <p:sp>
        <p:nvSpPr>
          <p:cNvPr id="17" name="Shape 13"/>
          <p:cNvSpPr/>
          <p:nvPr/>
        </p:nvSpPr>
        <p:spPr>
          <a:xfrm>
            <a:off x="6080760" y="3410712"/>
            <a:ext cx="658368" cy="658368"/>
          </a:xfrm>
          <a:prstGeom prst="ellipse">
            <a:avLst/>
          </a:prstGeom>
          <a:solidFill>
            <a:srgbClr val="D1480E"/>
          </a:solidFill>
          <a:ln w="12700">
            <a:solidFill>
              <a:srgbClr val="D1480E"/>
            </a:solidFill>
            <a:prstDash val="solid"/>
          </a:ln>
        </p:spPr>
      </p:sp>
      <p:pic>
        <p:nvPicPr>
          <p:cNvPr id="18" name="Image 1" descr="preencoded.png">    </p:cNvPr>
          <p:cNvPicPr>
            <a:picLocks noChangeAspect="1"/>
          </p:cNvPicPr>
          <p:nvPr/>
        </p:nvPicPr>
        <p:blipFill>
          <a:blip r:embed="rId2"/>
          <a:stretch>
            <a:fillRect/>
          </a:stretch>
        </p:blipFill>
        <p:spPr>
          <a:xfrm>
            <a:off x="6238768" y="3568720"/>
            <a:ext cx="342351" cy="342351"/>
          </a:xfrm>
          <a:prstGeom prst="rect">
            <a:avLst/>
          </a:prstGeom>
        </p:spPr>
      </p:pic>
      <p:sp>
        <p:nvSpPr>
          <p:cNvPr id="19" name="Text 14"/>
          <p:cNvSpPr txBox="1"/>
          <p:nvPr/>
        </p:nvSpPr>
        <p:spPr>
          <a:xfrm>
            <a:off x="6903720" y="3364992"/>
            <a:ext cx="4739335" cy="777240"/>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問題の捉え直し</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「仕方ない」から「防げる」へ</a:t>
            </a:r>
            <a:endParaRPr lang="en-US" sz="2000" dirty="0"/>
          </a:p>
        </p:txBody>
      </p:sp>
      <p:sp>
        <p:nvSpPr>
          <p:cNvPr id="20" name="Shape 15"/>
          <p:cNvSpPr/>
          <p:nvPr/>
        </p:nvSpPr>
        <p:spPr>
          <a:xfrm>
            <a:off x="6080760" y="4306824"/>
            <a:ext cx="658368" cy="658368"/>
          </a:xfrm>
          <a:prstGeom prst="ellipse">
            <a:avLst/>
          </a:prstGeom>
          <a:solidFill>
            <a:srgbClr val="D1480E"/>
          </a:solidFill>
          <a:ln w="12700">
            <a:solidFill>
              <a:srgbClr val="D1480E"/>
            </a:solidFill>
            <a:prstDash val="solid"/>
          </a:ln>
        </p:spPr>
      </p:sp>
      <p:pic>
        <p:nvPicPr>
          <p:cNvPr id="21" name="Image 2" descr="preencoded.png">    </p:cNvPr>
          <p:cNvPicPr>
            <a:picLocks noChangeAspect="1"/>
          </p:cNvPicPr>
          <p:nvPr/>
        </p:nvPicPr>
        <p:blipFill>
          <a:blip r:embed="rId3"/>
          <a:stretch>
            <a:fillRect/>
          </a:stretch>
        </p:blipFill>
        <p:spPr>
          <a:xfrm>
            <a:off x="6238768" y="4464832"/>
            <a:ext cx="342351" cy="342351"/>
          </a:xfrm>
          <a:prstGeom prst="rect">
            <a:avLst/>
          </a:prstGeom>
        </p:spPr>
      </p:pic>
      <p:sp>
        <p:nvSpPr>
          <p:cNvPr id="22" name="Text 16"/>
          <p:cNvSpPr txBox="1"/>
          <p:nvPr/>
        </p:nvSpPr>
        <p:spPr>
          <a:xfrm>
            <a:off x="6903720" y="4261104"/>
            <a:ext cx="4739335" cy="777240"/>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データの共有</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感染率を測って返し、比べる</a:t>
            </a:r>
            <a:endParaRPr lang="en-US" sz="2000" dirty="0"/>
          </a:p>
        </p:txBody>
      </p:sp>
      <p:sp>
        <p:nvSpPr>
          <p:cNvPr id="23" name="Shape 17"/>
          <p:cNvSpPr/>
          <p:nvPr/>
        </p:nvSpPr>
        <p:spPr>
          <a:xfrm>
            <a:off x="6080760" y="5202936"/>
            <a:ext cx="658368" cy="658368"/>
          </a:xfrm>
          <a:prstGeom prst="ellipse">
            <a:avLst/>
          </a:prstGeom>
          <a:solidFill>
            <a:srgbClr val="D1480E"/>
          </a:solidFill>
          <a:ln w="12700">
            <a:solidFill>
              <a:srgbClr val="D1480E"/>
            </a:solidFill>
            <a:prstDash val="solid"/>
          </a:ln>
        </p:spPr>
      </p:sp>
      <p:pic>
        <p:nvPicPr>
          <p:cNvPr id="24" name="Image 3" descr="preencoded.png">    </p:cNvPr>
          <p:cNvPicPr>
            <a:picLocks noChangeAspect="1"/>
          </p:cNvPicPr>
          <p:nvPr/>
        </p:nvPicPr>
        <p:blipFill>
          <a:blip r:embed="rId4"/>
          <a:stretch>
            <a:fillRect/>
          </a:stretch>
        </p:blipFill>
        <p:spPr>
          <a:xfrm>
            <a:off x="6238768" y="5360944"/>
            <a:ext cx="342351" cy="342351"/>
          </a:xfrm>
          <a:prstGeom prst="rect">
            <a:avLst/>
          </a:prstGeom>
        </p:spPr>
      </p:pic>
      <p:sp>
        <p:nvSpPr>
          <p:cNvPr id="25" name="Text 18"/>
          <p:cNvSpPr txBox="1"/>
          <p:nvPr/>
        </p:nvSpPr>
        <p:spPr>
          <a:xfrm>
            <a:off x="6903720" y="5157216"/>
            <a:ext cx="4739335" cy="777240"/>
          </a:xfrm>
          <a:prstGeom prst="rect">
            <a:avLst/>
          </a:prstGeom>
          <a:noFill/>
          <a:ln/>
        </p:spPr>
        <p:txBody>
          <a:bodyPr wrap="square" lIns="0" tIns="0" rIns="0" bIns="0" rtlCol="0" anchor="ctr"/>
          <a:lstStyle/>
          <a:p>
            <a:pPr indent="0" marL="0">
              <a:buNone/>
            </a:pPr>
            <a:r>
              <a:rPr lang="en-US" sz="2000" b="1" dirty="0">
                <a:solidFill>
                  <a:srgbClr val="131B35"/>
                </a:solidFill>
                <a:latin typeface="BIZ UDゴシック" pitchFamily="34" charset="0"/>
                <a:ea typeface="BIZ UDゴシック" pitchFamily="49" charset="-128"/>
                <a:cs typeface="BIZ UDゴシック" pitchFamily="34" charset="-120"/>
              </a:rPr>
              <a:t>ゆずれない仕組み</a:t>
            </a:r>
            <a:endParaRPr lang="en-US" sz="2000" dirty="0"/>
          </a:p>
          <a:p>
            <a:pPr indent="0" marL="0">
              <a:buNone/>
            </a:pPr>
            <a:r>
              <a:rPr lang="en-US" sz="2000" dirty="0">
                <a:solidFill>
                  <a:srgbClr val="1B2333"/>
                </a:solidFill>
                <a:latin typeface="BIZ UDゴシック" pitchFamily="34" charset="0"/>
                <a:ea typeface="BIZ UDゴシック" pitchFamily="49" charset="-128"/>
                <a:cs typeface="BIZ UDゴシック" pitchFamily="34" charset="-120"/>
              </a:rPr>
              <a:t>手順を守らなければ止める</a:t>
            </a:r>
            <a:endParaRPr lang="en-US" sz="2000" dirty="0"/>
          </a:p>
        </p:txBody>
      </p:sp>
      <p:sp>
        <p:nvSpPr>
          <p:cNvPr id="25" name="Slide Number Placeholder 0"/>
          <p:cNvSpPr>
            <a:spLocks noGrp="1"/>
          </p:cNvSpPr>
          <p:nvPr>
            <p:ph type="sldNum" sz="quarter" idx="4294967295"/>
          </p:nvPr>
        </p:nvSpPr>
        <p:spPr>
          <a:xfrm>
            <a:off x="11000232" y="6217920"/>
            <a:ext cx="640080" cy="384048"/>
          </a:xfrm>
          <a:prstGeom prst="rect">
            <a:avLst/>
          </a:prstGeom>
          <a:extLst>
            <a:ext uri="{C572A759-6A51-4108-AA02-DFA0A04FC94B}">
              <ma14:wrappingTextBoxFlag xmlns:ma14="http://schemas.microsoft.com/office/mac/drawingml/2011/main" val="0"/>
            </a:ext>
          </a:extLst>
        </p:spPr>
        <p:txBody>
          <a:bodyPr/>
          <a:lstStyle>
            <a:lvl1pPr>
              <a:defRPr sz="2000">
                <a:solidFill>
                  <a:srgbClr val="8A96A8"/>
                </a:solidFill>
                <a:latin typeface="BIZ UDゴシック"/>
                <a:ea typeface="BIZ UDゴシック"/>
                <a:cs typeface="BIZ UDゴシック"/>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4747</Words>
  <Application>Microsoft Macintosh PowerPoint</Application>
  <PresentationFormat>ワイド画面</PresentationFormat>
  <Paragraphs>663</Paragraphs>
  <Slides>44</Slides>
  <Notes>44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44</vt:i4>
      </vt:variant>
    </vt:vector>
  </HeadingPairs>
  <TitlesOfParts>
    <vt:vector size="50" baseType="lpstr">
      <vt:lpstr>BIZ UDゴシック</vt:lpstr>
      <vt:lpstr>Noto Sans JP</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行動科学は感染対策の「見えない敵」を可視化する</dc:title>
  <dc:subject>PptxGenJS Presentation</dc:subject>
  <dc:creator>鈴木 徳洋</dc:creator>
  <cp:lastModifiedBy>徳洋 鈴木</cp:lastModifiedBy>
  <cp:revision>3</cp:revision>
  <dcterms:created xsi:type="dcterms:W3CDTF">2026-09-28T13:29:40Z</dcterms:created>
  <dcterms:modified xsi:type="dcterms:W3CDTF">2026-10-05T14:41:40Z</dcterms:modified>
</cp:coreProperties>
</file>